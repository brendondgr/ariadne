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2.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0ED96E6-A01F-4383-AB0D-5FB97FC38B84}"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685800" y="1143000"/>
            <a:ext cx="5486040" cy="3085920"/>
          </a:xfrm>
          <a:prstGeom prst="rect">
            <a:avLst/>
          </a:prstGeom>
          <a:ln w="0">
            <a:noFill/>
          </a:ln>
        </p:spPr>
      </p:sp>
      <p:sp>
        <p:nvSpPr>
          <p:cNvPr id="3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[0:15] Security knowledge lives in databases that do not speak the same language. Ariadne lets an analyst ask one question across all of them, and shows the record behind every sentence of the answer. I am Brendon, the technical lead; Olmo Zavala Romero is the PI. This is our ReliaQuest Innovation Challenge project from FSU Scientific Computing.</a:t>
            </a:r>
            <a:endParaRPr lang="en-US" sz="2000" b="0" u="none" strike="noStrike">
              <a:solidFill>
                <a:srgbClr val="000000"/>
              </a:solidFill>
              <a:effectLst/>
              <a:uFillTx/>
              <a:latin typeface="Arial"/>
            </a:endParaRPr>
          </a:p>
        </p:txBody>
      </p:sp>
      <p:sp>
        <p:nvSpPr>
          <p:cNvPr id="350"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98F5EAE-75EA-4150-BCA2-9F4E41E8E9F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sldImg"/>
          </p:nvPr>
        </p:nvSpPr>
        <p:spPr>
          <a:xfrm>
            <a:off x="685800" y="1143000"/>
            <a:ext cx="5486040" cy="3085920"/>
          </a:xfrm>
          <a:prstGeom prst="rect">
            <a:avLst/>
          </a:prstGeom>
          <a:ln w="0">
            <a:noFill/>
          </a:ln>
        </p:spPr>
      </p:sp>
      <p:sp>
        <p:nvSpPr>
          <p:cNvPr id="3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[0:25] A relational database keeps well-structured records in tables. It is very good at "how many failed logins per account". A knowledge graph stores entities as nodes and their connections as named relationships. It is built for "what connects this account to a threat". In security the second question is the one that matters, and it is a path, not a count.</a:t>
            </a:r>
            <a:endParaRPr lang="en-US" sz="2000" b="0" u="none" strike="noStrike">
              <a:solidFill>
                <a:srgbClr val="000000"/>
              </a:solidFill>
              <a:effectLst/>
              <a:uFillTx/>
              <a:latin typeface="Arial"/>
            </a:endParaRPr>
          </a:p>
        </p:txBody>
      </p:sp>
      <p:sp>
        <p:nvSpPr>
          <p:cNvPr id="353"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0B6536D-002B-4A7E-BC8C-4EDAFB6486E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685800" y="1143000"/>
            <a:ext cx="5486040" cy="3085920"/>
          </a:xfrm>
          <a:prstGeom prst="rect">
            <a:avLst/>
          </a:prstGeom>
          <a:ln w="0">
            <a:noFill/>
          </a:ln>
        </p:spPr>
      </p:sp>
      <p:sp>
        <p:nvSpPr>
          <p:cNvPr id="3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[0:25] Here is the catch. Useful security knowledge is spread across several graphs, and they speak different query languages. MITRE ATT&amp;CK, the catalogue of adversary techniques, we hold in Neo4j and query in Cypher. MITRE CAPEC, the attack-pattern catalogue, sits in a Gremlin server. Cloud graph databases speak GQL. Same question, three grammars. An analyst who knows one cannot ask the others.</a:t>
            </a:r>
            <a:endParaRPr lang="en-US" sz="2000" b="0" u="none" strike="noStrike">
              <a:solidFill>
                <a:srgbClr val="000000"/>
              </a:solidFill>
              <a:effectLst/>
              <a:uFillTx/>
              <a:latin typeface="Arial"/>
            </a:endParaRPr>
          </a:p>
        </p:txBody>
      </p:sp>
      <p:sp>
        <p:nvSpPr>
          <p:cNvPr id="356"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78A5AAE-494A-4D99-8B7D-E05D8FB531E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sldImg"/>
          </p:nvPr>
        </p:nvSpPr>
        <p:spPr>
          <a:xfrm>
            <a:off x="685800" y="1143000"/>
            <a:ext cx="5486040" cy="3085920"/>
          </a:xfrm>
          <a:prstGeom prst="rect">
            <a:avLst/>
          </a:prstGeom>
          <a:ln w="0">
            <a:noFill/>
          </a:ln>
        </p:spPr>
      </p:sp>
      <p:sp>
        <p:nvSpPr>
          <p:cNvPr id="3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[0:30] Today you have three options. Write the query by hand: accurate and auditable, but slow, and you need an expert per language. Ask a chatbot: fast, but the query it ran is hidden, and a language model can hallucinate, that is, state something as fact that is not in the data. Or copy everything into one database: one language to learn, but it is expensive, stale the day it lands, and you have rewritten the sources. Each option trades away something an analyst needs.</a:t>
            </a:r>
            <a:endParaRPr lang="en-US" sz="2000" b="0" u="none" strike="noStrike">
              <a:solidFill>
                <a:srgbClr val="000000"/>
              </a:solidFill>
              <a:effectLst/>
              <a:uFillTx/>
              <a:latin typeface="Arial"/>
            </a:endParaRPr>
          </a:p>
        </p:txBody>
      </p:sp>
      <p:sp>
        <p:nvSpPr>
          <p:cNvPr id="359"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E587C1B-3C5C-4A02-909C-1206931E6E2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685800" y="1143000"/>
            <a:ext cx="5486040" cy="3085920"/>
          </a:xfrm>
          <a:prstGeom prst="rect">
            <a:avLst/>
          </a:prstGeom>
          <a:ln w="0">
            <a:noFill/>
          </a:ln>
        </p:spPr>
      </p:sp>
      <p:sp>
        <p:nvSpPr>
          <p:cNvPr id="3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[0:40] Ariadne is a different shape. A question comes in. A planner splits it into per-database sub-questions and checks the plan against each database's spec sheet, its source card. One specialist per database reads that card and composes the query in the database's own language: Cypher for ATT&amp;CK, Gremlin for CAPEC. Every query is checked before it runs: read-only, bounded, only the labels and relationships the card declares. Results come back as records with their provenance. A verifier checks every claim against those records. If the evidence does not answer the question, the planner is asked again, up to five rounds. Two rules hold it together: no model ever writes a query, and no claim is made without a record behind it.</a:t>
            </a:r>
            <a:endParaRPr lang="en-US" sz="2000" b="0" u="none" strike="noStrike">
              <a:solidFill>
                <a:srgbClr val="000000"/>
              </a:solidFill>
              <a:effectLst/>
              <a:uFillTx/>
              <a:latin typeface="Arial"/>
            </a:endParaRPr>
          </a:p>
        </p:txBody>
      </p:sp>
      <p:sp>
        <p:nvSpPr>
          <p:cNvPr id="362"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B0C0B37-F292-4033-ADEA-98A7A7691D7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685800" y="1143000"/>
            <a:ext cx="5486040" cy="3085920"/>
          </a:xfrm>
          <a:prstGeom prst="rect">
            <a:avLst/>
          </a:prstGeom>
          <a:ln w="0">
            <a:noFill/>
          </a:ln>
        </p:spPr>
      </p:sp>
      <p:sp>
        <p:nvSpPr>
          <p:cNvPr id="3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[0:30] The source card is the key idea. One sheet per database: what it contains, how things connect, which identifiers link it to other databases, what a query may never do, and which snapshot it was built from. The specialist resolves the question's entities against the card, composes the query from five schema-derived primitives, gates it, runs it once, and normalizes the records with provenance. For ATT&amp;CK the card is thirty-nine kilobytes describing a twenty-megabyte graph. That is why adding a database is a sheet, not a project.</a:t>
            </a:r>
            <a:endParaRPr lang="en-US" sz="2000" b="0" u="none" strike="noStrike">
              <a:solidFill>
                <a:srgbClr val="000000"/>
              </a:solidFill>
              <a:effectLst/>
              <a:uFillTx/>
              <a:latin typeface="Arial"/>
            </a:endParaRPr>
          </a:p>
        </p:txBody>
      </p:sp>
      <p:sp>
        <p:nvSpPr>
          <p:cNvPr id="365"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13049EA-24C9-4A30-9F02-C438143CBBC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685800" y="1143000"/>
            <a:ext cx="5486040" cy="3085920"/>
          </a:xfrm>
          <a:prstGeom prst="rect">
            <a:avLst/>
          </a:prstGeom>
          <a:ln w="0">
            <a:noFill/>
          </a:ln>
        </p:spPr>
      </p:sp>
      <p:sp>
        <p:nvSpPr>
          <p:cNvPr id="3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[0:25] The verifier is deterministic code, not a model. Four gates: every claim cites records that were retrieved; every identifier in a claim appears in those records; the claim is grounded in the record's content; and a cross-database link must be backed by the join index. What fails is cut from the prose and kept flagged. When the data has nothing, the answer says so and shows the query it ran. That is an honest no, with proof.</a:t>
            </a:r>
            <a:endParaRPr lang="en-US" sz="2000" b="0" u="none" strike="noStrike">
              <a:solidFill>
                <a:srgbClr val="000000"/>
              </a:solidFill>
              <a:effectLst/>
              <a:uFillTx/>
              <a:latin typeface="Arial"/>
            </a:endParaRPr>
          </a:p>
        </p:txBody>
      </p:sp>
      <p:sp>
        <p:nvSpPr>
          <p:cNvPr id="368"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38FE00F-8591-4D7D-957F-B1954FFB931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sldImg"/>
          </p:nvPr>
        </p:nvSpPr>
        <p:spPr>
          <a:xfrm>
            <a:off x="685800" y="1143000"/>
            <a:ext cx="5486040" cy="3085920"/>
          </a:xfrm>
          <a:prstGeom prst="rect">
            <a:avLst/>
          </a:prstGeom>
          <a:ln w="0">
            <a:noFill/>
          </a:ln>
        </p:spPr>
      </p:sp>
      <p:sp>
        <p:nvSpPr>
          <p:cNvPr id="3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[0:35] This is the workbench, captured this week on the live stack. The question at the top. On the right, the plan and its gate, then each specialist's lane with the validated query in the database's own language. In the middle, the answer: every identifier is a citation you can open. The three controls at the bottom are off by default; that is the fast path, deterministic, a fraction of a second. Verify asks a model for a second opinion on whether the evidence suffices. Prose asks a model to write readable text over the verified claims, and it cannot add a claim. [In the final deck a 30-second clip of this run plays here.]</a:t>
            </a:r>
            <a:endParaRPr lang="en-US" sz="2000" b="0" u="none" strike="noStrike">
              <a:solidFill>
                <a:srgbClr val="000000"/>
              </a:solidFill>
              <a:effectLst/>
              <a:uFillTx/>
              <a:latin typeface="Arial"/>
            </a:endParaRPr>
          </a:p>
        </p:txBody>
      </p:sp>
      <p:sp>
        <p:nvSpPr>
          <p:cNvPr id="371"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003BE85-F024-4169-ACC7-36FC97386D9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685800" y="1143000"/>
            <a:ext cx="5486040" cy="3085920"/>
          </a:xfrm>
          <a:prstGeom prst="rect">
            <a:avLst/>
          </a:prstGeom>
          <a:ln w="0">
            <a:noFill/>
          </a:ln>
        </p:spPr>
      </p:sp>
      <p:sp>
        <p:nvSpPr>
          <p:cNvPr id="3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[0:25] It scales. Three live databases, two query languages, one process, and adding the third changed nothing about the questions. Federating means the sources stay as their publishers shipped them: zero records rewritten, where merging ATT&amp;CK and CAPEC into one store required editing one thousand and eighty-three. And the pre-run gate blocked two hundred and forty of two hundred and forty adversarial queries, after we found and closed fifteen bypasses ourselves. Next on the roadmap: Amazon Neptune and Google Spanner Graph.</a:t>
            </a:r>
            <a:endParaRPr lang="en-US" sz="2000" b="0" u="none" strike="noStrike">
              <a:solidFill>
                <a:srgbClr val="000000"/>
              </a:solidFill>
              <a:effectLst/>
              <a:uFillTx/>
              <a:latin typeface="Arial"/>
            </a:endParaRPr>
          </a:p>
        </p:txBody>
      </p:sp>
      <p:sp>
        <p:nvSpPr>
          <p:cNvPr id="374"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6E14D1B-260D-4354-AB1F-D60A051A826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685800" y="1143000"/>
            <a:ext cx="5486040" cy="3085920"/>
          </a:xfrm>
          <a:prstGeom prst="rect">
            <a:avLst/>
          </a:prstGeom>
          <a:ln w="0">
            <a:noFill/>
          </a:ln>
        </p:spPr>
      </p:sp>
      <p:sp>
        <p:nvSpPr>
          <p:cNvPr id="3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[0:35] ReliaQuest gave us the catalogue of their production identity graph: seventy-two node types, twenty-one relationship types, five identity systems, and zero customer records. The card is the native input, so the schema alone was enough. We generated synthetic records that conform to it, ran it live beside ATT&amp;CK and CAPEC, and declared a bridge: a DC_SYNC relationship in your graph is the technique ATT&amp;CK calls T1003.006, and that technique has mitigations. Where no mapped relationship exists, the system says so instead of guessing. The records are synthetic; the schema is real. [Q&amp;A backup: on a 64-question blind set the schema-derived engine named the right technique on 20 of 24 and refused all 12 that had none; retrieval only, not judged for answer quality.]</a:t>
            </a:r>
            <a:endParaRPr lang="en-US" sz="2000" b="0" u="none" strike="noStrike">
              <a:solidFill>
                <a:srgbClr val="000000"/>
              </a:solidFill>
              <a:effectLst/>
              <a:uFillTx/>
              <a:latin typeface="Arial"/>
            </a:endParaRPr>
          </a:p>
        </p:txBody>
      </p:sp>
      <p:sp>
        <p:nvSpPr>
          <p:cNvPr id="377"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4FAC12C-7A82-44AB-BECE-CCCBB324994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sldImg"/>
          </p:nvPr>
        </p:nvSpPr>
        <p:spPr>
          <a:xfrm>
            <a:off x="685800" y="1143000"/>
            <a:ext cx="5486040" cy="3085920"/>
          </a:xfrm>
          <a:prstGeom prst="rect">
            <a:avLst/>
          </a:prstGeom>
          <a:ln w="0">
            <a:noFill/>
          </a:ln>
        </p:spPr>
      </p:sp>
      <p:sp>
        <p:nvSpPr>
          <p:cNvPr id="3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[0:25] Here is where it stops today. Ask by identifier and it works. Reword the question and about half survive. Paraphrase the name and about a third, with the rewrite stage we shipped this week. Describe something without naming it: not yet. And answer quality through the workbench's own planner has not been judged yet. We know the next gap precisely, and it is measurable.</a:t>
            </a:r>
            <a:endParaRPr lang="en-US" sz="2000" b="0" u="none" strike="noStrike">
              <a:solidFill>
                <a:srgbClr val="000000"/>
              </a:solidFill>
              <a:effectLst/>
              <a:uFillTx/>
              <a:latin typeface="Arial"/>
            </a:endParaRPr>
          </a:p>
        </p:txBody>
      </p:sp>
      <p:sp>
        <p:nvSpPr>
          <p:cNvPr id="380"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F1C80C8-CD6A-4858-A24F-B091E54583E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685800" y="1143000"/>
            <a:ext cx="5486040" cy="3085920"/>
          </a:xfrm>
          <a:prstGeom prst="rect">
            <a:avLst/>
          </a:prstGeom>
          <a:ln w="0">
            <a:noFill/>
          </a:ln>
        </p:spPr>
      </p:sp>
      <p:sp>
        <p:nvSpPr>
          <p:cNvPr id="3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[0:05] Thank you. One question, answers from many sources. Questions?</a:t>
            </a:r>
            <a:endParaRPr lang="en-US" sz="2000" b="0" u="none" strike="noStrike">
              <a:solidFill>
                <a:srgbClr val="000000"/>
              </a:solidFill>
              <a:effectLst/>
              <a:uFillTx/>
              <a:latin typeface="Arial"/>
            </a:endParaRPr>
          </a:p>
        </p:txBody>
      </p:sp>
      <p:sp>
        <p:nvSpPr>
          <p:cNvPr id="383"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A827BFF-996F-487C-8F3A-304A41E6955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sldImg"/>
          </p:nvPr>
        </p:nvSpPr>
        <p:spPr>
          <a:xfrm>
            <a:off x="685800" y="1143000"/>
            <a:ext cx="5486040" cy="3085920"/>
          </a:xfrm>
          <a:prstGeom prst="rect">
            <a:avLst/>
          </a:prstGeom>
          <a:ln w="0">
            <a:noFill/>
          </a:ln>
        </p:spPr>
      </p:sp>
      <p:sp>
        <p:nvSpPr>
          <p:cNvPr id="3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No spoken content. Left on screen during questions.</a:t>
            </a:r>
            <a:endParaRPr lang="en-US" sz="2000" b="0" u="none" strike="noStrike">
              <a:solidFill>
                <a:srgbClr val="000000"/>
              </a:solidFill>
              <a:effectLst/>
              <a:uFillTx/>
              <a:latin typeface="Arial"/>
            </a:endParaRPr>
          </a:p>
        </p:txBody>
      </p:sp>
      <p:sp>
        <p:nvSpPr>
          <p:cNvPr id="386"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86C44E7-7C3E-435A-93A7-BF427FF1B9F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3.png"/><Relationship Id="rId5" Type="http://schemas.openxmlformats.org/officeDocument/2006/relationships/slideLayout" Target="../slideLayouts/slideLayout1.xml"/><Relationship Id="rId6"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slideLayout" Target="../slideLayouts/slideLayout1.xml"/><Relationship Id="rId6"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slideLayout" Target="../slideLayouts/slideLayout1.xml"/><Relationship Id="rId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slideLayout" Target="../slideLayouts/slideLayout1.xml"/><Relationship Id="rId6"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slideLayout" Target="../slideLayouts/slideLayout1.xml"/><Relationship Id="rId6"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82F40"/>
        </a:solidFill>
      </p:bgPr>
    </p:bg>
    <p:spTree>
      <p:nvGrpSpPr>
        <p:cNvPr id="1" name=""/>
        <p:cNvGrpSpPr/>
        <p:nvPr/>
      </p:nvGrpSpPr>
      <p:grpSpPr>
        <a:xfrm>
          <a:off x="0" y="0"/>
          <a:ext cx="0" cy="0"/>
          <a:chOff x="0" y="0"/>
          <a:chExt cx="0" cy="0"/>
        </a:xfrm>
      </p:grpSpPr>
      <p:pic>
        <p:nvPicPr>
          <p:cNvPr id="10" name="Image 0" descr="/tmp/claude-1000/-home-bdgr-Agents-Ariadne/eca9f446-3ea1-4c07-8826-cc7003be2e12/scratchpad/assets/fsu-white.png"/>
          <p:cNvPicPr/>
          <p:nvPr/>
        </p:nvPicPr>
        <p:blipFill>
          <a:blip r:embed="rId1"/>
          <a:stretch/>
        </p:blipFill>
        <p:spPr>
          <a:xfrm>
            <a:off x="457200" y="292680"/>
            <a:ext cx="1105920" cy="456840"/>
          </a:xfrm>
          <a:prstGeom prst="rect">
            <a:avLst/>
          </a:prstGeom>
          <a:noFill/>
          <a:ln w="0">
            <a:noFill/>
          </a:ln>
        </p:spPr>
      </p:pic>
      <p:pic>
        <p:nvPicPr>
          <p:cNvPr id="11" name="Image 1" descr="/tmp/claude-1000/-home-bdgr-Agents-Ariadne/eca9f446-3ea1-4c07-8826-cc7003be2e12/scratchpad/assets/reliaquest-on-dark.png"/>
          <p:cNvPicPr/>
          <p:nvPr/>
        </p:nvPicPr>
        <p:blipFill>
          <a:blip r:embed="rId2"/>
          <a:stretch/>
        </p:blipFill>
        <p:spPr>
          <a:xfrm>
            <a:off x="1874520" y="374760"/>
            <a:ext cx="1325520" cy="292320"/>
          </a:xfrm>
          <a:prstGeom prst="rect">
            <a:avLst/>
          </a:prstGeom>
          <a:noFill/>
          <a:ln w="0">
            <a:noFill/>
          </a:ln>
        </p:spPr>
      </p:pic>
      <p:pic>
        <p:nvPicPr>
          <p:cNvPr id="12" name="Image 2" descr="/tmp/claude-1000/-home-bdgr-Agents-Ariadne/eca9f446-3ea1-4c07-8826-cc7003be2e12/scratchpad/assets/ariadne-mark.png"/>
          <p:cNvPicPr/>
          <p:nvPr/>
        </p:nvPicPr>
        <p:blipFill>
          <a:blip r:embed="rId3"/>
          <a:stretch/>
        </p:blipFill>
        <p:spPr>
          <a:xfrm>
            <a:off x="11201400" y="274320"/>
            <a:ext cx="529920" cy="456840"/>
          </a:xfrm>
          <a:prstGeom prst="rect">
            <a:avLst/>
          </a:prstGeom>
          <a:noFill/>
          <a:ln w="0">
            <a:noFill/>
          </a:ln>
        </p:spPr>
      </p:pic>
      <p:sp>
        <p:nvSpPr>
          <p:cNvPr id="13" name="Text 0"/>
          <p:cNvSpPr/>
          <p:nvPr/>
        </p:nvSpPr>
        <p:spPr>
          <a:xfrm>
            <a:off x="10607040" y="6510600"/>
            <a:ext cx="11426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DFD1A7"/>
                </a:solidFill>
                <a:effectLst/>
                <a:uFillTx/>
                <a:latin typeface="Arial"/>
                <a:ea typeface="Arial"/>
              </a:rPr>
              <a:t>1 / 13</a:t>
            </a:r>
            <a:endParaRPr lang="en-US" sz="900" b="0" u="none" strike="noStrike">
              <a:solidFill>
                <a:srgbClr val="FFFFFF"/>
              </a:solidFill>
              <a:effectLst/>
              <a:uFillTx/>
              <a:latin typeface="Arial"/>
            </a:endParaRPr>
          </a:p>
        </p:txBody>
      </p:sp>
      <p:pic>
        <p:nvPicPr>
          <p:cNvPr id="14" name="Image 3" descr="/tmp/claude-1000/-home-bdgr-Agents-Ariadne/eca9f446-3ea1-4c07-8826-cc7003be2e12/scratchpad/assets/ariadne-mark.png"/>
          <p:cNvPicPr/>
          <p:nvPr/>
        </p:nvPicPr>
        <p:blipFill>
          <a:blip r:embed="rId4"/>
          <a:stretch/>
        </p:blipFill>
        <p:spPr>
          <a:xfrm>
            <a:off x="822960" y="1600200"/>
            <a:ext cx="3812760" cy="3291480"/>
          </a:xfrm>
          <a:prstGeom prst="rect">
            <a:avLst/>
          </a:prstGeom>
          <a:noFill/>
          <a:ln w="0">
            <a:noFill/>
          </a:ln>
        </p:spPr>
      </p:pic>
      <p:sp>
        <p:nvSpPr>
          <p:cNvPr id="15" name="Text 1"/>
          <p:cNvSpPr/>
          <p:nvPr/>
        </p:nvSpPr>
        <p:spPr>
          <a:xfrm>
            <a:off x="822960" y="4983480"/>
            <a:ext cx="384012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000" b="1" u="none" strike="noStrike">
                <a:solidFill>
                  <a:srgbClr val="FFFFFF"/>
                </a:solidFill>
                <a:effectLst/>
                <a:uFillTx/>
                <a:latin typeface="Arial"/>
                <a:ea typeface="Arial"/>
              </a:rPr>
              <a:t>Ariadne</a:t>
            </a:r>
            <a:endParaRPr lang="en-US" sz="3000" b="0" u="none" strike="noStrike">
              <a:solidFill>
                <a:srgbClr val="FFFFFF"/>
              </a:solidFill>
              <a:effectLst/>
              <a:uFillTx/>
              <a:latin typeface="Arial"/>
            </a:endParaRPr>
          </a:p>
        </p:txBody>
      </p:sp>
      <p:sp>
        <p:nvSpPr>
          <p:cNvPr id="16" name="Text 2"/>
          <p:cNvSpPr/>
          <p:nvPr/>
        </p:nvSpPr>
        <p:spPr>
          <a:xfrm>
            <a:off x="822960" y="5486400"/>
            <a:ext cx="3840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CEB888"/>
                </a:solidFill>
                <a:effectLst/>
                <a:uFillTx/>
                <a:latin typeface="Arial"/>
                <a:ea typeface="Arial"/>
              </a:rPr>
              <a:t>federated knowledge for cybersecurity</a:t>
            </a:r>
            <a:endParaRPr lang="en-US" sz="1300" b="0" u="none" strike="noStrike">
              <a:solidFill>
                <a:srgbClr val="FFFFFF"/>
              </a:solidFill>
              <a:effectLst/>
              <a:uFillTx/>
              <a:latin typeface="Arial"/>
            </a:endParaRPr>
          </a:p>
        </p:txBody>
      </p:sp>
      <p:sp>
        <p:nvSpPr>
          <p:cNvPr id="17" name="Text 3"/>
          <p:cNvSpPr/>
          <p:nvPr/>
        </p:nvSpPr>
        <p:spPr>
          <a:xfrm>
            <a:off x="5212080" y="1874520"/>
            <a:ext cx="6674760" cy="1462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400" b="1" u="none" strike="noStrike">
                <a:solidFill>
                  <a:srgbClr val="FFFFFF"/>
                </a:solidFill>
                <a:effectLst/>
                <a:uFillTx/>
                <a:latin typeface="Arial"/>
                <a:ea typeface="Arial"/>
              </a:rPr>
              <a:t>One question.</a:t>
            </a:r>
            <a:endParaRPr lang="en-US" sz="3400" b="0" u="none" strike="noStrike">
              <a:solidFill>
                <a:srgbClr val="FFFFFF"/>
              </a:solidFill>
              <a:effectLst/>
              <a:uFillTx/>
              <a:latin typeface="Arial"/>
            </a:endParaRPr>
          </a:p>
          <a:p>
            <a:pPr defTabSz="914400">
              <a:lnSpc>
                <a:spcPct val="100000"/>
              </a:lnSpc>
              <a:tabLst>
                <a:tab pos="0" algn="l"/>
              </a:tabLst>
            </a:pPr>
            <a:r>
              <a:rPr lang="en-US" sz="3400" b="1" u="none" strike="noStrike">
                <a:solidFill>
                  <a:srgbClr val="FFFFFF"/>
                </a:solidFill>
                <a:effectLst/>
                <a:uFillTx/>
                <a:latin typeface="Arial"/>
                <a:ea typeface="Arial"/>
              </a:rPr>
              <a:t>Answers from many sources.</a:t>
            </a:r>
            <a:endParaRPr lang="en-US" sz="3400" b="0" u="none" strike="noStrike">
              <a:solidFill>
                <a:srgbClr val="FFFFFF"/>
              </a:solidFill>
              <a:effectLst/>
              <a:uFillTx/>
              <a:latin typeface="Arial"/>
            </a:endParaRPr>
          </a:p>
        </p:txBody>
      </p:sp>
      <p:sp>
        <p:nvSpPr>
          <p:cNvPr id="18" name="Text 4"/>
          <p:cNvSpPr/>
          <p:nvPr/>
        </p:nvSpPr>
        <p:spPr>
          <a:xfrm>
            <a:off x="5212080" y="3474720"/>
            <a:ext cx="640044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rgbClr val="DFD1A7"/>
                </a:solidFill>
                <a:effectLst/>
                <a:uFillTx/>
                <a:latin typeface="Arial"/>
                <a:ea typeface="Arial"/>
              </a:rPr>
              <a:t>One analyst question, answered across several security knowledge graphs that speak different query languages, with the record behind every sentence.</a:t>
            </a:r>
            <a:endParaRPr lang="en-US" sz="1500" b="0" u="none" strike="noStrike">
              <a:solidFill>
                <a:srgbClr val="FFFFFF"/>
              </a:solidFill>
              <a:effectLst/>
              <a:uFillTx/>
              <a:latin typeface="Arial"/>
            </a:endParaRPr>
          </a:p>
        </p:txBody>
      </p:sp>
      <p:sp>
        <p:nvSpPr>
          <p:cNvPr id="19" name="Text 5"/>
          <p:cNvSpPr/>
          <p:nvPr/>
        </p:nvSpPr>
        <p:spPr>
          <a:xfrm>
            <a:off x="5212080" y="4800600"/>
            <a:ext cx="640044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rgbClr val="FFFFFF"/>
                </a:solidFill>
                <a:effectLst/>
                <a:uFillTx/>
                <a:latin typeface="Arial"/>
                <a:ea typeface="Arial"/>
              </a:rPr>
              <a:t>Olmo S. Zavala Romero</a:t>
            </a:r>
            <a:r>
              <a:rPr lang="en-US" sz="1300" b="0" u="none" strike="noStrike">
                <a:solidFill>
                  <a:srgbClr val="FFFFFF"/>
                </a:solidFill>
                <a:effectLst/>
                <a:uFillTx/>
                <a:latin typeface="Arial"/>
                <a:ea typeface="Arial"/>
              </a:rPr>
              <a:t>, Principal Investigator  ·  </a:t>
            </a:r>
            <a:r>
              <a:rPr lang="en-US" sz="1300" b="1" u="none" strike="noStrike">
                <a:solidFill>
                  <a:srgbClr val="FFFFFF"/>
                </a:solidFill>
                <a:effectLst/>
                <a:uFillTx/>
                <a:latin typeface="Arial"/>
                <a:ea typeface="Arial"/>
              </a:rPr>
              <a:t>Brendon DGR</a:t>
            </a:r>
            <a:r>
              <a:rPr lang="en-US" sz="1300" b="0" u="none" strike="noStrike">
                <a:solidFill>
                  <a:srgbClr val="FFFFFF"/>
                </a:solidFill>
                <a:effectLst/>
                <a:uFillTx/>
                <a:latin typeface="Arial"/>
                <a:ea typeface="Arial"/>
              </a:rPr>
              <a:t>, Technical Lead</a:t>
            </a:r>
            <a:endParaRPr lang="en-US"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FFFFFF"/>
                </a:solidFill>
                <a:effectLst/>
                <a:uFillTx/>
                <a:latin typeface="Arial"/>
                <a:ea typeface="Arial"/>
              </a:rPr>
              <a:t>Department of Scientific Computing, Florida State University</a:t>
            </a:r>
            <a:endParaRPr lang="en-US" sz="1300" b="0" u="none" strike="noStrike">
              <a:solidFill>
                <a:srgbClr val="FFFFFF"/>
              </a:solidFill>
              <a:effectLst/>
              <a:uFillTx/>
              <a:latin typeface="Arial"/>
            </a:endParaRPr>
          </a:p>
        </p:txBody>
      </p:sp>
      <p:sp>
        <p:nvSpPr>
          <p:cNvPr id="20" name="Text 6"/>
          <p:cNvSpPr/>
          <p:nvPr/>
        </p:nvSpPr>
        <p:spPr>
          <a:xfrm>
            <a:off x="5212080" y="5532120"/>
            <a:ext cx="6400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CEB888"/>
                </a:solidFill>
                <a:effectLst/>
                <a:uFillTx/>
                <a:latin typeface="Arial"/>
                <a:ea typeface="Arial"/>
              </a:rPr>
              <a:t>ReliaQuest Innovation Challenge · Challenge Three: Knowledge Graph Integration · October 19, 2026</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1" name="Image 0" descr="/tmp/claude-1000/-home-bdgr-Agents-Ariadne/eca9f446-3ea1-4c07-8826-cc7003be2e12/scratchpad/assets/fsu-garnet-gold.png"/>
          <p:cNvPicPr/>
          <p:nvPr/>
        </p:nvPicPr>
        <p:blipFill>
          <a:blip r:embed="rId1"/>
          <a:stretch/>
        </p:blipFill>
        <p:spPr>
          <a:xfrm>
            <a:off x="457200" y="292680"/>
            <a:ext cx="1105920" cy="456840"/>
          </a:xfrm>
          <a:prstGeom prst="rect">
            <a:avLst/>
          </a:prstGeom>
          <a:noFill/>
          <a:ln w="0">
            <a:noFill/>
          </a:ln>
        </p:spPr>
      </p:pic>
      <p:pic>
        <p:nvPicPr>
          <p:cNvPr id="22" name="Image 1" descr="/tmp/claude-1000/-home-bdgr-Agents-Ariadne/eca9f446-3ea1-4c07-8826-cc7003be2e12/scratchpad/assets/reliaquest.png"/>
          <p:cNvPicPr/>
          <p:nvPr/>
        </p:nvPicPr>
        <p:blipFill>
          <a:blip r:embed="rId2"/>
          <a:stretch/>
        </p:blipFill>
        <p:spPr>
          <a:xfrm>
            <a:off x="1874520" y="374760"/>
            <a:ext cx="1325520" cy="292320"/>
          </a:xfrm>
          <a:prstGeom prst="rect">
            <a:avLst/>
          </a:prstGeom>
          <a:noFill/>
          <a:ln w="0">
            <a:noFill/>
          </a:ln>
        </p:spPr>
      </p:pic>
      <p:pic>
        <p:nvPicPr>
          <p:cNvPr id="23" name="Image 2" descr="/tmp/claude-1000/-home-bdgr-Agents-Ariadne/eca9f446-3ea1-4c07-8826-cc7003be2e12/scratchpad/assets/ariadne-mark.png"/>
          <p:cNvPicPr/>
          <p:nvPr/>
        </p:nvPicPr>
        <p:blipFill>
          <a:blip r:embed="rId3"/>
          <a:stretch/>
        </p:blipFill>
        <p:spPr>
          <a:xfrm>
            <a:off x="11201400" y="274320"/>
            <a:ext cx="529920" cy="456840"/>
          </a:xfrm>
          <a:prstGeom prst="rect">
            <a:avLst/>
          </a:prstGeom>
          <a:noFill/>
          <a:ln w="0">
            <a:noFill/>
          </a:ln>
        </p:spPr>
      </p:pic>
      <p:sp>
        <p:nvSpPr>
          <p:cNvPr id="24" name="Text 0"/>
          <p:cNvSpPr/>
          <p:nvPr/>
        </p:nvSpPr>
        <p:spPr>
          <a:xfrm>
            <a:off x="10607040" y="6510600"/>
            <a:ext cx="11426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101820"/>
                </a:solidFill>
                <a:effectLst/>
                <a:uFillTx/>
                <a:latin typeface="Arial"/>
                <a:ea typeface="Arial"/>
              </a:rPr>
              <a:t>2 / 13</a:t>
            </a:r>
            <a:endParaRPr lang="en-US" sz="900" b="0" u="none" strike="noStrike">
              <a:solidFill>
                <a:srgbClr val="000000"/>
              </a:solidFill>
              <a:effectLst/>
              <a:uFillTx/>
              <a:latin typeface="Arial"/>
            </a:endParaRPr>
          </a:p>
        </p:txBody>
      </p:sp>
      <p:sp>
        <p:nvSpPr>
          <p:cNvPr id="25" name="Text 1"/>
          <p:cNvSpPr/>
          <p:nvPr/>
        </p:nvSpPr>
        <p:spPr>
          <a:xfrm>
            <a:off x="457200" y="6510600"/>
            <a:ext cx="96008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101820"/>
                </a:solidFill>
                <a:effectLst/>
                <a:uFillTx/>
                <a:latin typeface="Arial"/>
                <a:ea typeface="Arial"/>
              </a:rPr>
              <a:t>Figure: relational records vs. a knowledge graph, cybersecurity example.</a:t>
            </a:r>
            <a:endParaRPr lang="en-US" sz="900" b="0" u="none" strike="noStrike">
              <a:solidFill>
                <a:srgbClr val="000000"/>
              </a:solidFill>
              <a:effectLst/>
              <a:uFillTx/>
              <a:latin typeface="Arial"/>
            </a:endParaRPr>
          </a:p>
        </p:txBody>
      </p:sp>
      <p:sp>
        <p:nvSpPr>
          <p:cNvPr id="26" name="Text 2"/>
          <p:cNvSpPr/>
          <p:nvPr/>
        </p:nvSpPr>
        <p:spPr>
          <a:xfrm>
            <a:off x="457200" y="868680"/>
            <a:ext cx="112467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782F40"/>
                </a:solidFill>
                <a:effectLst/>
                <a:uFillTx/>
                <a:latin typeface="Arial"/>
                <a:ea typeface="Arial"/>
              </a:rPr>
              <a:t>What is a knowledge graph?</a:t>
            </a:r>
            <a:endParaRPr lang="en-US" sz="3000" b="0" u="none" strike="noStrike">
              <a:solidFill>
                <a:srgbClr val="000000"/>
              </a:solidFill>
              <a:effectLst/>
              <a:uFillTx/>
              <a:latin typeface="Arial"/>
            </a:endParaRPr>
          </a:p>
        </p:txBody>
      </p:sp>
      <p:pic>
        <p:nvPicPr>
          <p:cNvPr id="27" name="Image 3" descr="/tmp/claude-1000/-home-bdgr-Agents-Ariadne/eca9f446-3ea1-4c07-8826-cc7003be2e12/scratchpad/assets/figure1_rd_vs_kg_fsu.png"/>
          <p:cNvPicPr/>
          <p:nvPr/>
        </p:nvPicPr>
        <p:blipFill>
          <a:blip r:embed="rId4"/>
          <a:stretch/>
        </p:blipFill>
        <p:spPr>
          <a:xfrm>
            <a:off x="457200" y="1645920"/>
            <a:ext cx="7497720" cy="4214880"/>
          </a:xfrm>
          <a:prstGeom prst="rect">
            <a:avLst/>
          </a:prstGeom>
          <a:noFill/>
          <a:ln w="0">
            <a:noFill/>
          </a:ln>
        </p:spPr>
      </p:pic>
      <p:sp>
        <p:nvSpPr>
          <p:cNvPr id="28" name="Shape 3"/>
          <p:cNvSpPr/>
          <p:nvPr/>
        </p:nvSpPr>
        <p:spPr>
          <a:xfrm>
            <a:off x="8321040" y="1847160"/>
            <a:ext cx="328680" cy="32868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 name="Text 4"/>
          <p:cNvSpPr/>
          <p:nvPr/>
        </p:nvSpPr>
        <p:spPr>
          <a:xfrm>
            <a:off x="8321040" y="1847160"/>
            <a:ext cx="32868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01820"/>
                </a:solidFill>
                <a:effectLst/>
                <a:uFillTx/>
                <a:latin typeface="Arial"/>
                <a:ea typeface="Arial"/>
              </a:rPr>
              <a:t>1</a:t>
            </a:r>
            <a:endParaRPr lang="en-US" sz="1300" b="0" u="none" strike="noStrike">
              <a:solidFill>
                <a:srgbClr val="000000"/>
              </a:solidFill>
              <a:effectLst/>
              <a:uFillTx/>
              <a:latin typeface="Arial"/>
            </a:endParaRPr>
          </a:p>
        </p:txBody>
      </p:sp>
      <p:sp>
        <p:nvSpPr>
          <p:cNvPr id="30" name="Text 5"/>
          <p:cNvSpPr/>
          <p:nvPr/>
        </p:nvSpPr>
        <p:spPr>
          <a:xfrm>
            <a:off x="8778240" y="1828800"/>
            <a:ext cx="30171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782F40"/>
                </a:solidFill>
                <a:effectLst/>
                <a:uFillTx/>
                <a:latin typeface="Arial"/>
                <a:ea typeface="Arial"/>
              </a:rPr>
              <a:t>Entities become nodes</a:t>
            </a:r>
            <a:endParaRPr lang="en-US" sz="1500" b="0" u="none" strike="noStrike">
              <a:solidFill>
                <a:srgbClr val="000000"/>
              </a:solidFill>
              <a:effectLst/>
              <a:uFillTx/>
              <a:latin typeface="Arial"/>
            </a:endParaRPr>
          </a:p>
        </p:txBody>
      </p:sp>
      <p:sp>
        <p:nvSpPr>
          <p:cNvPr id="31" name="Text 6"/>
          <p:cNvSpPr/>
          <p:nvPr/>
        </p:nvSpPr>
        <p:spPr>
          <a:xfrm>
            <a:off x="8778240" y="2212920"/>
            <a:ext cx="301716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01820"/>
                </a:solidFill>
                <a:effectLst/>
                <a:uFillTx/>
                <a:latin typeface="Arial"/>
                <a:ea typeface="Arial"/>
              </a:rPr>
              <a:t>an account, a device, an alert, a tactic</a:t>
            </a:r>
            <a:endParaRPr lang="en-US" sz="1200" b="0" u="none" strike="noStrike">
              <a:solidFill>
                <a:srgbClr val="000000"/>
              </a:solidFill>
              <a:effectLst/>
              <a:uFillTx/>
              <a:latin typeface="Arial"/>
            </a:endParaRPr>
          </a:p>
        </p:txBody>
      </p:sp>
      <p:sp>
        <p:nvSpPr>
          <p:cNvPr id="32" name="Shape 7"/>
          <p:cNvSpPr/>
          <p:nvPr/>
        </p:nvSpPr>
        <p:spPr>
          <a:xfrm>
            <a:off x="8321040" y="3081600"/>
            <a:ext cx="328680" cy="32868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 name="Text 8"/>
          <p:cNvSpPr/>
          <p:nvPr/>
        </p:nvSpPr>
        <p:spPr>
          <a:xfrm>
            <a:off x="8321040" y="3081600"/>
            <a:ext cx="32868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01820"/>
                </a:solidFill>
                <a:effectLst/>
                <a:uFillTx/>
                <a:latin typeface="Arial"/>
                <a:ea typeface="Arial"/>
              </a:rPr>
              <a:t>2</a:t>
            </a:r>
            <a:endParaRPr lang="en-US" sz="1300" b="0" u="none" strike="noStrike">
              <a:solidFill>
                <a:srgbClr val="000000"/>
              </a:solidFill>
              <a:effectLst/>
              <a:uFillTx/>
              <a:latin typeface="Arial"/>
            </a:endParaRPr>
          </a:p>
        </p:txBody>
      </p:sp>
      <p:sp>
        <p:nvSpPr>
          <p:cNvPr id="34" name="Text 9"/>
          <p:cNvSpPr/>
          <p:nvPr/>
        </p:nvSpPr>
        <p:spPr>
          <a:xfrm>
            <a:off x="8778240" y="3063240"/>
            <a:ext cx="30171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782F40"/>
                </a:solidFill>
                <a:effectLst/>
                <a:uFillTx/>
                <a:latin typeface="Arial"/>
                <a:ea typeface="Arial"/>
              </a:rPr>
              <a:t>Connections are named</a:t>
            </a:r>
            <a:endParaRPr lang="en-US" sz="1500" b="0" u="none" strike="noStrike">
              <a:solidFill>
                <a:srgbClr val="000000"/>
              </a:solidFill>
              <a:effectLst/>
              <a:uFillTx/>
              <a:latin typeface="Arial"/>
            </a:endParaRPr>
          </a:p>
        </p:txBody>
      </p:sp>
      <p:sp>
        <p:nvSpPr>
          <p:cNvPr id="35" name="Text 10"/>
          <p:cNvSpPr/>
          <p:nvPr/>
        </p:nvSpPr>
        <p:spPr>
          <a:xfrm>
            <a:off x="8778240" y="3447360"/>
            <a:ext cx="301716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01820"/>
                </a:solidFill>
                <a:effectLst/>
                <a:uFillTx/>
                <a:latin typeface="Arial"/>
                <a:ea typeface="Arial"/>
              </a:rPr>
              <a:t>logged into · connected to · detected on · suggests</a:t>
            </a:r>
            <a:endParaRPr lang="en-US" sz="1200" b="0" u="none" strike="noStrike">
              <a:solidFill>
                <a:srgbClr val="000000"/>
              </a:solidFill>
              <a:effectLst/>
              <a:uFillTx/>
              <a:latin typeface="Arial"/>
            </a:endParaRPr>
          </a:p>
        </p:txBody>
      </p:sp>
      <p:sp>
        <p:nvSpPr>
          <p:cNvPr id="36" name="Shape 11"/>
          <p:cNvSpPr/>
          <p:nvPr/>
        </p:nvSpPr>
        <p:spPr>
          <a:xfrm>
            <a:off x="8321040" y="4316040"/>
            <a:ext cx="328680" cy="32868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 name="Text 12"/>
          <p:cNvSpPr/>
          <p:nvPr/>
        </p:nvSpPr>
        <p:spPr>
          <a:xfrm>
            <a:off x="8321040" y="4316040"/>
            <a:ext cx="32868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01820"/>
                </a:solidFill>
                <a:effectLst/>
                <a:uFillTx/>
                <a:latin typeface="Arial"/>
                <a:ea typeface="Arial"/>
              </a:rPr>
              <a:t>3</a:t>
            </a:r>
            <a:endParaRPr lang="en-US" sz="1300" b="0" u="none" strike="noStrike">
              <a:solidFill>
                <a:srgbClr val="000000"/>
              </a:solidFill>
              <a:effectLst/>
              <a:uFillTx/>
              <a:latin typeface="Arial"/>
            </a:endParaRPr>
          </a:p>
        </p:txBody>
      </p:sp>
      <p:sp>
        <p:nvSpPr>
          <p:cNvPr id="38" name="Text 13"/>
          <p:cNvSpPr/>
          <p:nvPr/>
        </p:nvSpPr>
        <p:spPr>
          <a:xfrm>
            <a:off x="8778240" y="4297680"/>
            <a:ext cx="30171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782F40"/>
                </a:solidFill>
                <a:effectLst/>
                <a:uFillTx/>
                <a:latin typeface="Arial"/>
                <a:ea typeface="Arial"/>
              </a:rPr>
              <a:t>Questions become paths</a:t>
            </a:r>
            <a:endParaRPr lang="en-US" sz="1500" b="0" u="none" strike="noStrike">
              <a:solidFill>
                <a:srgbClr val="000000"/>
              </a:solidFill>
              <a:effectLst/>
              <a:uFillTx/>
              <a:latin typeface="Arial"/>
            </a:endParaRPr>
          </a:p>
        </p:txBody>
      </p:sp>
      <p:sp>
        <p:nvSpPr>
          <p:cNvPr id="39" name="Text 14"/>
          <p:cNvSpPr/>
          <p:nvPr/>
        </p:nvSpPr>
        <p:spPr>
          <a:xfrm>
            <a:off x="8778240" y="4681800"/>
            <a:ext cx="301716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01820"/>
                </a:solidFill>
                <a:effectLst/>
                <a:uFillTx/>
                <a:latin typeface="Arial"/>
                <a:ea typeface="Arial"/>
              </a:rPr>
              <a:t>follow the links instead of joining tables</a:t>
            </a:r>
            <a:endParaRPr lang="en-US" sz="1200" b="0" u="none" strike="noStrike">
              <a:solidFill>
                <a:srgbClr val="000000"/>
              </a:solidFill>
              <a:effectLst/>
              <a:uFillTx/>
              <a:latin typeface="Arial"/>
            </a:endParaRPr>
          </a:p>
        </p:txBody>
      </p:sp>
      <p:sp>
        <p:nvSpPr>
          <p:cNvPr id="40" name="Text 15"/>
          <p:cNvSpPr/>
          <p:nvPr/>
        </p:nvSpPr>
        <p:spPr>
          <a:xfrm>
            <a:off x="457200" y="5989320"/>
            <a:ext cx="74977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782F40"/>
                </a:solidFill>
                <a:effectLst/>
                <a:uFillTx/>
                <a:latin typeface="Arial"/>
                <a:ea typeface="Arial"/>
              </a:rPr>
              <a:t>A table answers "how many". A graph answers "what connects".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82F40"/>
        </a:solidFill>
      </p:bgPr>
    </p:bg>
    <p:spTree>
      <p:nvGrpSpPr>
        <p:cNvPr id="1" name=""/>
        <p:cNvGrpSpPr/>
        <p:nvPr/>
      </p:nvGrpSpPr>
      <p:grpSpPr>
        <a:xfrm>
          <a:off x="0" y="0"/>
          <a:ext cx="0" cy="0"/>
          <a:chOff x="0" y="0"/>
          <a:chExt cx="0" cy="0"/>
        </a:xfrm>
      </p:grpSpPr>
      <p:pic>
        <p:nvPicPr>
          <p:cNvPr id="41" name="Image 0" descr="/tmp/claude-1000/-home-bdgr-Agents-Ariadne/eca9f446-3ea1-4c07-8826-cc7003be2e12/scratchpad/assets/fsu-white.png"/>
          <p:cNvPicPr/>
          <p:nvPr/>
        </p:nvPicPr>
        <p:blipFill>
          <a:blip r:embed="rId1"/>
          <a:stretch/>
        </p:blipFill>
        <p:spPr>
          <a:xfrm>
            <a:off x="457200" y="292680"/>
            <a:ext cx="1105920" cy="456840"/>
          </a:xfrm>
          <a:prstGeom prst="rect">
            <a:avLst/>
          </a:prstGeom>
          <a:noFill/>
          <a:ln w="0">
            <a:noFill/>
          </a:ln>
        </p:spPr>
      </p:pic>
      <p:pic>
        <p:nvPicPr>
          <p:cNvPr id="42" name="Image 1" descr="/tmp/claude-1000/-home-bdgr-Agents-Ariadne/eca9f446-3ea1-4c07-8826-cc7003be2e12/scratchpad/assets/reliaquest-on-dark.png"/>
          <p:cNvPicPr/>
          <p:nvPr/>
        </p:nvPicPr>
        <p:blipFill>
          <a:blip r:embed="rId2"/>
          <a:stretch/>
        </p:blipFill>
        <p:spPr>
          <a:xfrm>
            <a:off x="1874520" y="374760"/>
            <a:ext cx="1325520" cy="292320"/>
          </a:xfrm>
          <a:prstGeom prst="rect">
            <a:avLst/>
          </a:prstGeom>
          <a:noFill/>
          <a:ln w="0">
            <a:noFill/>
          </a:ln>
        </p:spPr>
      </p:pic>
      <p:pic>
        <p:nvPicPr>
          <p:cNvPr id="43" name="Image 2" descr="/tmp/claude-1000/-home-bdgr-Agents-Ariadne/eca9f446-3ea1-4c07-8826-cc7003be2e12/scratchpad/assets/ariadne-mark.png"/>
          <p:cNvPicPr/>
          <p:nvPr/>
        </p:nvPicPr>
        <p:blipFill>
          <a:blip r:embed="rId3"/>
          <a:stretch/>
        </p:blipFill>
        <p:spPr>
          <a:xfrm>
            <a:off x="11201400" y="274320"/>
            <a:ext cx="529920" cy="456840"/>
          </a:xfrm>
          <a:prstGeom prst="rect">
            <a:avLst/>
          </a:prstGeom>
          <a:noFill/>
          <a:ln w="0">
            <a:noFill/>
          </a:ln>
        </p:spPr>
      </p:pic>
      <p:sp>
        <p:nvSpPr>
          <p:cNvPr id="44" name="Text 0"/>
          <p:cNvSpPr/>
          <p:nvPr/>
        </p:nvSpPr>
        <p:spPr>
          <a:xfrm>
            <a:off x="10607040" y="6510600"/>
            <a:ext cx="11426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DFD1A7"/>
                </a:solidFill>
                <a:effectLst/>
                <a:uFillTx/>
                <a:latin typeface="Arial"/>
                <a:ea typeface="Arial"/>
              </a:rPr>
              <a:t>3 / 13</a:t>
            </a:r>
            <a:endParaRPr lang="en-US" sz="900" b="0" u="none" strike="noStrike">
              <a:solidFill>
                <a:srgbClr val="FFFFFF"/>
              </a:solidFill>
              <a:effectLst/>
              <a:uFillTx/>
              <a:latin typeface="Arial"/>
            </a:endParaRPr>
          </a:p>
        </p:txBody>
      </p:sp>
      <p:sp>
        <p:nvSpPr>
          <p:cNvPr id="45" name="Text 1"/>
          <p:cNvSpPr/>
          <p:nvPr/>
        </p:nvSpPr>
        <p:spPr>
          <a:xfrm>
            <a:off x="457200" y="6510600"/>
            <a:ext cx="96008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DFD1A7"/>
                </a:solidFill>
                <a:effectLst/>
                <a:uFillTx/>
                <a:latin typeface="Arial"/>
                <a:ea typeface="Arial"/>
              </a:rPr>
              <a:t>Query languages: Cypher (Neo4j), Gremlin (Apache TinkerPop), GQL (ISO/IEC 39075:2024). Example queries are illustrative.</a:t>
            </a:r>
            <a:endParaRPr lang="en-US" sz="900" b="0" u="none" strike="noStrike">
              <a:solidFill>
                <a:srgbClr val="FFFFFF"/>
              </a:solidFill>
              <a:effectLst/>
              <a:uFillTx/>
              <a:latin typeface="Arial"/>
            </a:endParaRPr>
          </a:p>
        </p:txBody>
      </p:sp>
      <p:sp>
        <p:nvSpPr>
          <p:cNvPr id="46" name="Text 2"/>
          <p:cNvSpPr/>
          <p:nvPr/>
        </p:nvSpPr>
        <p:spPr>
          <a:xfrm>
            <a:off x="457200" y="868680"/>
            <a:ext cx="112467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FFFFFF"/>
                </a:solidFill>
                <a:effectLst/>
                <a:uFillTx/>
                <a:latin typeface="Arial"/>
                <a:ea typeface="Arial"/>
              </a:rPr>
              <a:t>Knowledge graphs speak different languages</a:t>
            </a:r>
            <a:endParaRPr lang="en-US" sz="3000" b="0" u="none" strike="noStrike">
              <a:solidFill>
                <a:srgbClr val="FFFFFF"/>
              </a:solidFill>
              <a:effectLst/>
              <a:uFillTx/>
              <a:latin typeface="Arial"/>
            </a:endParaRPr>
          </a:p>
        </p:txBody>
      </p:sp>
      <p:pic>
        <p:nvPicPr>
          <p:cNvPr id="47" name="Image 3" descr="/tmp/claude-1000/-home-bdgr-Agents-Ariadne/eca9f446-3ea1-4c07-8826-cc7003be2e12/scratchpad/assets/figure2_languages_fsu2.png"/>
          <p:cNvPicPr/>
          <p:nvPr/>
        </p:nvPicPr>
        <p:blipFill>
          <a:blip r:embed="rId4"/>
          <a:stretch/>
        </p:blipFill>
        <p:spPr>
          <a:xfrm>
            <a:off x="457200" y="1645920"/>
            <a:ext cx="7863480" cy="4425480"/>
          </a:xfrm>
          <a:prstGeom prst="rect">
            <a:avLst/>
          </a:prstGeom>
          <a:noFill/>
          <a:ln w="0">
            <a:noFill/>
          </a:ln>
        </p:spPr>
      </p:pic>
      <p:sp>
        <p:nvSpPr>
          <p:cNvPr id="48" name="Shape 3"/>
          <p:cNvSpPr/>
          <p:nvPr/>
        </p:nvSpPr>
        <p:spPr>
          <a:xfrm>
            <a:off x="8686800" y="1801440"/>
            <a:ext cx="328680" cy="32868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 name="Text 4"/>
          <p:cNvSpPr/>
          <p:nvPr/>
        </p:nvSpPr>
        <p:spPr>
          <a:xfrm>
            <a:off x="8686800" y="1801440"/>
            <a:ext cx="32868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01820"/>
                </a:solidFill>
                <a:effectLst/>
                <a:uFillTx/>
                <a:latin typeface="Arial"/>
                <a:ea typeface="Arial"/>
              </a:rPr>
              <a:t>1</a:t>
            </a:r>
            <a:endParaRPr lang="en-US" sz="1300" b="0" u="none" strike="noStrike">
              <a:solidFill>
                <a:srgbClr val="FFFFFF"/>
              </a:solidFill>
              <a:effectLst/>
              <a:uFillTx/>
              <a:latin typeface="Arial"/>
            </a:endParaRPr>
          </a:p>
        </p:txBody>
      </p:sp>
      <p:sp>
        <p:nvSpPr>
          <p:cNvPr id="50" name="Text 5"/>
          <p:cNvSpPr/>
          <p:nvPr/>
        </p:nvSpPr>
        <p:spPr>
          <a:xfrm>
            <a:off x="9144000" y="1783080"/>
            <a:ext cx="265140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Arial"/>
                <a:ea typeface="Arial"/>
              </a:rPr>
              <a:t>MITRE ATT&amp;CK</a:t>
            </a:r>
            <a:endParaRPr lang="en-US" sz="1500" b="0" u="none" strike="noStrike">
              <a:solidFill>
                <a:srgbClr val="FFFFFF"/>
              </a:solidFill>
              <a:effectLst/>
              <a:uFillTx/>
              <a:latin typeface="Arial"/>
            </a:endParaRPr>
          </a:p>
        </p:txBody>
      </p:sp>
      <p:sp>
        <p:nvSpPr>
          <p:cNvPr id="51" name="Text 6"/>
          <p:cNvSpPr/>
          <p:nvPr/>
        </p:nvSpPr>
        <p:spPr>
          <a:xfrm>
            <a:off x="9144000" y="2130480"/>
            <a:ext cx="26514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DFD1A7"/>
                </a:solidFill>
                <a:effectLst/>
                <a:uFillTx/>
                <a:latin typeface="Arial"/>
                <a:ea typeface="Arial"/>
              </a:rPr>
              <a:t>adversary techniques and mitigations</a:t>
            </a:r>
            <a:endParaRPr lang="en-US" sz="1100" b="0" u="none" strike="noStrike">
              <a:solidFill>
                <a:srgbClr val="FFFFFF"/>
              </a:solidFill>
              <a:effectLst/>
              <a:uFillTx/>
              <a:latin typeface="Arial"/>
            </a:endParaRPr>
          </a:p>
        </p:txBody>
      </p:sp>
      <p:sp>
        <p:nvSpPr>
          <p:cNvPr id="52" name="Text 7"/>
          <p:cNvSpPr/>
          <p:nvPr/>
        </p:nvSpPr>
        <p:spPr>
          <a:xfrm>
            <a:off x="9144000" y="2386440"/>
            <a:ext cx="26514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CEB888"/>
                </a:solidFill>
                <a:effectLst/>
                <a:uFillTx/>
                <a:latin typeface="Arial"/>
                <a:ea typeface="Arial"/>
              </a:rPr>
              <a:t>Neo4j · speaks Cypher</a:t>
            </a:r>
            <a:endParaRPr lang="en-US" sz="1100" b="0" u="none" strike="noStrike">
              <a:solidFill>
                <a:srgbClr val="FFFFFF"/>
              </a:solidFill>
              <a:effectLst/>
              <a:uFillTx/>
              <a:latin typeface="Arial"/>
            </a:endParaRPr>
          </a:p>
        </p:txBody>
      </p:sp>
      <p:sp>
        <p:nvSpPr>
          <p:cNvPr id="53" name="Shape 8"/>
          <p:cNvSpPr/>
          <p:nvPr/>
        </p:nvSpPr>
        <p:spPr>
          <a:xfrm>
            <a:off x="8686800" y="2990160"/>
            <a:ext cx="328680" cy="32868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 name="Text 9"/>
          <p:cNvSpPr/>
          <p:nvPr/>
        </p:nvSpPr>
        <p:spPr>
          <a:xfrm>
            <a:off x="8686800" y="2990160"/>
            <a:ext cx="32868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01820"/>
                </a:solidFill>
                <a:effectLst/>
                <a:uFillTx/>
                <a:latin typeface="Arial"/>
                <a:ea typeface="Arial"/>
              </a:rPr>
              <a:t>2</a:t>
            </a:r>
            <a:endParaRPr lang="en-US" sz="1300" b="0" u="none" strike="noStrike">
              <a:solidFill>
                <a:srgbClr val="FFFFFF"/>
              </a:solidFill>
              <a:effectLst/>
              <a:uFillTx/>
              <a:latin typeface="Arial"/>
            </a:endParaRPr>
          </a:p>
        </p:txBody>
      </p:sp>
      <p:sp>
        <p:nvSpPr>
          <p:cNvPr id="55" name="Text 10"/>
          <p:cNvSpPr/>
          <p:nvPr/>
        </p:nvSpPr>
        <p:spPr>
          <a:xfrm>
            <a:off x="9144000" y="2971800"/>
            <a:ext cx="265140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Arial"/>
                <a:ea typeface="Arial"/>
              </a:rPr>
              <a:t>MITRE CAPEC</a:t>
            </a:r>
            <a:endParaRPr lang="en-US" sz="1500" b="0" u="none" strike="noStrike">
              <a:solidFill>
                <a:srgbClr val="FFFFFF"/>
              </a:solidFill>
              <a:effectLst/>
              <a:uFillTx/>
              <a:latin typeface="Arial"/>
            </a:endParaRPr>
          </a:p>
        </p:txBody>
      </p:sp>
      <p:sp>
        <p:nvSpPr>
          <p:cNvPr id="56" name="Text 11"/>
          <p:cNvSpPr/>
          <p:nvPr/>
        </p:nvSpPr>
        <p:spPr>
          <a:xfrm>
            <a:off x="9144000" y="3319200"/>
            <a:ext cx="26514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DFD1A7"/>
                </a:solidFill>
                <a:effectLst/>
                <a:uFillTx/>
                <a:latin typeface="Arial"/>
                <a:ea typeface="Arial"/>
              </a:rPr>
              <a:t>attack patterns</a:t>
            </a:r>
            <a:endParaRPr lang="en-US" sz="1100" b="0" u="none" strike="noStrike">
              <a:solidFill>
                <a:srgbClr val="FFFFFF"/>
              </a:solidFill>
              <a:effectLst/>
              <a:uFillTx/>
              <a:latin typeface="Arial"/>
            </a:endParaRPr>
          </a:p>
        </p:txBody>
      </p:sp>
      <p:sp>
        <p:nvSpPr>
          <p:cNvPr id="57" name="Text 12"/>
          <p:cNvSpPr/>
          <p:nvPr/>
        </p:nvSpPr>
        <p:spPr>
          <a:xfrm>
            <a:off x="9144000" y="3575160"/>
            <a:ext cx="26514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CEB888"/>
                </a:solidFill>
                <a:effectLst/>
                <a:uFillTx/>
                <a:latin typeface="Arial"/>
                <a:ea typeface="Arial"/>
              </a:rPr>
              <a:t>Gremlin Server · speaks Gremlin</a:t>
            </a:r>
            <a:endParaRPr lang="en-US" sz="1100" b="0" u="none" strike="noStrike">
              <a:solidFill>
                <a:srgbClr val="FFFFFF"/>
              </a:solidFill>
              <a:effectLst/>
              <a:uFillTx/>
              <a:latin typeface="Arial"/>
            </a:endParaRPr>
          </a:p>
        </p:txBody>
      </p:sp>
      <p:sp>
        <p:nvSpPr>
          <p:cNvPr id="58" name="Shape 13"/>
          <p:cNvSpPr/>
          <p:nvPr/>
        </p:nvSpPr>
        <p:spPr>
          <a:xfrm>
            <a:off x="8686800" y="4178880"/>
            <a:ext cx="328680" cy="32868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9" name="Text 14"/>
          <p:cNvSpPr/>
          <p:nvPr/>
        </p:nvSpPr>
        <p:spPr>
          <a:xfrm>
            <a:off x="8686800" y="4178880"/>
            <a:ext cx="32868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01820"/>
                </a:solidFill>
                <a:effectLst/>
                <a:uFillTx/>
                <a:latin typeface="Arial"/>
                <a:ea typeface="Arial"/>
              </a:rPr>
              <a:t>3</a:t>
            </a:r>
            <a:endParaRPr lang="en-US" sz="1300" b="0" u="none" strike="noStrike">
              <a:solidFill>
                <a:srgbClr val="FFFFFF"/>
              </a:solidFill>
              <a:effectLst/>
              <a:uFillTx/>
              <a:latin typeface="Arial"/>
            </a:endParaRPr>
          </a:p>
        </p:txBody>
      </p:sp>
      <p:sp>
        <p:nvSpPr>
          <p:cNvPr id="60" name="Text 15"/>
          <p:cNvSpPr/>
          <p:nvPr/>
        </p:nvSpPr>
        <p:spPr>
          <a:xfrm>
            <a:off x="9144000" y="4160520"/>
            <a:ext cx="265140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Arial"/>
                <a:ea typeface="Arial"/>
              </a:rPr>
              <a:t>Cloud graph databases</a:t>
            </a:r>
            <a:endParaRPr lang="en-US" sz="1500" b="0" u="none" strike="noStrike">
              <a:solidFill>
                <a:srgbClr val="FFFFFF"/>
              </a:solidFill>
              <a:effectLst/>
              <a:uFillTx/>
              <a:latin typeface="Arial"/>
            </a:endParaRPr>
          </a:p>
        </p:txBody>
      </p:sp>
      <p:sp>
        <p:nvSpPr>
          <p:cNvPr id="61" name="Text 16"/>
          <p:cNvSpPr/>
          <p:nvPr/>
        </p:nvSpPr>
        <p:spPr>
          <a:xfrm>
            <a:off x="9144000" y="4507920"/>
            <a:ext cx="26514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DFD1A7"/>
                </a:solidFill>
                <a:effectLst/>
                <a:uFillTx/>
                <a:latin typeface="Arial"/>
                <a:ea typeface="Arial"/>
              </a:rPr>
              <a:t>Spanner Graph, Amazon Neptune</a:t>
            </a:r>
            <a:endParaRPr lang="en-US" sz="1100" b="0" u="none" strike="noStrike">
              <a:solidFill>
                <a:srgbClr val="FFFFFF"/>
              </a:solidFill>
              <a:effectLst/>
              <a:uFillTx/>
              <a:latin typeface="Arial"/>
            </a:endParaRPr>
          </a:p>
        </p:txBody>
      </p:sp>
      <p:sp>
        <p:nvSpPr>
          <p:cNvPr id="62" name="Text 17"/>
          <p:cNvSpPr/>
          <p:nvPr/>
        </p:nvSpPr>
        <p:spPr>
          <a:xfrm>
            <a:off x="9144000" y="4763880"/>
            <a:ext cx="26514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CEB888"/>
                </a:solidFill>
                <a:effectLst/>
                <a:uFillTx/>
                <a:latin typeface="Arial"/>
                <a:ea typeface="Arial"/>
              </a:rPr>
              <a:t>speak GQL and openCypher</a:t>
            </a:r>
            <a:endParaRPr lang="en-US" sz="1100" b="0" u="none" strike="noStrike">
              <a:solidFill>
                <a:srgbClr val="FFFFFF"/>
              </a:solidFill>
              <a:effectLst/>
              <a:uFillTx/>
              <a:latin typeface="Arial"/>
            </a:endParaRPr>
          </a:p>
        </p:txBody>
      </p:sp>
      <p:sp>
        <p:nvSpPr>
          <p:cNvPr id="63" name="Text 18"/>
          <p:cNvSpPr/>
          <p:nvPr/>
        </p:nvSpPr>
        <p:spPr>
          <a:xfrm>
            <a:off x="8686800" y="5394960"/>
            <a:ext cx="310860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rgbClr val="FFFFFF"/>
                </a:solidFill>
                <a:effectLst/>
                <a:uFillTx/>
                <a:latin typeface="Arial"/>
                <a:ea typeface="Arial"/>
              </a:rPr>
              <a:t>Same question, three grammars. An analyst who knows one cannot ask the others.</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4" name="Image 0" descr="/tmp/claude-1000/-home-bdgr-Agents-Ariadne/eca9f446-3ea1-4c07-8826-cc7003be2e12/scratchpad/assets/fsu-garnet-gold.png"/>
          <p:cNvPicPr/>
          <p:nvPr/>
        </p:nvPicPr>
        <p:blipFill>
          <a:blip r:embed="rId1"/>
          <a:stretch/>
        </p:blipFill>
        <p:spPr>
          <a:xfrm>
            <a:off x="457200" y="292680"/>
            <a:ext cx="1105920" cy="456840"/>
          </a:xfrm>
          <a:prstGeom prst="rect">
            <a:avLst/>
          </a:prstGeom>
          <a:noFill/>
          <a:ln w="0">
            <a:noFill/>
          </a:ln>
        </p:spPr>
      </p:pic>
      <p:pic>
        <p:nvPicPr>
          <p:cNvPr id="65" name="Image 1" descr="/tmp/claude-1000/-home-bdgr-Agents-Ariadne/eca9f446-3ea1-4c07-8826-cc7003be2e12/scratchpad/assets/reliaquest.png"/>
          <p:cNvPicPr/>
          <p:nvPr/>
        </p:nvPicPr>
        <p:blipFill>
          <a:blip r:embed="rId2"/>
          <a:stretch/>
        </p:blipFill>
        <p:spPr>
          <a:xfrm>
            <a:off x="1874520" y="374760"/>
            <a:ext cx="1325520" cy="292320"/>
          </a:xfrm>
          <a:prstGeom prst="rect">
            <a:avLst/>
          </a:prstGeom>
          <a:noFill/>
          <a:ln w="0">
            <a:noFill/>
          </a:ln>
        </p:spPr>
      </p:pic>
      <p:pic>
        <p:nvPicPr>
          <p:cNvPr id="66" name="Image 2" descr="/tmp/claude-1000/-home-bdgr-Agents-Ariadne/eca9f446-3ea1-4c07-8826-cc7003be2e12/scratchpad/assets/ariadne-mark.png"/>
          <p:cNvPicPr/>
          <p:nvPr/>
        </p:nvPicPr>
        <p:blipFill>
          <a:blip r:embed="rId3"/>
          <a:stretch/>
        </p:blipFill>
        <p:spPr>
          <a:xfrm>
            <a:off x="11201400" y="274320"/>
            <a:ext cx="529920" cy="456840"/>
          </a:xfrm>
          <a:prstGeom prst="rect">
            <a:avLst/>
          </a:prstGeom>
          <a:noFill/>
          <a:ln w="0">
            <a:noFill/>
          </a:ln>
        </p:spPr>
      </p:pic>
      <p:sp>
        <p:nvSpPr>
          <p:cNvPr id="67" name="Text 0"/>
          <p:cNvSpPr/>
          <p:nvPr/>
        </p:nvSpPr>
        <p:spPr>
          <a:xfrm>
            <a:off x="10607040" y="6510600"/>
            <a:ext cx="11426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101820"/>
                </a:solidFill>
                <a:effectLst/>
                <a:uFillTx/>
                <a:latin typeface="Arial"/>
                <a:ea typeface="Arial"/>
              </a:rPr>
              <a:t>4 / 13</a:t>
            </a:r>
            <a:endParaRPr lang="en-US" sz="900" b="0" u="none" strike="noStrike">
              <a:solidFill>
                <a:srgbClr val="000000"/>
              </a:solidFill>
              <a:effectLst/>
              <a:uFillTx/>
              <a:latin typeface="Arial"/>
            </a:endParaRPr>
          </a:p>
        </p:txBody>
      </p:sp>
      <p:sp>
        <p:nvSpPr>
          <p:cNvPr id="68" name="Text 1"/>
          <p:cNvSpPr/>
          <p:nvPr/>
        </p:nvSpPr>
        <p:spPr>
          <a:xfrm>
            <a:off x="457200" y="868680"/>
            <a:ext cx="112467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782F40"/>
                </a:solidFill>
                <a:effectLst/>
                <a:uFillTx/>
                <a:latin typeface="Arial"/>
                <a:ea typeface="Arial"/>
              </a:rPr>
              <a:t>How people query across graphs today</a:t>
            </a:r>
            <a:endParaRPr lang="en-US" sz="3000" b="0" u="none" strike="noStrike">
              <a:solidFill>
                <a:srgbClr val="000000"/>
              </a:solidFill>
              <a:effectLst/>
              <a:uFillTx/>
              <a:latin typeface="Arial"/>
            </a:endParaRPr>
          </a:p>
        </p:txBody>
      </p:sp>
      <p:sp>
        <p:nvSpPr>
          <p:cNvPr id="69" name="Shape 2"/>
          <p:cNvSpPr/>
          <p:nvPr/>
        </p:nvSpPr>
        <p:spPr>
          <a:xfrm>
            <a:off x="457200" y="1737360"/>
            <a:ext cx="3565800" cy="3291480"/>
          </a:xfrm>
          <a:prstGeom prst="roundRect">
            <a:avLst>
              <a:gd name="adj" fmla="val 3333"/>
            </a:avLst>
          </a:prstGeom>
          <a:solidFill>
            <a:srgbClr val="DFD1A7"/>
          </a:solidFill>
          <a:ln w="12700">
            <a:solidFill>
              <a:srgbClr val="DFD1A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 name="Shape 3"/>
          <p:cNvSpPr/>
          <p:nvPr/>
        </p:nvSpPr>
        <p:spPr>
          <a:xfrm>
            <a:off x="731520" y="2011680"/>
            <a:ext cx="456840" cy="456840"/>
          </a:xfrm>
          <a:prstGeom prst="ellipse">
            <a:avLst/>
          </a:prstGeom>
          <a:solidFill>
            <a:srgbClr val="782F40"/>
          </a:solidFill>
          <a:ln w="12700">
            <a:solidFill>
              <a:srgbClr val="782F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1" name="Text 4"/>
          <p:cNvSpPr/>
          <p:nvPr/>
        </p:nvSpPr>
        <p:spPr>
          <a:xfrm>
            <a:off x="731520" y="201168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Arial"/>
                <a:ea typeface="Arial"/>
              </a:rPr>
              <a:t>1</a:t>
            </a:r>
            <a:endParaRPr lang="en-US" sz="1600" b="0" u="none" strike="noStrike">
              <a:solidFill>
                <a:srgbClr val="000000"/>
              </a:solidFill>
              <a:effectLst/>
              <a:uFillTx/>
              <a:latin typeface="Arial"/>
            </a:endParaRPr>
          </a:p>
        </p:txBody>
      </p:sp>
      <p:sp>
        <p:nvSpPr>
          <p:cNvPr id="72" name="Text 5"/>
          <p:cNvSpPr/>
          <p:nvPr/>
        </p:nvSpPr>
        <p:spPr>
          <a:xfrm>
            <a:off x="731520" y="2606040"/>
            <a:ext cx="301716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rgbClr val="782F40"/>
                </a:solidFill>
                <a:effectLst/>
                <a:uFillTx/>
                <a:latin typeface="Arial"/>
                <a:ea typeface="Arial"/>
              </a:rPr>
              <a:t>Write the query by hand</a:t>
            </a:r>
            <a:endParaRPr lang="en-US" sz="1800" b="0" u="none" strike="noStrike">
              <a:solidFill>
                <a:srgbClr val="000000"/>
              </a:solidFill>
              <a:effectLst/>
              <a:uFillTx/>
              <a:latin typeface="Arial"/>
            </a:endParaRPr>
          </a:p>
        </p:txBody>
      </p:sp>
      <p:sp>
        <p:nvSpPr>
          <p:cNvPr id="73" name="Text 6"/>
          <p:cNvSpPr/>
          <p:nvPr/>
        </p:nvSpPr>
        <p:spPr>
          <a:xfrm>
            <a:off x="731520" y="3429000"/>
            <a:ext cx="301716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rgbClr val="782F40"/>
                </a:solidFill>
                <a:effectLst/>
                <a:uFillTx/>
                <a:latin typeface="Arial"/>
                <a:ea typeface="Arial"/>
              </a:rPr>
              <a:t>Gives you  </a:t>
            </a:r>
            <a:r>
              <a:rPr lang="en-US" sz="1300" b="0" u="none" strike="noStrike">
                <a:solidFill>
                  <a:srgbClr val="101820"/>
                </a:solidFill>
                <a:effectLst/>
                <a:uFillTx/>
                <a:latin typeface="Arial"/>
                <a:ea typeface="Arial"/>
              </a:rPr>
              <a:t>Accurate and auditable.</a:t>
            </a:r>
            <a:endParaRPr lang="en-US" sz="1300" b="0" u="none" strike="noStrike">
              <a:solidFill>
                <a:srgbClr val="000000"/>
              </a:solidFill>
              <a:effectLst/>
              <a:uFillTx/>
              <a:latin typeface="Arial"/>
            </a:endParaRPr>
          </a:p>
        </p:txBody>
      </p:sp>
      <p:sp>
        <p:nvSpPr>
          <p:cNvPr id="74" name="Text 7"/>
          <p:cNvSpPr/>
          <p:nvPr/>
        </p:nvSpPr>
        <p:spPr>
          <a:xfrm>
            <a:off x="731520" y="4114800"/>
            <a:ext cx="301716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rgbClr val="782F40"/>
                </a:solidFill>
                <a:effectLst/>
                <a:uFillTx/>
                <a:latin typeface="Arial"/>
                <a:ea typeface="Arial"/>
              </a:rPr>
              <a:t>Costs you  </a:t>
            </a:r>
            <a:r>
              <a:rPr lang="en-US" sz="1300" b="0" u="none" strike="noStrike">
                <a:solidFill>
                  <a:srgbClr val="101820"/>
                </a:solidFill>
                <a:effectLst/>
                <a:uFillTx/>
                <a:latin typeface="Arial"/>
                <a:ea typeface="Arial"/>
              </a:rPr>
              <a:t>Slow, and it takes an expert per language, every time.</a:t>
            </a:r>
            <a:endParaRPr lang="en-US" sz="1300" b="0" u="none" strike="noStrike">
              <a:solidFill>
                <a:srgbClr val="000000"/>
              </a:solidFill>
              <a:effectLst/>
              <a:uFillTx/>
              <a:latin typeface="Arial"/>
            </a:endParaRPr>
          </a:p>
        </p:txBody>
      </p:sp>
      <p:sp>
        <p:nvSpPr>
          <p:cNvPr id="75" name="Shape 8"/>
          <p:cNvSpPr/>
          <p:nvPr/>
        </p:nvSpPr>
        <p:spPr>
          <a:xfrm>
            <a:off x="4297680" y="1737360"/>
            <a:ext cx="3565800" cy="3291480"/>
          </a:xfrm>
          <a:prstGeom prst="roundRect">
            <a:avLst>
              <a:gd name="adj" fmla="val 3333"/>
            </a:avLst>
          </a:prstGeom>
          <a:solidFill>
            <a:srgbClr val="DFD1A7"/>
          </a:solidFill>
          <a:ln w="12700">
            <a:solidFill>
              <a:srgbClr val="DFD1A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 name="Shape 9"/>
          <p:cNvSpPr/>
          <p:nvPr/>
        </p:nvSpPr>
        <p:spPr>
          <a:xfrm>
            <a:off x="4572000" y="2011680"/>
            <a:ext cx="456840" cy="456840"/>
          </a:xfrm>
          <a:prstGeom prst="ellipse">
            <a:avLst/>
          </a:prstGeom>
          <a:solidFill>
            <a:srgbClr val="782F40"/>
          </a:solidFill>
          <a:ln w="12700">
            <a:solidFill>
              <a:srgbClr val="782F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7" name="Text 10"/>
          <p:cNvSpPr/>
          <p:nvPr/>
        </p:nvSpPr>
        <p:spPr>
          <a:xfrm>
            <a:off x="4572000" y="201168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Arial"/>
                <a:ea typeface="Arial"/>
              </a:rPr>
              <a:t>2</a:t>
            </a:r>
            <a:endParaRPr lang="en-US" sz="1600" b="0" u="none" strike="noStrike">
              <a:solidFill>
                <a:srgbClr val="000000"/>
              </a:solidFill>
              <a:effectLst/>
              <a:uFillTx/>
              <a:latin typeface="Arial"/>
            </a:endParaRPr>
          </a:p>
        </p:txBody>
      </p:sp>
      <p:sp>
        <p:nvSpPr>
          <p:cNvPr id="78" name="Text 11"/>
          <p:cNvSpPr/>
          <p:nvPr/>
        </p:nvSpPr>
        <p:spPr>
          <a:xfrm>
            <a:off x="4572000" y="2606040"/>
            <a:ext cx="301716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rgbClr val="782F40"/>
                </a:solidFill>
                <a:effectLst/>
                <a:uFillTx/>
                <a:latin typeface="Arial"/>
                <a:ea typeface="Arial"/>
              </a:rPr>
              <a:t>Ask a chatbot</a:t>
            </a:r>
            <a:endParaRPr lang="en-US" sz="1800" b="0" u="none" strike="noStrike">
              <a:solidFill>
                <a:srgbClr val="000000"/>
              </a:solidFill>
              <a:effectLst/>
              <a:uFillTx/>
              <a:latin typeface="Arial"/>
            </a:endParaRPr>
          </a:p>
        </p:txBody>
      </p:sp>
      <p:sp>
        <p:nvSpPr>
          <p:cNvPr id="79" name="Text 12"/>
          <p:cNvSpPr/>
          <p:nvPr/>
        </p:nvSpPr>
        <p:spPr>
          <a:xfrm>
            <a:off x="4572000" y="3429000"/>
            <a:ext cx="301716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rgbClr val="782F40"/>
                </a:solidFill>
                <a:effectLst/>
                <a:uFillTx/>
                <a:latin typeface="Arial"/>
                <a:ea typeface="Arial"/>
              </a:rPr>
              <a:t>Gives you  </a:t>
            </a:r>
            <a:r>
              <a:rPr lang="en-US" sz="1300" b="0" u="none" strike="noStrike">
                <a:solidFill>
                  <a:srgbClr val="101820"/>
                </a:solidFill>
                <a:effectLst/>
                <a:uFillTx/>
                <a:latin typeface="Arial"/>
                <a:ea typeface="Arial"/>
              </a:rPr>
              <a:t>Fast and easy to ask.</a:t>
            </a:r>
            <a:endParaRPr lang="en-US" sz="1300" b="0" u="none" strike="noStrike">
              <a:solidFill>
                <a:srgbClr val="000000"/>
              </a:solidFill>
              <a:effectLst/>
              <a:uFillTx/>
              <a:latin typeface="Arial"/>
            </a:endParaRPr>
          </a:p>
        </p:txBody>
      </p:sp>
      <p:sp>
        <p:nvSpPr>
          <p:cNvPr id="80" name="Text 13"/>
          <p:cNvSpPr/>
          <p:nvPr/>
        </p:nvSpPr>
        <p:spPr>
          <a:xfrm>
            <a:off x="4572000" y="4114800"/>
            <a:ext cx="301716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rgbClr val="782F40"/>
                </a:solidFill>
                <a:effectLst/>
                <a:uFillTx/>
                <a:latin typeface="Arial"/>
                <a:ea typeface="Arial"/>
              </a:rPr>
              <a:t>Costs you  </a:t>
            </a:r>
            <a:r>
              <a:rPr lang="en-US" sz="1300" b="0" u="none" strike="noStrike">
                <a:solidFill>
                  <a:srgbClr val="101820"/>
                </a:solidFill>
                <a:effectLst/>
                <a:uFillTx/>
                <a:latin typeface="Arial"/>
                <a:ea typeface="Arial"/>
              </a:rPr>
              <a:t>The query it ran is hidden, and a language model can invent facts.</a:t>
            </a:r>
            <a:endParaRPr lang="en-US" sz="1300" b="0" u="none" strike="noStrike">
              <a:solidFill>
                <a:srgbClr val="000000"/>
              </a:solidFill>
              <a:effectLst/>
              <a:uFillTx/>
              <a:latin typeface="Arial"/>
            </a:endParaRPr>
          </a:p>
        </p:txBody>
      </p:sp>
      <p:sp>
        <p:nvSpPr>
          <p:cNvPr id="81" name="Shape 14"/>
          <p:cNvSpPr/>
          <p:nvPr/>
        </p:nvSpPr>
        <p:spPr>
          <a:xfrm>
            <a:off x="8138160" y="1737360"/>
            <a:ext cx="3565800" cy="3291480"/>
          </a:xfrm>
          <a:prstGeom prst="roundRect">
            <a:avLst>
              <a:gd name="adj" fmla="val 3333"/>
            </a:avLst>
          </a:prstGeom>
          <a:solidFill>
            <a:srgbClr val="DFD1A7"/>
          </a:solidFill>
          <a:ln w="12700">
            <a:solidFill>
              <a:srgbClr val="DFD1A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2" name="Shape 15"/>
          <p:cNvSpPr/>
          <p:nvPr/>
        </p:nvSpPr>
        <p:spPr>
          <a:xfrm>
            <a:off x="8412480" y="2011680"/>
            <a:ext cx="456840" cy="456840"/>
          </a:xfrm>
          <a:prstGeom prst="ellipse">
            <a:avLst/>
          </a:prstGeom>
          <a:solidFill>
            <a:srgbClr val="782F40"/>
          </a:solidFill>
          <a:ln w="12700">
            <a:solidFill>
              <a:srgbClr val="782F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3" name="Text 16"/>
          <p:cNvSpPr/>
          <p:nvPr/>
        </p:nvSpPr>
        <p:spPr>
          <a:xfrm>
            <a:off x="8412480" y="201168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Arial"/>
                <a:ea typeface="Arial"/>
              </a:rPr>
              <a:t>3</a:t>
            </a:r>
            <a:endParaRPr lang="en-US" sz="1600" b="0" u="none" strike="noStrike">
              <a:solidFill>
                <a:srgbClr val="000000"/>
              </a:solidFill>
              <a:effectLst/>
              <a:uFillTx/>
              <a:latin typeface="Arial"/>
            </a:endParaRPr>
          </a:p>
        </p:txBody>
      </p:sp>
      <p:sp>
        <p:nvSpPr>
          <p:cNvPr id="84" name="Text 17"/>
          <p:cNvSpPr/>
          <p:nvPr/>
        </p:nvSpPr>
        <p:spPr>
          <a:xfrm>
            <a:off x="8412480" y="2606040"/>
            <a:ext cx="301716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rgbClr val="782F40"/>
                </a:solidFill>
                <a:effectLst/>
                <a:uFillTx/>
                <a:latin typeface="Arial"/>
                <a:ea typeface="Arial"/>
              </a:rPr>
              <a:t>Copy everything into one database</a:t>
            </a:r>
            <a:endParaRPr lang="en-US" sz="1800" b="0" u="none" strike="noStrike">
              <a:solidFill>
                <a:srgbClr val="000000"/>
              </a:solidFill>
              <a:effectLst/>
              <a:uFillTx/>
              <a:latin typeface="Arial"/>
            </a:endParaRPr>
          </a:p>
        </p:txBody>
      </p:sp>
      <p:sp>
        <p:nvSpPr>
          <p:cNvPr id="85" name="Text 18"/>
          <p:cNvSpPr/>
          <p:nvPr/>
        </p:nvSpPr>
        <p:spPr>
          <a:xfrm>
            <a:off x="8412480" y="3429000"/>
            <a:ext cx="301716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rgbClr val="782F40"/>
                </a:solidFill>
                <a:effectLst/>
                <a:uFillTx/>
                <a:latin typeface="Arial"/>
                <a:ea typeface="Arial"/>
              </a:rPr>
              <a:t>Gives you  </a:t>
            </a:r>
            <a:r>
              <a:rPr lang="en-US" sz="1300" b="0" u="none" strike="noStrike">
                <a:solidFill>
                  <a:srgbClr val="101820"/>
                </a:solidFill>
                <a:effectLst/>
                <a:uFillTx/>
                <a:latin typeface="Arial"/>
                <a:ea typeface="Arial"/>
              </a:rPr>
              <a:t>One language to learn.</a:t>
            </a:r>
            <a:endParaRPr lang="en-US" sz="1300" b="0" u="none" strike="noStrike">
              <a:solidFill>
                <a:srgbClr val="000000"/>
              </a:solidFill>
              <a:effectLst/>
              <a:uFillTx/>
              <a:latin typeface="Arial"/>
            </a:endParaRPr>
          </a:p>
        </p:txBody>
      </p:sp>
      <p:sp>
        <p:nvSpPr>
          <p:cNvPr id="86" name="Text 19"/>
          <p:cNvSpPr/>
          <p:nvPr/>
        </p:nvSpPr>
        <p:spPr>
          <a:xfrm>
            <a:off x="8412480" y="4114800"/>
            <a:ext cx="301716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rgbClr val="782F40"/>
                </a:solidFill>
                <a:effectLst/>
                <a:uFillTx/>
                <a:latin typeface="Arial"/>
                <a:ea typeface="Arial"/>
              </a:rPr>
              <a:t>Costs you  </a:t>
            </a:r>
            <a:r>
              <a:rPr lang="en-US" sz="1300" b="0" u="none" strike="noStrike">
                <a:solidFill>
                  <a:srgbClr val="101820"/>
                </a:solidFill>
                <a:effectLst/>
                <a:uFillTx/>
                <a:latin typeface="Arial"/>
                <a:ea typeface="Arial"/>
              </a:rPr>
              <a:t>Expensive, stale the day it lands, and it rewrites the sources.</a:t>
            </a:r>
            <a:endParaRPr lang="en-US" sz="1300" b="0" u="none" strike="noStrike">
              <a:solidFill>
                <a:srgbClr val="000000"/>
              </a:solidFill>
              <a:effectLst/>
              <a:uFillTx/>
              <a:latin typeface="Arial"/>
            </a:endParaRPr>
          </a:p>
        </p:txBody>
      </p:sp>
      <p:sp>
        <p:nvSpPr>
          <p:cNvPr id="87" name="Text 20"/>
          <p:cNvSpPr/>
          <p:nvPr/>
        </p:nvSpPr>
        <p:spPr>
          <a:xfrm>
            <a:off x="457200" y="5257800"/>
            <a:ext cx="112467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i="1" u="none" strike="noStrike">
                <a:solidFill>
                  <a:srgbClr val="782F40"/>
                </a:solidFill>
                <a:effectLst/>
                <a:uFillTx/>
                <a:latin typeface="Arial"/>
                <a:ea typeface="Arial"/>
              </a:rPr>
              <a:t>Hallucination: </a:t>
            </a:r>
            <a:r>
              <a:rPr lang="en-US" sz="1300" b="0" i="1" u="none" strike="noStrike">
                <a:solidFill>
                  <a:srgbClr val="101820"/>
                </a:solidFill>
                <a:effectLst/>
                <a:uFillTx/>
                <a:latin typeface="Arial"/>
                <a:ea typeface="Arial"/>
              </a:rPr>
              <a:t>when an AI states something as a fact that is not actually in the data.</a:t>
            </a:r>
            <a:endParaRPr lang="en-US" sz="1300" b="0" u="none" strike="noStrike">
              <a:solidFill>
                <a:srgbClr val="000000"/>
              </a:solidFill>
              <a:effectLst/>
              <a:uFillTx/>
              <a:latin typeface="Arial"/>
            </a:endParaRPr>
          </a:p>
        </p:txBody>
      </p:sp>
      <p:sp>
        <p:nvSpPr>
          <p:cNvPr id="88" name="Text 21"/>
          <p:cNvSpPr/>
          <p:nvPr/>
        </p:nvSpPr>
        <p:spPr>
          <a:xfrm>
            <a:off x="457200" y="5760720"/>
            <a:ext cx="112467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782F40"/>
                </a:solidFill>
                <a:effectLst/>
                <a:uFillTx/>
                <a:latin typeface="Arial"/>
                <a:ea typeface="Arial"/>
              </a:rPr>
              <a:t>Each option trades away something an analyst needs: accuracy, speed, or visibility. Ariadne is designed to keep all three.</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82F40"/>
        </a:solidFill>
      </p:bgPr>
    </p:bg>
    <p:spTree>
      <p:nvGrpSpPr>
        <p:cNvPr id="1" name=""/>
        <p:cNvGrpSpPr/>
        <p:nvPr/>
      </p:nvGrpSpPr>
      <p:grpSpPr>
        <a:xfrm>
          <a:off x="0" y="0"/>
          <a:ext cx="0" cy="0"/>
          <a:chOff x="0" y="0"/>
          <a:chExt cx="0" cy="0"/>
        </a:xfrm>
      </p:grpSpPr>
      <p:pic>
        <p:nvPicPr>
          <p:cNvPr id="89" name="Image 0" descr="/tmp/claude-1000/-home-bdgr-Agents-Ariadne/eca9f446-3ea1-4c07-8826-cc7003be2e12/scratchpad/assets/fsu-white.png"/>
          <p:cNvPicPr/>
          <p:nvPr/>
        </p:nvPicPr>
        <p:blipFill>
          <a:blip r:embed="rId1"/>
          <a:stretch/>
        </p:blipFill>
        <p:spPr>
          <a:xfrm>
            <a:off x="457200" y="292680"/>
            <a:ext cx="1105920" cy="456840"/>
          </a:xfrm>
          <a:prstGeom prst="rect">
            <a:avLst/>
          </a:prstGeom>
          <a:noFill/>
          <a:ln w="0">
            <a:noFill/>
          </a:ln>
        </p:spPr>
      </p:pic>
      <p:pic>
        <p:nvPicPr>
          <p:cNvPr id="90" name="Image 1" descr="/tmp/claude-1000/-home-bdgr-Agents-Ariadne/eca9f446-3ea1-4c07-8826-cc7003be2e12/scratchpad/assets/reliaquest-on-dark.png"/>
          <p:cNvPicPr/>
          <p:nvPr/>
        </p:nvPicPr>
        <p:blipFill>
          <a:blip r:embed="rId2"/>
          <a:stretch/>
        </p:blipFill>
        <p:spPr>
          <a:xfrm>
            <a:off x="1874520" y="374760"/>
            <a:ext cx="1325520" cy="292320"/>
          </a:xfrm>
          <a:prstGeom prst="rect">
            <a:avLst/>
          </a:prstGeom>
          <a:noFill/>
          <a:ln w="0">
            <a:noFill/>
          </a:ln>
        </p:spPr>
      </p:pic>
      <p:pic>
        <p:nvPicPr>
          <p:cNvPr id="91" name="Image 2" descr="/tmp/claude-1000/-home-bdgr-Agents-Ariadne/eca9f446-3ea1-4c07-8826-cc7003be2e12/scratchpad/assets/ariadne-mark.png"/>
          <p:cNvPicPr/>
          <p:nvPr/>
        </p:nvPicPr>
        <p:blipFill>
          <a:blip r:embed="rId3"/>
          <a:stretch/>
        </p:blipFill>
        <p:spPr>
          <a:xfrm>
            <a:off x="11201400" y="274320"/>
            <a:ext cx="529920" cy="456840"/>
          </a:xfrm>
          <a:prstGeom prst="rect">
            <a:avLst/>
          </a:prstGeom>
          <a:noFill/>
          <a:ln w="0">
            <a:noFill/>
          </a:ln>
        </p:spPr>
      </p:pic>
      <p:sp>
        <p:nvSpPr>
          <p:cNvPr id="92" name="Text 0"/>
          <p:cNvSpPr/>
          <p:nvPr/>
        </p:nvSpPr>
        <p:spPr>
          <a:xfrm>
            <a:off x="10607040" y="6510600"/>
            <a:ext cx="11426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DFD1A7"/>
                </a:solidFill>
                <a:effectLst/>
                <a:uFillTx/>
                <a:latin typeface="Arial"/>
                <a:ea typeface="Arial"/>
              </a:rPr>
              <a:t>5 / 13</a:t>
            </a:r>
            <a:endParaRPr lang="en-US" sz="900" b="0" u="none" strike="noStrike">
              <a:solidFill>
                <a:srgbClr val="FFFFFF"/>
              </a:solidFill>
              <a:effectLst/>
              <a:uFillTx/>
              <a:latin typeface="Arial"/>
            </a:endParaRPr>
          </a:p>
        </p:txBody>
      </p:sp>
      <p:sp>
        <p:nvSpPr>
          <p:cNvPr id="93" name="Text 1"/>
          <p:cNvSpPr/>
          <p:nvPr/>
        </p:nvSpPr>
        <p:spPr>
          <a:xfrm>
            <a:off x="457200" y="6510600"/>
            <a:ext cx="96008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DFD1A7"/>
                </a:solidFill>
                <a:effectLst/>
                <a:uFillTx/>
                <a:latin typeface="Arial"/>
                <a:ea typeface="Arial"/>
              </a:rPr>
              <a:t>Pipeline as shipped in the Ariadne workbench (September 2026). Retrieval loop capped at 5 rounds.</a:t>
            </a:r>
            <a:endParaRPr lang="en-US" sz="900" b="0" u="none" strike="noStrike">
              <a:solidFill>
                <a:srgbClr val="FFFFFF"/>
              </a:solidFill>
              <a:effectLst/>
              <a:uFillTx/>
              <a:latin typeface="Arial"/>
            </a:endParaRPr>
          </a:p>
        </p:txBody>
      </p:sp>
      <p:sp>
        <p:nvSpPr>
          <p:cNvPr id="94" name="Text 2"/>
          <p:cNvSpPr/>
          <p:nvPr/>
        </p:nvSpPr>
        <p:spPr>
          <a:xfrm>
            <a:off x="457200" y="868680"/>
            <a:ext cx="112467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FFFFFF"/>
                </a:solidFill>
                <a:effectLst/>
                <a:uFillTx/>
                <a:latin typeface="Arial"/>
                <a:ea typeface="Arial"/>
              </a:rPr>
              <a:t>How Ariadne answers one question</a:t>
            </a:r>
            <a:endParaRPr lang="en-US" sz="3000" b="0" u="none" strike="noStrike">
              <a:solidFill>
                <a:srgbClr val="FFFFFF"/>
              </a:solidFill>
              <a:effectLst/>
              <a:uFillTx/>
              <a:latin typeface="Arial"/>
            </a:endParaRPr>
          </a:p>
        </p:txBody>
      </p:sp>
      <p:sp>
        <p:nvSpPr>
          <p:cNvPr id="95" name="Shape 3"/>
          <p:cNvSpPr/>
          <p:nvPr/>
        </p:nvSpPr>
        <p:spPr>
          <a:xfrm>
            <a:off x="457200" y="3246120"/>
            <a:ext cx="1279800" cy="731160"/>
          </a:xfrm>
          <a:prstGeom prst="roundRect">
            <a:avLst>
              <a:gd name="adj" fmla="val 10000"/>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6" name="Text 4"/>
          <p:cNvSpPr/>
          <p:nvPr/>
        </p:nvSpPr>
        <p:spPr>
          <a:xfrm>
            <a:off x="530280" y="3246120"/>
            <a:ext cx="113364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782F40"/>
                </a:solidFill>
                <a:effectLst/>
                <a:uFillTx/>
                <a:latin typeface="Arial"/>
                <a:ea typeface="Arial"/>
              </a:rPr>
              <a:t>Analyst</a:t>
            </a:r>
            <a:endParaRPr lang="en-US" sz="1300" b="0" u="none" strike="noStrike">
              <a:solidFill>
                <a:srgbClr val="FFFFFF"/>
              </a:solidFill>
              <a:effectLst/>
              <a:uFillTx/>
              <a:latin typeface="Arial"/>
            </a:endParaRPr>
          </a:p>
          <a:p>
            <a:pPr algn="ctr" defTabSz="914400">
              <a:lnSpc>
                <a:spcPct val="100000"/>
              </a:lnSpc>
              <a:tabLst>
                <a:tab pos="0" algn="l"/>
              </a:tabLst>
            </a:pPr>
            <a:r>
              <a:rPr lang="en-US" sz="1300" b="1" u="none" strike="noStrike">
                <a:solidFill>
                  <a:srgbClr val="782F40"/>
                </a:solidFill>
                <a:effectLst/>
                <a:uFillTx/>
                <a:latin typeface="Arial"/>
                <a:ea typeface="Arial"/>
              </a:rPr>
              <a:t>question</a:t>
            </a:r>
            <a:endParaRPr lang="en-US" sz="1300" b="0" u="none" strike="noStrike">
              <a:solidFill>
                <a:srgbClr val="FFFFFF"/>
              </a:solidFill>
              <a:effectLst/>
              <a:uFillTx/>
              <a:latin typeface="Arial"/>
            </a:endParaRPr>
          </a:p>
        </p:txBody>
      </p:sp>
      <p:sp>
        <p:nvSpPr>
          <p:cNvPr id="97" name="Shape 5"/>
          <p:cNvSpPr/>
          <p:nvPr/>
        </p:nvSpPr>
        <p:spPr>
          <a:xfrm>
            <a:off x="2148840" y="3246120"/>
            <a:ext cx="1462680" cy="731160"/>
          </a:xfrm>
          <a:prstGeom prst="roundRect">
            <a:avLst>
              <a:gd name="adj" fmla="val 10000"/>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8" name="Text 6"/>
          <p:cNvSpPr/>
          <p:nvPr/>
        </p:nvSpPr>
        <p:spPr>
          <a:xfrm>
            <a:off x="2221920" y="3246120"/>
            <a:ext cx="131652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782F40"/>
                </a:solidFill>
                <a:effectLst/>
                <a:uFillTx/>
                <a:latin typeface="Arial"/>
                <a:ea typeface="Arial"/>
              </a:rPr>
              <a:t>Planner</a:t>
            </a:r>
            <a:endParaRPr lang="en-US" sz="1300" b="0" u="none" strike="noStrike">
              <a:solidFill>
                <a:srgbClr val="FFFFFF"/>
              </a:solidFill>
              <a:effectLst/>
              <a:uFillTx/>
              <a:latin typeface="Arial"/>
            </a:endParaRPr>
          </a:p>
          <a:p>
            <a:pPr algn="ctr" defTabSz="914400">
              <a:lnSpc>
                <a:spcPct val="100000"/>
              </a:lnSpc>
              <a:tabLst>
                <a:tab pos="0" algn="l"/>
              </a:tabLst>
            </a:pPr>
            <a:r>
              <a:rPr lang="en-US" sz="900" b="0" u="none" strike="noStrike">
                <a:solidFill>
                  <a:srgbClr val="782F40"/>
                </a:solidFill>
                <a:effectLst/>
                <a:uFillTx/>
                <a:latin typeface="Arial"/>
                <a:ea typeface="Arial"/>
              </a:rPr>
              <a:t>splits and checks the plan</a:t>
            </a:r>
            <a:endParaRPr lang="en-US" sz="900" b="0" u="none" strike="noStrike">
              <a:solidFill>
                <a:srgbClr val="FFFFFF"/>
              </a:solidFill>
              <a:effectLst/>
              <a:uFillTx/>
              <a:latin typeface="Arial"/>
            </a:endParaRPr>
          </a:p>
        </p:txBody>
      </p:sp>
      <p:sp>
        <p:nvSpPr>
          <p:cNvPr id="99" name="Shape 7"/>
          <p:cNvSpPr/>
          <p:nvPr/>
        </p:nvSpPr>
        <p:spPr>
          <a:xfrm>
            <a:off x="4069080" y="1600200"/>
            <a:ext cx="2011320" cy="310680"/>
          </a:xfrm>
          <a:prstGeom prst="roundRect">
            <a:avLst>
              <a:gd name="adj" fmla="val 23529"/>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0" name="Text 8"/>
          <p:cNvSpPr/>
          <p:nvPr/>
        </p:nvSpPr>
        <p:spPr>
          <a:xfrm>
            <a:off x="4142160" y="1600200"/>
            <a:ext cx="186516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101820"/>
                </a:solidFill>
                <a:effectLst/>
                <a:uFillTx/>
                <a:latin typeface="Arial"/>
                <a:ea typeface="Arial"/>
              </a:rPr>
              <a:t>ATT&amp;CK source card</a:t>
            </a:r>
            <a:endParaRPr lang="en-US" sz="1000" b="0" u="none" strike="noStrike">
              <a:solidFill>
                <a:srgbClr val="FFFFFF"/>
              </a:solidFill>
              <a:effectLst/>
              <a:uFillTx/>
              <a:latin typeface="Arial"/>
            </a:endParaRPr>
          </a:p>
        </p:txBody>
      </p:sp>
      <p:sp>
        <p:nvSpPr>
          <p:cNvPr id="101" name="Shape 9"/>
          <p:cNvSpPr/>
          <p:nvPr/>
        </p:nvSpPr>
        <p:spPr>
          <a:xfrm>
            <a:off x="4069080" y="1965960"/>
            <a:ext cx="2011320" cy="776880"/>
          </a:xfrm>
          <a:prstGeom prst="roundRect">
            <a:avLst>
              <a:gd name="adj" fmla="val 9412"/>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2" name="Text 10"/>
          <p:cNvSpPr/>
          <p:nvPr/>
        </p:nvSpPr>
        <p:spPr>
          <a:xfrm>
            <a:off x="4142160" y="1965960"/>
            <a:ext cx="186516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782F40"/>
                </a:solidFill>
                <a:effectLst/>
                <a:uFillTx/>
                <a:latin typeface="Arial"/>
                <a:ea typeface="Arial"/>
              </a:rPr>
              <a:t>ATT&amp;CK specialist</a:t>
            </a:r>
            <a:endParaRPr lang="en-US" sz="1200" b="0" u="none" strike="noStrike">
              <a:solidFill>
                <a:srgbClr val="FFFFFF"/>
              </a:solidFill>
              <a:effectLst/>
              <a:uFillTx/>
              <a:latin typeface="Arial"/>
            </a:endParaRPr>
          </a:p>
          <a:p>
            <a:pPr algn="ctr" defTabSz="914400">
              <a:lnSpc>
                <a:spcPct val="100000"/>
              </a:lnSpc>
              <a:tabLst>
                <a:tab pos="0" algn="l"/>
              </a:tabLst>
            </a:pPr>
            <a:r>
              <a:rPr lang="en-US" sz="900" b="0" u="none" strike="noStrike">
                <a:solidFill>
                  <a:srgbClr val="782F40"/>
                </a:solidFill>
                <a:effectLst/>
                <a:uFillTx/>
                <a:latin typeface="Arial"/>
                <a:ea typeface="Arial"/>
              </a:rPr>
              <a:t>composes a Cypher query</a:t>
            </a:r>
            <a:endParaRPr lang="en-US" sz="900" b="0" u="none" strike="noStrike">
              <a:solidFill>
                <a:srgbClr val="FFFFFF"/>
              </a:solidFill>
              <a:effectLst/>
              <a:uFillTx/>
              <a:latin typeface="Arial"/>
            </a:endParaRPr>
          </a:p>
        </p:txBody>
      </p:sp>
      <p:sp>
        <p:nvSpPr>
          <p:cNvPr id="103" name="Shape 11"/>
          <p:cNvSpPr/>
          <p:nvPr/>
        </p:nvSpPr>
        <p:spPr>
          <a:xfrm>
            <a:off x="6629400" y="1965960"/>
            <a:ext cx="1737000" cy="776880"/>
          </a:xfrm>
          <a:prstGeom prst="roundRect">
            <a:avLst>
              <a:gd name="adj" fmla="val 9412"/>
            </a:avLst>
          </a:prstGeom>
          <a:solidFill>
            <a:srgbClr val="572932"/>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4" name="Text 12"/>
          <p:cNvSpPr/>
          <p:nvPr/>
        </p:nvSpPr>
        <p:spPr>
          <a:xfrm>
            <a:off x="6702480" y="1965960"/>
            <a:ext cx="159084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rial"/>
                <a:ea typeface="Arial"/>
              </a:rPr>
              <a:t>MITRE ATT&amp;CK</a:t>
            </a:r>
            <a:endParaRPr lang="en-US" sz="1200" b="0" u="none" strike="noStrike">
              <a:solidFill>
                <a:srgbClr val="FFFFFF"/>
              </a:solidFill>
              <a:effectLst/>
              <a:uFillTx/>
              <a:latin typeface="Arial"/>
            </a:endParaRPr>
          </a:p>
          <a:p>
            <a:pPr algn="ctr" defTabSz="914400">
              <a:lnSpc>
                <a:spcPct val="100000"/>
              </a:lnSpc>
              <a:tabLst>
                <a:tab pos="0" algn="l"/>
              </a:tabLst>
            </a:pPr>
            <a:r>
              <a:rPr lang="en-US" sz="900" b="0" u="none" strike="noStrike">
                <a:solidFill>
                  <a:srgbClr val="FFFFFF"/>
                </a:solidFill>
                <a:effectLst/>
                <a:uFillTx/>
                <a:latin typeface="Arial"/>
                <a:ea typeface="Arial"/>
              </a:rPr>
              <a:t>Neo4j</a:t>
            </a:r>
            <a:endParaRPr lang="en-US" sz="900" b="0" u="none" strike="noStrike">
              <a:solidFill>
                <a:srgbClr val="FFFFFF"/>
              </a:solidFill>
              <a:effectLst/>
              <a:uFillTx/>
              <a:latin typeface="Arial"/>
            </a:endParaRPr>
          </a:p>
        </p:txBody>
      </p:sp>
      <p:sp>
        <p:nvSpPr>
          <p:cNvPr id="105" name="Shape 13"/>
          <p:cNvSpPr/>
          <p:nvPr/>
        </p:nvSpPr>
        <p:spPr>
          <a:xfrm>
            <a:off x="4069080" y="4526280"/>
            <a:ext cx="2011320" cy="776880"/>
          </a:xfrm>
          <a:prstGeom prst="roundRect">
            <a:avLst>
              <a:gd name="adj" fmla="val 9412"/>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6" name="Text 14"/>
          <p:cNvSpPr/>
          <p:nvPr/>
        </p:nvSpPr>
        <p:spPr>
          <a:xfrm>
            <a:off x="4142160" y="4526280"/>
            <a:ext cx="186516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782F40"/>
                </a:solidFill>
                <a:effectLst/>
                <a:uFillTx/>
                <a:latin typeface="Arial"/>
                <a:ea typeface="Arial"/>
              </a:rPr>
              <a:t>CAPEC specialist</a:t>
            </a:r>
            <a:endParaRPr lang="en-US" sz="1200" b="0" u="none" strike="noStrike">
              <a:solidFill>
                <a:srgbClr val="FFFFFF"/>
              </a:solidFill>
              <a:effectLst/>
              <a:uFillTx/>
              <a:latin typeface="Arial"/>
            </a:endParaRPr>
          </a:p>
          <a:p>
            <a:pPr algn="ctr" defTabSz="914400">
              <a:lnSpc>
                <a:spcPct val="100000"/>
              </a:lnSpc>
              <a:tabLst>
                <a:tab pos="0" algn="l"/>
              </a:tabLst>
            </a:pPr>
            <a:r>
              <a:rPr lang="en-US" sz="900" b="0" u="none" strike="noStrike">
                <a:solidFill>
                  <a:srgbClr val="782F40"/>
                </a:solidFill>
                <a:effectLst/>
                <a:uFillTx/>
                <a:latin typeface="Arial"/>
                <a:ea typeface="Arial"/>
              </a:rPr>
              <a:t>composes a Gremlin query</a:t>
            </a:r>
            <a:endParaRPr lang="en-US" sz="900" b="0" u="none" strike="noStrike">
              <a:solidFill>
                <a:srgbClr val="FFFFFF"/>
              </a:solidFill>
              <a:effectLst/>
              <a:uFillTx/>
              <a:latin typeface="Arial"/>
            </a:endParaRPr>
          </a:p>
        </p:txBody>
      </p:sp>
      <p:sp>
        <p:nvSpPr>
          <p:cNvPr id="107" name="Shape 15"/>
          <p:cNvSpPr/>
          <p:nvPr/>
        </p:nvSpPr>
        <p:spPr>
          <a:xfrm>
            <a:off x="4069080" y="5358240"/>
            <a:ext cx="2011320" cy="310680"/>
          </a:xfrm>
          <a:prstGeom prst="roundRect">
            <a:avLst>
              <a:gd name="adj" fmla="val 23529"/>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8" name="Text 16"/>
          <p:cNvSpPr/>
          <p:nvPr/>
        </p:nvSpPr>
        <p:spPr>
          <a:xfrm>
            <a:off x="4142160" y="5358240"/>
            <a:ext cx="186516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101820"/>
                </a:solidFill>
                <a:effectLst/>
                <a:uFillTx/>
                <a:latin typeface="Arial"/>
                <a:ea typeface="Arial"/>
              </a:rPr>
              <a:t>CAPEC source card</a:t>
            </a:r>
            <a:endParaRPr lang="en-US" sz="1000" b="0" u="none" strike="noStrike">
              <a:solidFill>
                <a:srgbClr val="FFFFFF"/>
              </a:solidFill>
              <a:effectLst/>
              <a:uFillTx/>
              <a:latin typeface="Arial"/>
            </a:endParaRPr>
          </a:p>
        </p:txBody>
      </p:sp>
      <p:sp>
        <p:nvSpPr>
          <p:cNvPr id="109" name="Shape 17"/>
          <p:cNvSpPr/>
          <p:nvPr/>
        </p:nvSpPr>
        <p:spPr>
          <a:xfrm>
            <a:off x="6629400" y="4526280"/>
            <a:ext cx="1737000" cy="776880"/>
          </a:xfrm>
          <a:prstGeom prst="roundRect">
            <a:avLst>
              <a:gd name="adj" fmla="val 9412"/>
            </a:avLst>
          </a:prstGeom>
          <a:solidFill>
            <a:srgbClr val="572932"/>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0" name="Text 18"/>
          <p:cNvSpPr/>
          <p:nvPr/>
        </p:nvSpPr>
        <p:spPr>
          <a:xfrm>
            <a:off x="6702480" y="4526280"/>
            <a:ext cx="159084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rial"/>
                <a:ea typeface="Arial"/>
              </a:rPr>
              <a:t>MITRE CAPEC</a:t>
            </a:r>
            <a:endParaRPr lang="en-US" sz="1200" b="0" u="none" strike="noStrike">
              <a:solidFill>
                <a:srgbClr val="FFFFFF"/>
              </a:solidFill>
              <a:effectLst/>
              <a:uFillTx/>
              <a:latin typeface="Arial"/>
            </a:endParaRPr>
          </a:p>
          <a:p>
            <a:pPr algn="ctr" defTabSz="914400">
              <a:lnSpc>
                <a:spcPct val="100000"/>
              </a:lnSpc>
              <a:tabLst>
                <a:tab pos="0" algn="l"/>
              </a:tabLst>
            </a:pPr>
            <a:r>
              <a:rPr lang="en-US" sz="900" b="0" u="none" strike="noStrike">
                <a:solidFill>
                  <a:srgbClr val="FFFFFF"/>
                </a:solidFill>
                <a:effectLst/>
                <a:uFillTx/>
                <a:latin typeface="Arial"/>
                <a:ea typeface="Arial"/>
              </a:rPr>
              <a:t>Gremlin Server</a:t>
            </a:r>
            <a:endParaRPr lang="en-US" sz="900" b="0" u="none" strike="noStrike">
              <a:solidFill>
                <a:srgbClr val="FFFFFF"/>
              </a:solidFill>
              <a:effectLst/>
              <a:uFillTx/>
              <a:latin typeface="Arial"/>
            </a:endParaRPr>
          </a:p>
        </p:txBody>
      </p:sp>
      <p:sp>
        <p:nvSpPr>
          <p:cNvPr id="111" name="Shape 19"/>
          <p:cNvSpPr/>
          <p:nvPr/>
        </p:nvSpPr>
        <p:spPr>
          <a:xfrm>
            <a:off x="8915400" y="3246120"/>
            <a:ext cx="1325520" cy="731160"/>
          </a:xfrm>
          <a:prstGeom prst="roundRect">
            <a:avLst>
              <a:gd name="adj" fmla="val 10000"/>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2" name="Text 20"/>
          <p:cNvSpPr/>
          <p:nvPr/>
        </p:nvSpPr>
        <p:spPr>
          <a:xfrm>
            <a:off x="8988480" y="3246120"/>
            <a:ext cx="117936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01820"/>
                </a:solidFill>
                <a:effectLst/>
                <a:uFillTx/>
                <a:latin typeface="Arial"/>
                <a:ea typeface="Arial"/>
              </a:rPr>
              <a:t>Verifier</a:t>
            </a:r>
            <a:endParaRPr lang="en-US" sz="1300" b="0" u="none" strike="noStrike">
              <a:solidFill>
                <a:srgbClr val="FFFFFF"/>
              </a:solidFill>
              <a:effectLst/>
              <a:uFillTx/>
              <a:latin typeface="Arial"/>
            </a:endParaRPr>
          </a:p>
          <a:p>
            <a:pPr algn="ctr" defTabSz="914400">
              <a:lnSpc>
                <a:spcPct val="100000"/>
              </a:lnSpc>
              <a:tabLst>
                <a:tab pos="0" algn="l"/>
              </a:tabLst>
            </a:pPr>
            <a:r>
              <a:rPr lang="en-US" sz="900" b="0" u="none" strike="noStrike">
                <a:solidFill>
                  <a:srgbClr val="101820"/>
                </a:solidFill>
                <a:effectLst/>
                <a:uFillTx/>
                <a:latin typeface="Arial"/>
                <a:ea typeface="Arial"/>
              </a:rPr>
              <a:t>checks every claim</a:t>
            </a:r>
            <a:endParaRPr lang="en-US" sz="900" b="0" u="none" strike="noStrike">
              <a:solidFill>
                <a:srgbClr val="FFFFFF"/>
              </a:solidFill>
              <a:effectLst/>
              <a:uFillTx/>
              <a:latin typeface="Arial"/>
            </a:endParaRPr>
          </a:p>
        </p:txBody>
      </p:sp>
      <p:sp>
        <p:nvSpPr>
          <p:cNvPr id="113" name="Shape 21"/>
          <p:cNvSpPr/>
          <p:nvPr/>
        </p:nvSpPr>
        <p:spPr>
          <a:xfrm>
            <a:off x="10561320" y="3246120"/>
            <a:ext cx="1188360" cy="731160"/>
          </a:xfrm>
          <a:prstGeom prst="roundRect">
            <a:avLst>
              <a:gd name="adj" fmla="val 10000"/>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4" name="Text 22"/>
          <p:cNvSpPr/>
          <p:nvPr/>
        </p:nvSpPr>
        <p:spPr>
          <a:xfrm>
            <a:off x="10634400" y="3246120"/>
            <a:ext cx="104220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782F40"/>
                </a:solidFill>
                <a:effectLst/>
                <a:uFillTx/>
                <a:latin typeface="Arial"/>
                <a:ea typeface="Arial"/>
              </a:rPr>
              <a:t>Answer</a:t>
            </a:r>
            <a:endParaRPr lang="en-US" sz="1300" b="0" u="none" strike="noStrike">
              <a:solidFill>
                <a:srgbClr val="FFFFFF"/>
              </a:solidFill>
              <a:effectLst/>
              <a:uFillTx/>
              <a:latin typeface="Arial"/>
            </a:endParaRPr>
          </a:p>
          <a:p>
            <a:pPr algn="ctr" defTabSz="914400">
              <a:lnSpc>
                <a:spcPct val="100000"/>
              </a:lnSpc>
              <a:tabLst>
                <a:tab pos="0" algn="l"/>
              </a:tabLst>
            </a:pPr>
            <a:r>
              <a:rPr lang="en-US" sz="900" b="0" u="none" strike="noStrike">
                <a:solidFill>
                  <a:srgbClr val="782F40"/>
                </a:solidFill>
                <a:effectLst/>
                <a:uFillTx/>
                <a:latin typeface="Arial"/>
                <a:ea typeface="Arial"/>
              </a:rPr>
              <a:t>with receipts</a:t>
            </a:r>
            <a:endParaRPr lang="en-US" sz="900" b="0" u="none" strike="noStrike">
              <a:solidFill>
                <a:srgbClr val="FFFFFF"/>
              </a:solidFill>
              <a:effectLst/>
              <a:uFillTx/>
              <a:latin typeface="Arial"/>
            </a:endParaRPr>
          </a:p>
        </p:txBody>
      </p:sp>
      <p:sp>
        <p:nvSpPr>
          <p:cNvPr id="115" name="Shape 23"/>
          <p:cNvSpPr/>
          <p:nvPr/>
        </p:nvSpPr>
        <p:spPr>
          <a:xfrm>
            <a:off x="1737360" y="3611880"/>
            <a:ext cx="411480" cy="360"/>
          </a:xfrm>
          <a:prstGeom prst="line">
            <a:avLst/>
          </a:prstGeom>
          <a:ln w="25400">
            <a:solidFill>
              <a:srgbClr val="CEB888"/>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16" name="Shape 24"/>
          <p:cNvSpPr/>
          <p:nvPr/>
        </p:nvSpPr>
        <p:spPr>
          <a:xfrm flipV="1">
            <a:off x="3611880" y="2514600"/>
            <a:ext cx="457200" cy="1005840"/>
          </a:xfrm>
          <a:prstGeom prst="line">
            <a:avLst/>
          </a:prstGeom>
          <a:ln w="25400">
            <a:solidFill>
              <a:srgbClr val="CEB888"/>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117" name="Shape 25"/>
          <p:cNvSpPr/>
          <p:nvPr/>
        </p:nvSpPr>
        <p:spPr>
          <a:xfrm>
            <a:off x="3611880" y="3703320"/>
            <a:ext cx="457200" cy="1051560"/>
          </a:xfrm>
          <a:prstGeom prst="line">
            <a:avLst/>
          </a:prstGeom>
          <a:ln w="25400">
            <a:solidFill>
              <a:srgbClr val="CEB888"/>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118" name="Shape 26"/>
          <p:cNvSpPr/>
          <p:nvPr/>
        </p:nvSpPr>
        <p:spPr>
          <a:xfrm>
            <a:off x="6080760" y="2354400"/>
            <a:ext cx="548640" cy="360"/>
          </a:xfrm>
          <a:prstGeom prst="line">
            <a:avLst/>
          </a:prstGeom>
          <a:ln w="25400">
            <a:solidFill>
              <a:srgbClr val="CEB888"/>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19" name="Shape 27"/>
          <p:cNvSpPr/>
          <p:nvPr/>
        </p:nvSpPr>
        <p:spPr>
          <a:xfrm>
            <a:off x="6080760" y="4914720"/>
            <a:ext cx="548640" cy="360"/>
          </a:xfrm>
          <a:prstGeom prst="line">
            <a:avLst/>
          </a:prstGeom>
          <a:ln w="25400">
            <a:solidFill>
              <a:srgbClr val="CEB888"/>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20" name="Shape 28"/>
          <p:cNvSpPr/>
          <p:nvPr/>
        </p:nvSpPr>
        <p:spPr>
          <a:xfrm>
            <a:off x="8366760" y="2514600"/>
            <a:ext cx="548640" cy="1005840"/>
          </a:xfrm>
          <a:prstGeom prst="line">
            <a:avLst/>
          </a:prstGeom>
          <a:ln w="25400">
            <a:solidFill>
              <a:srgbClr val="CEB888"/>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121" name="Shape 29"/>
          <p:cNvSpPr/>
          <p:nvPr/>
        </p:nvSpPr>
        <p:spPr>
          <a:xfrm flipV="1">
            <a:off x="8366760" y="3703320"/>
            <a:ext cx="548640" cy="1051560"/>
          </a:xfrm>
          <a:prstGeom prst="line">
            <a:avLst/>
          </a:prstGeom>
          <a:ln w="25400">
            <a:solidFill>
              <a:srgbClr val="CEB888"/>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122" name="Shape 30"/>
          <p:cNvSpPr/>
          <p:nvPr/>
        </p:nvSpPr>
        <p:spPr>
          <a:xfrm>
            <a:off x="10241280" y="3611880"/>
            <a:ext cx="320040" cy="360"/>
          </a:xfrm>
          <a:prstGeom prst="line">
            <a:avLst/>
          </a:prstGeom>
          <a:ln w="25400">
            <a:solidFill>
              <a:srgbClr val="CEB888"/>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23" name="Text 31"/>
          <p:cNvSpPr/>
          <p:nvPr/>
        </p:nvSpPr>
        <p:spPr>
          <a:xfrm>
            <a:off x="5989320" y="2057400"/>
            <a:ext cx="731160" cy="228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CEB888"/>
                </a:solidFill>
                <a:effectLst/>
                <a:uFillTx/>
                <a:latin typeface="Arial"/>
                <a:ea typeface="Arial"/>
              </a:rPr>
              <a:t>Cypher</a:t>
            </a:r>
            <a:endParaRPr lang="en-US" sz="900" b="0" u="none" strike="noStrike">
              <a:solidFill>
                <a:srgbClr val="FFFFFF"/>
              </a:solidFill>
              <a:effectLst/>
              <a:uFillTx/>
              <a:latin typeface="Arial"/>
            </a:endParaRPr>
          </a:p>
        </p:txBody>
      </p:sp>
      <p:sp>
        <p:nvSpPr>
          <p:cNvPr id="124" name="Text 32"/>
          <p:cNvSpPr/>
          <p:nvPr/>
        </p:nvSpPr>
        <p:spPr>
          <a:xfrm>
            <a:off x="5989320" y="4617720"/>
            <a:ext cx="731160" cy="228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CEB888"/>
                </a:solidFill>
                <a:effectLst/>
                <a:uFillTx/>
                <a:latin typeface="Arial"/>
                <a:ea typeface="Arial"/>
              </a:rPr>
              <a:t>Gremlin</a:t>
            </a:r>
            <a:endParaRPr lang="en-US" sz="900" b="0" u="none" strike="noStrike">
              <a:solidFill>
                <a:srgbClr val="FFFFFF"/>
              </a:solidFill>
              <a:effectLst/>
              <a:uFillTx/>
              <a:latin typeface="Arial"/>
            </a:endParaRPr>
          </a:p>
        </p:txBody>
      </p:sp>
      <p:sp>
        <p:nvSpPr>
          <p:cNvPr id="125" name="Text 33"/>
          <p:cNvSpPr/>
          <p:nvPr/>
        </p:nvSpPr>
        <p:spPr>
          <a:xfrm>
            <a:off x="6629400" y="2779920"/>
            <a:ext cx="1737000" cy="228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DFD1A7"/>
                </a:solidFill>
                <a:effectLst/>
                <a:uFillTx/>
                <a:latin typeface="Arial"/>
                <a:ea typeface="Arial"/>
              </a:rPr>
              <a:t>records + provenance</a:t>
            </a:r>
            <a:endParaRPr lang="en-US" sz="800" b="0" u="none" strike="noStrike">
              <a:solidFill>
                <a:srgbClr val="FFFFFF"/>
              </a:solidFill>
              <a:effectLst/>
              <a:uFillTx/>
              <a:latin typeface="Arial"/>
            </a:endParaRPr>
          </a:p>
        </p:txBody>
      </p:sp>
      <p:sp>
        <p:nvSpPr>
          <p:cNvPr id="126" name="Text 34"/>
          <p:cNvSpPr/>
          <p:nvPr/>
        </p:nvSpPr>
        <p:spPr>
          <a:xfrm>
            <a:off x="6629400" y="4260960"/>
            <a:ext cx="1737000" cy="228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DFD1A7"/>
                </a:solidFill>
                <a:effectLst/>
                <a:uFillTx/>
                <a:latin typeface="Arial"/>
                <a:ea typeface="Arial"/>
              </a:rPr>
              <a:t>records + provenance</a:t>
            </a:r>
            <a:endParaRPr lang="en-US" sz="800" b="0" u="none" strike="noStrike">
              <a:solidFill>
                <a:srgbClr val="FFFFFF"/>
              </a:solidFill>
              <a:effectLst/>
              <a:uFillTx/>
              <a:latin typeface="Arial"/>
            </a:endParaRPr>
          </a:p>
        </p:txBody>
      </p:sp>
      <p:sp>
        <p:nvSpPr>
          <p:cNvPr id="127" name="Shape 35"/>
          <p:cNvSpPr/>
          <p:nvPr/>
        </p:nvSpPr>
        <p:spPr>
          <a:xfrm>
            <a:off x="9578160" y="3977640"/>
            <a:ext cx="360" cy="1828800"/>
          </a:xfrm>
          <a:prstGeom prst="line">
            <a:avLst/>
          </a:prstGeom>
          <a:ln w="19050">
            <a:solidFill>
              <a:srgbClr val="CEB888"/>
            </a:solidFill>
            <a:roun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128" name="Shape 36"/>
          <p:cNvSpPr/>
          <p:nvPr/>
        </p:nvSpPr>
        <p:spPr>
          <a:xfrm>
            <a:off x="2880360" y="5806440"/>
            <a:ext cx="6697800" cy="360"/>
          </a:xfrm>
          <a:prstGeom prst="line">
            <a:avLst/>
          </a:prstGeom>
          <a:ln w="19050">
            <a:solidFill>
              <a:srgbClr val="CEB888"/>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29" name="Shape 37"/>
          <p:cNvSpPr/>
          <p:nvPr/>
        </p:nvSpPr>
        <p:spPr>
          <a:xfrm>
            <a:off x="2880360" y="3977640"/>
            <a:ext cx="360" cy="1828800"/>
          </a:xfrm>
          <a:prstGeom prst="line">
            <a:avLst/>
          </a:prstGeom>
          <a:ln w="19050">
            <a:solidFill>
              <a:srgbClr val="CEB888"/>
            </a:solidFill>
            <a:round/>
            <a:head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130" name="Text 38"/>
          <p:cNvSpPr/>
          <p:nvPr/>
        </p:nvSpPr>
        <p:spPr>
          <a:xfrm>
            <a:off x="3108960" y="5833800"/>
            <a:ext cx="64004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DFD1A7"/>
                </a:solidFill>
                <a:effectLst/>
                <a:uFillTx/>
                <a:latin typeface="Arial"/>
                <a:ea typeface="Arial"/>
              </a:rPr>
              <a:t>If the evidence does not answer the question: revise the plan and ask again, up to 5 rounds</a:t>
            </a:r>
            <a:endParaRPr lang="en-US" sz="1000" b="0" u="none" strike="noStrike">
              <a:solidFill>
                <a:srgbClr val="FFFFFF"/>
              </a:solidFill>
              <a:effectLst/>
              <a:uFillTx/>
              <a:latin typeface="Arial"/>
            </a:endParaRPr>
          </a:p>
        </p:txBody>
      </p:sp>
      <p:sp>
        <p:nvSpPr>
          <p:cNvPr id="131" name="Shape 39"/>
          <p:cNvSpPr/>
          <p:nvPr/>
        </p:nvSpPr>
        <p:spPr>
          <a:xfrm>
            <a:off x="457200" y="6144840"/>
            <a:ext cx="5531760" cy="328680"/>
          </a:xfrm>
          <a:prstGeom prst="roundRect">
            <a:avLst>
              <a:gd name="adj" fmla="val 22222"/>
            </a:avLst>
          </a:prstGeom>
          <a:solidFill>
            <a:srgbClr val="782F40"/>
          </a:solidFill>
          <a:ln w="15875">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2" name="Text 40"/>
          <p:cNvSpPr/>
          <p:nvPr/>
        </p:nvSpPr>
        <p:spPr>
          <a:xfrm>
            <a:off x="530280" y="6144840"/>
            <a:ext cx="538560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CEB888"/>
                </a:solidFill>
                <a:effectLst/>
                <a:uFillTx/>
                <a:latin typeface="Arial"/>
                <a:ea typeface="Arial"/>
              </a:rPr>
              <a:t>Rule 1  ·  No model ever writes a query.</a:t>
            </a:r>
            <a:endParaRPr lang="en-US" sz="1200" b="0" u="none" strike="noStrike">
              <a:solidFill>
                <a:srgbClr val="FFFFFF"/>
              </a:solidFill>
              <a:effectLst/>
              <a:uFillTx/>
              <a:latin typeface="Arial"/>
            </a:endParaRPr>
          </a:p>
        </p:txBody>
      </p:sp>
      <p:sp>
        <p:nvSpPr>
          <p:cNvPr id="133" name="Shape 41"/>
          <p:cNvSpPr/>
          <p:nvPr/>
        </p:nvSpPr>
        <p:spPr>
          <a:xfrm>
            <a:off x="6217920" y="6144840"/>
            <a:ext cx="5531760" cy="328680"/>
          </a:xfrm>
          <a:prstGeom prst="roundRect">
            <a:avLst>
              <a:gd name="adj" fmla="val 22222"/>
            </a:avLst>
          </a:prstGeom>
          <a:solidFill>
            <a:srgbClr val="782F40"/>
          </a:solidFill>
          <a:ln w="15875">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4" name="Text 42"/>
          <p:cNvSpPr/>
          <p:nvPr/>
        </p:nvSpPr>
        <p:spPr>
          <a:xfrm>
            <a:off x="6291000" y="6144840"/>
            <a:ext cx="538560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CEB888"/>
                </a:solidFill>
                <a:effectLst/>
                <a:uFillTx/>
                <a:latin typeface="Arial"/>
                <a:ea typeface="Arial"/>
              </a:rPr>
              <a:t>Rule 2  ·  No claim without a record behind it.</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5" name="Image 0" descr="/tmp/claude-1000/-home-bdgr-Agents-Ariadne/eca9f446-3ea1-4c07-8826-cc7003be2e12/scratchpad/assets/fsu-garnet-gold.png"/>
          <p:cNvPicPr/>
          <p:nvPr/>
        </p:nvPicPr>
        <p:blipFill>
          <a:blip r:embed="rId1"/>
          <a:stretch/>
        </p:blipFill>
        <p:spPr>
          <a:xfrm>
            <a:off x="457200" y="292680"/>
            <a:ext cx="1105920" cy="456840"/>
          </a:xfrm>
          <a:prstGeom prst="rect">
            <a:avLst/>
          </a:prstGeom>
          <a:noFill/>
          <a:ln w="0">
            <a:noFill/>
          </a:ln>
        </p:spPr>
      </p:pic>
      <p:pic>
        <p:nvPicPr>
          <p:cNvPr id="136" name="Image 1" descr="/tmp/claude-1000/-home-bdgr-Agents-Ariadne/eca9f446-3ea1-4c07-8826-cc7003be2e12/scratchpad/assets/reliaquest.png"/>
          <p:cNvPicPr/>
          <p:nvPr/>
        </p:nvPicPr>
        <p:blipFill>
          <a:blip r:embed="rId2"/>
          <a:stretch/>
        </p:blipFill>
        <p:spPr>
          <a:xfrm>
            <a:off x="1874520" y="374760"/>
            <a:ext cx="1325520" cy="292320"/>
          </a:xfrm>
          <a:prstGeom prst="rect">
            <a:avLst/>
          </a:prstGeom>
          <a:noFill/>
          <a:ln w="0">
            <a:noFill/>
          </a:ln>
        </p:spPr>
      </p:pic>
      <p:pic>
        <p:nvPicPr>
          <p:cNvPr id="137" name="Image 2" descr="/tmp/claude-1000/-home-bdgr-Agents-Ariadne/eca9f446-3ea1-4c07-8826-cc7003be2e12/scratchpad/assets/ariadne-mark.png"/>
          <p:cNvPicPr/>
          <p:nvPr/>
        </p:nvPicPr>
        <p:blipFill>
          <a:blip r:embed="rId3"/>
          <a:stretch/>
        </p:blipFill>
        <p:spPr>
          <a:xfrm>
            <a:off x="11201400" y="274320"/>
            <a:ext cx="529920" cy="456840"/>
          </a:xfrm>
          <a:prstGeom prst="rect">
            <a:avLst/>
          </a:prstGeom>
          <a:noFill/>
          <a:ln w="0">
            <a:noFill/>
          </a:ln>
        </p:spPr>
      </p:pic>
      <p:sp>
        <p:nvSpPr>
          <p:cNvPr id="138" name="Text 0"/>
          <p:cNvSpPr/>
          <p:nvPr/>
        </p:nvSpPr>
        <p:spPr>
          <a:xfrm>
            <a:off x="10607040" y="6510600"/>
            <a:ext cx="11426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101820"/>
                </a:solidFill>
                <a:effectLst/>
                <a:uFillTx/>
                <a:latin typeface="Arial"/>
                <a:ea typeface="Arial"/>
              </a:rPr>
              <a:t>6 / 13</a:t>
            </a:r>
            <a:endParaRPr lang="en-US" sz="900" b="0" u="none" strike="noStrike">
              <a:solidFill>
                <a:srgbClr val="000000"/>
              </a:solidFill>
              <a:effectLst/>
              <a:uFillTx/>
              <a:latin typeface="Arial"/>
            </a:endParaRPr>
          </a:p>
        </p:txBody>
      </p:sp>
      <p:sp>
        <p:nvSpPr>
          <p:cNvPr id="139" name="Text 1"/>
          <p:cNvSpPr/>
          <p:nvPr/>
        </p:nvSpPr>
        <p:spPr>
          <a:xfrm>
            <a:off x="457200" y="6510600"/>
            <a:ext cx="96008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101820"/>
                </a:solidFill>
                <a:effectLst/>
                <a:uFillTx/>
                <a:latin typeface="Arial"/>
                <a:ea typeface="Arial"/>
              </a:rPr>
              <a:t>Sizes measured on the repository: data/source_cards/attack.json (39,354 bytes) vs. data/graphs/attack/canonical (19,868,879 bytes).</a:t>
            </a:r>
            <a:endParaRPr lang="en-US" sz="900" b="0" u="none" strike="noStrike">
              <a:solidFill>
                <a:srgbClr val="000000"/>
              </a:solidFill>
              <a:effectLst/>
              <a:uFillTx/>
              <a:latin typeface="Arial"/>
            </a:endParaRPr>
          </a:p>
        </p:txBody>
      </p:sp>
      <p:sp>
        <p:nvSpPr>
          <p:cNvPr id="140" name="Text 2"/>
          <p:cNvSpPr/>
          <p:nvPr/>
        </p:nvSpPr>
        <p:spPr>
          <a:xfrm>
            <a:off x="457200" y="868680"/>
            <a:ext cx="112467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782F40"/>
                </a:solidFill>
                <a:effectLst/>
                <a:uFillTx/>
                <a:latin typeface="Arial"/>
                <a:ea typeface="Arial"/>
              </a:rPr>
              <a:t>The source card: one sheet per database</a:t>
            </a:r>
            <a:endParaRPr lang="en-US" sz="3000" b="0" u="none" strike="noStrike">
              <a:solidFill>
                <a:srgbClr val="000000"/>
              </a:solidFill>
              <a:effectLst/>
              <a:uFillTx/>
              <a:latin typeface="Arial"/>
            </a:endParaRPr>
          </a:p>
        </p:txBody>
      </p:sp>
      <p:sp>
        <p:nvSpPr>
          <p:cNvPr id="141" name="Shape 3"/>
          <p:cNvSpPr/>
          <p:nvPr/>
        </p:nvSpPr>
        <p:spPr>
          <a:xfrm>
            <a:off x="457200" y="1691640"/>
            <a:ext cx="5394600" cy="4525920"/>
          </a:xfrm>
          <a:prstGeom prst="roundRect">
            <a:avLst>
              <a:gd name="adj" fmla="val 2424"/>
            </a:avLst>
          </a:prstGeom>
          <a:solidFill>
            <a:srgbClr val="DFD1A7"/>
          </a:solidFill>
          <a:ln w="12700">
            <a:solidFill>
              <a:srgbClr val="DFD1A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2" name="Text 4"/>
          <p:cNvSpPr/>
          <p:nvPr/>
        </p:nvSpPr>
        <p:spPr>
          <a:xfrm>
            <a:off x="731520" y="187452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782F40"/>
                </a:solidFill>
                <a:effectLst/>
                <a:uFillTx/>
                <a:latin typeface="Courier New"/>
                <a:ea typeface="Courier New"/>
              </a:rPr>
              <a:t>attack.json</a:t>
            </a:r>
            <a:r>
              <a:rPr lang="en-US" sz="1100" b="0" u="none" strike="noStrike">
                <a:solidFill>
                  <a:srgbClr val="782F40"/>
                </a:solidFill>
                <a:effectLst/>
                <a:uFillTx/>
                <a:latin typeface="Arial"/>
                <a:ea typeface="Arial"/>
              </a:rPr>
              <a:t>   the ATT&amp;CK source card</a:t>
            </a:r>
            <a:endParaRPr lang="en-US" sz="1100" b="0" u="none" strike="noStrike">
              <a:solidFill>
                <a:srgbClr val="000000"/>
              </a:solidFill>
              <a:effectLst/>
              <a:uFillTx/>
              <a:latin typeface="Arial"/>
            </a:endParaRPr>
          </a:p>
        </p:txBody>
      </p:sp>
      <p:sp>
        <p:nvSpPr>
          <p:cNvPr id="143" name="Shape 5"/>
          <p:cNvSpPr/>
          <p:nvPr/>
        </p:nvSpPr>
        <p:spPr>
          <a:xfrm>
            <a:off x="777240" y="2450520"/>
            <a:ext cx="164160" cy="164160"/>
          </a:xfrm>
          <a:prstGeom prst="ellipse">
            <a:avLst/>
          </a:prstGeom>
          <a:solidFill>
            <a:srgbClr val="782F40"/>
          </a:solidFill>
          <a:ln w="12700">
            <a:solidFill>
              <a:srgbClr val="782F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4" name="Text 6"/>
          <p:cNvSpPr/>
          <p:nvPr/>
        </p:nvSpPr>
        <p:spPr>
          <a:xfrm>
            <a:off x="1097280" y="2377440"/>
            <a:ext cx="44802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782F40"/>
                </a:solidFill>
                <a:effectLst/>
                <a:uFillTx/>
                <a:latin typeface="Arial"/>
                <a:ea typeface="Arial"/>
              </a:rPr>
              <a:t>Entities and properties</a:t>
            </a:r>
            <a:endParaRPr lang="en-US" sz="1300" b="0" u="none" strike="noStrike">
              <a:solidFill>
                <a:srgbClr val="000000"/>
              </a:solidFill>
              <a:effectLst/>
              <a:uFillTx/>
              <a:latin typeface="Arial"/>
            </a:endParaRPr>
          </a:p>
        </p:txBody>
      </p:sp>
      <p:sp>
        <p:nvSpPr>
          <p:cNvPr id="145" name="Text 7"/>
          <p:cNvSpPr/>
          <p:nvPr/>
        </p:nvSpPr>
        <p:spPr>
          <a:xfrm>
            <a:off x="1097280" y="2651760"/>
            <a:ext cx="448020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01820"/>
                </a:solidFill>
                <a:effectLst/>
                <a:uFillTx/>
                <a:latin typeface="Arial"/>
                <a:ea typeface="Arial"/>
              </a:rPr>
              <a:t>what the graph contains: 11 node labels, their attributes</a:t>
            </a:r>
            <a:endParaRPr lang="en-US" sz="1100" b="0" u="none" strike="noStrike">
              <a:solidFill>
                <a:srgbClr val="000000"/>
              </a:solidFill>
              <a:effectLst/>
              <a:uFillTx/>
              <a:latin typeface="Arial"/>
            </a:endParaRPr>
          </a:p>
        </p:txBody>
      </p:sp>
      <p:sp>
        <p:nvSpPr>
          <p:cNvPr id="146" name="Shape 8"/>
          <p:cNvSpPr/>
          <p:nvPr/>
        </p:nvSpPr>
        <p:spPr>
          <a:xfrm>
            <a:off x="777240" y="3108960"/>
            <a:ext cx="164160" cy="164160"/>
          </a:xfrm>
          <a:prstGeom prst="ellipse">
            <a:avLst/>
          </a:prstGeom>
          <a:solidFill>
            <a:srgbClr val="782F40"/>
          </a:solidFill>
          <a:ln w="12700">
            <a:solidFill>
              <a:srgbClr val="782F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7" name="Text 9"/>
          <p:cNvSpPr/>
          <p:nvPr/>
        </p:nvSpPr>
        <p:spPr>
          <a:xfrm>
            <a:off x="1097280" y="3035880"/>
            <a:ext cx="44802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782F40"/>
                </a:solidFill>
                <a:effectLst/>
                <a:uFillTx/>
                <a:latin typeface="Arial"/>
                <a:ea typeface="Arial"/>
              </a:rPr>
              <a:t>Relationships</a:t>
            </a:r>
            <a:endParaRPr lang="en-US" sz="1300" b="0" u="none" strike="noStrike">
              <a:solidFill>
                <a:srgbClr val="000000"/>
              </a:solidFill>
              <a:effectLst/>
              <a:uFillTx/>
              <a:latin typeface="Arial"/>
            </a:endParaRPr>
          </a:p>
        </p:txBody>
      </p:sp>
      <p:sp>
        <p:nvSpPr>
          <p:cNvPr id="148" name="Text 10"/>
          <p:cNvSpPr/>
          <p:nvPr/>
        </p:nvSpPr>
        <p:spPr>
          <a:xfrm>
            <a:off x="1097280" y="3310200"/>
            <a:ext cx="448020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01820"/>
                </a:solidFill>
                <a:effectLst/>
                <a:uFillTx/>
                <a:latin typeface="Arial"/>
                <a:ea typeface="Arial"/>
              </a:rPr>
              <a:t>how entities connect, and in which direction</a:t>
            </a:r>
            <a:endParaRPr lang="en-US" sz="1100" b="0" u="none" strike="noStrike">
              <a:solidFill>
                <a:srgbClr val="000000"/>
              </a:solidFill>
              <a:effectLst/>
              <a:uFillTx/>
              <a:latin typeface="Arial"/>
            </a:endParaRPr>
          </a:p>
        </p:txBody>
      </p:sp>
      <p:sp>
        <p:nvSpPr>
          <p:cNvPr id="149" name="Shape 11"/>
          <p:cNvSpPr/>
          <p:nvPr/>
        </p:nvSpPr>
        <p:spPr>
          <a:xfrm>
            <a:off x="777240" y="3767400"/>
            <a:ext cx="164160" cy="164160"/>
          </a:xfrm>
          <a:prstGeom prst="ellipse">
            <a:avLst/>
          </a:prstGeom>
          <a:solidFill>
            <a:srgbClr val="782F40"/>
          </a:solidFill>
          <a:ln w="12700">
            <a:solidFill>
              <a:srgbClr val="782F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0" name="Text 12"/>
          <p:cNvSpPr/>
          <p:nvPr/>
        </p:nvSpPr>
        <p:spPr>
          <a:xfrm>
            <a:off x="1097280" y="3694320"/>
            <a:ext cx="44802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782F40"/>
                </a:solidFill>
                <a:effectLst/>
                <a:uFillTx/>
                <a:latin typeface="Arial"/>
                <a:ea typeface="Arial"/>
              </a:rPr>
              <a:t>Join keys</a:t>
            </a:r>
            <a:endParaRPr lang="en-US" sz="1300" b="0" u="none" strike="noStrike">
              <a:solidFill>
                <a:srgbClr val="000000"/>
              </a:solidFill>
              <a:effectLst/>
              <a:uFillTx/>
              <a:latin typeface="Arial"/>
            </a:endParaRPr>
          </a:p>
        </p:txBody>
      </p:sp>
      <p:sp>
        <p:nvSpPr>
          <p:cNvPr id="151" name="Text 13"/>
          <p:cNvSpPr/>
          <p:nvPr/>
        </p:nvSpPr>
        <p:spPr>
          <a:xfrm>
            <a:off x="1097280" y="3968640"/>
            <a:ext cx="448020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01820"/>
                </a:solidFill>
                <a:effectLst/>
                <a:uFillTx/>
                <a:latin typeface="Arial"/>
                <a:ea typeface="Arial"/>
              </a:rPr>
              <a:t>which identifiers link this graph to another one</a:t>
            </a:r>
            <a:endParaRPr lang="en-US" sz="1100" b="0" u="none" strike="noStrike">
              <a:solidFill>
                <a:srgbClr val="000000"/>
              </a:solidFill>
              <a:effectLst/>
              <a:uFillTx/>
              <a:latin typeface="Arial"/>
            </a:endParaRPr>
          </a:p>
        </p:txBody>
      </p:sp>
      <p:sp>
        <p:nvSpPr>
          <p:cNvPr id="152" name="Shape 14"/>
          <p:cNvSpPr/>
          <p:nvPr/>
        </p:nvSpPr>
        <p:spPr>
          <a:xfrm>
            <a:off x="777240" y="4425840"/>
            <a:ext cx="164160" cy="164160"/>
          </a:xfrm>
          <a:prstGeom prst="ellipse">
            <a:avLst/>
          </a:prstGeom>
          <a:solidFill>
            <a:srgbClr val="782F40"/>
          </a:solidFill>
          <a:ln w="12700">
            <a:solidFill>
              <a:srgbClr val="782F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3" name="Text 15"/>
          <p:cNvSpPr/>
          <p:nvPr/>
        </p:nvSpPr>
        <p:spPr>
          <a:xfrm>
            <a:off x="1097280" y="4352400"/>
            <a:ext cx="44802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782F40"/>
                </a:solidFill>
                <a:effectLst/>
                <a:uFillTx/>
                <a:latin typeface="Arial"/>
                <a:ea typeface="Arial"/>
              </a:rPr>
              <a:t>Query limits</a:t>
            </a:r>
            <a:endParaRPr lang="en-US" sz="1300" b="0" u="none" strike="noStrike">
              <a:solidFill>
                <a:srgbClr val="000000"/>
              </a:solidFill>
              <a:effectLst/>
              <a:uFillTx/>
              <a:latin typeface="Arial"/>
            </a:endParaRPr>
          </a:p>
        </p:txBody>
      </p:sp>
      <p:sp>
        <p:nvSpPr>
          <p:cNvPr id="154" name="Text 16"/>
          <p:cNvSpPr/>
          <p:nvPr/>
        </p:nvSpPr>
        <p:spPr>
          <a:xfrm>
            <a:off x="1097280" y="4626720"/>
            <a:ext cx="448020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01820"/>
                </a:solidFill>
                <a:effectLst/>
                <a:uFillTx/>
                <a:latin typeface="Arial"/>
                <a:ea typeface="Arial"/>
              </a:rPr>
              <a:t>read-only · max depth · max rows · timeout</a:t>
            </a:r>
            <a:endParaRPr lang="en-US" sz="1100" b="0" u="none" strike="noStrike">
              <a:solidFill>
                <a:srgbClr val="000000"/>
              </a:solidFill>
              <a:effectLst/>
              <a:uFillTx/>
              <a:latin typeface="Arial"/>
            </a:endParaRPr>
          </a:p>
        </p:txBody>
      </p:sp>
      <p:sp>
        <p:nvSpPr>
          <p:cNvPr id="155" name="Shape 17"/>
          <p:cNvSpPr/>
          <p:nvPr/>
        </p:nvSpPr>
        <p:spPr>
          <a:xfrm>
            <a:off x="777240" y="5083920"/>
            <a:ext cx="164160" cy="164160"/>
          </a:xfrm>
          <a:prstGeom prst="ellipse">
            <a:avLst/>
          </a:prstGeom>
          <a:solidFill>
            <a:srgbClr val="782F40"/>
          </a:solidFill>
          <a:ln w="12700">
            <a:solidFill>
              <a:srgbClr val="782F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6" name="Text 18"/>
          <p:cNvSpPr/>
          <p:nvPr/>
        </p:nvSpPr>
        <p:spPr>
          <a:xfrm>
            <a:off x="1097280" y="5010840"/>
            <a:ext cx="44802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782F40"/>
                </a:solidFill>
                <a:effectLst/>
                <a:uFillTx/>
                <a:latin typeface="Arial"/>
                <a:ea typeface="Arial"/>
              </a:rPr>
              <a:t>Provenance</a:t>
            </a:r>
            <a:endParaRPr lang="en-US" sz="1300" b="0" u="none" strike="noStrike">
              <a:solidFill>
                <a:srgbClr val="000000"/>
              </a:solidFill>
              <a:effectLst/>
              <a:uFillTx/>
              <a:latin typeface="Arial"/>
            </a:endParaRPr>
          </a:p>
        </p:txBody>
      </p:sp>
      <p:sp>
        <p:nvSpPr>
          <p:cNvPr id="157" name="Text 19"/>
          <p:cNvSpPr/>
          <p:nvPr/>
        </p:nvSpPr>
        <p:spPr>
          <a:xfrm>
            <a:off x="1097280" y="5285160"/>
            <a:ext cx="448020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01820"/>
                </a:solidFill>
                <a:effectLst/>
                <a:uFillTx/>
                <a:latin typeface="Arial"/>
                <a:ea typeface="Arial"/>
              </a:rPr>
              <a:t>which snapshot, pinned by hash, so an answer can say which version it read</a:t>
            </a:r>
            <a:endParaRPr lang="en-US" sz="1100" b="0" u="none" strike="noStrike">
              <a:solidFill>
                <a:srgbClr val="000000"/>
              </a:solidFill>
              <a:effectLst/>
              <a:uFillTx/>
              <a:latin typeface="Arial"/>
            </a:endParaRPr>
          </a:p>
        </p:txBody>
      </p:sp>
      <p:sp>
        <p:nvSpPr>
          <p:cNvPr id="158" name="Text 20"/>
          <p:cNvSpPr/>
          <p:nvPr/>
        </p:nvSpPr>
        <p:spPr>
          <a:xfrm>
            <a:off x="731520" y="576072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782F40"/>
                </a:solidFill>
                <a:effectLst/>
                <a:uFillTx/>
                <a:latin typeface="Arial"/>
                <a:ea typeface="Arial"/>
              </a:rPr>
              <a:t>39 KB of card describes 19.9 MB of graph: two tenths of one percent.</a:t>
            </a:r>
            <a:endParaRPr lang="en-US" sz="1150" b="0" u="none" strike="noStrike">
              <a:solidFill>
                <a:srgbClr val="000000"/>
              </a:solidFill>
              <a:effectLst/>
              <a:uFillTx/>
              <a:latin typeface="Arial"/>
            </a:endParaRPr>
          </a:p>
        </p:txBody>
      </p:sp>
      <p:sp>
        <p:nvSpPr>
          <p:cNvPr id="159" name="Text 21"/>
          <p:cNvSpPr/>
          <p:nvPr/>
        </p:nvSpPr>
        <p:spPr>
          <a:xfrm>
            <a:off x="6309360" y="1737360"/>
            <a:ext cx="54403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782F40"/>
                </a:solidFill>
                <a:effectLst/>
                <a:uFillTx/>
                <a:latin typeface="Arial"/>
                <a:ea typeface="Arial"/>
              </a:rPr>
              <a:t>What the specialist does with it</a:t>
            </a:r>
            <a:endParaRPr lang="en-US" sz="1600" b="0" u="none" strike="noStrike">
              <a:solidFill>
                <a:srgbClr val="000000"/>
              </a:solidFill>
              <a:effectLst/>
              <a:uFillTx/>
              <a:latin typeface="Arial"/>
            </a:endParaRPr>
          </a:p>
        </p:txBody>
      </p:sp>
      <p:sp>
        <p:nvSpPr>
          <p:cNvPr id="160" name="Shape 22"/>
          <p:cNvSpPr/>
          <p:nvPr/>
        </p:nvSpPr>
        <p:spPr>
          <a:xfrm>
            <a:off x="6309360" y="2286000"/>
            <a:ext cx="365400" cy="36540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1" name="Text 23"/>
          <p:cNvSpPr/>
          <p:nvPr/>
        </p:nvSpPr>
        <p:spPr>
          <a:xfrm>
            <a:off x="6309360" y="2286000"/>
            <a:ext cx="3654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01820"/>
                </a:solidFill>
                <a:effectLst/>
                <a:uFillTx/>
                <a:latin typeface="Arial"/>
                <a:ea typeface="Arial"/>
              </a:rPr>
              <a:t>1</a:t>
            </a:r>
            <a:endParaRPr lang="en-US" sz="1300" b="0" u="none" strike="noStrike">
              <a:solidFill>
                <a:srgbClr val="000000"/>
              </a:solidFill>
              <a:effectLst/>
              <a:uFillTx/>
              <a:latin typeface="Arial"/>
            </a:endParaRPr>
          </a:p>
        </p:txBody>
      </p:sp>
      <p:sp>
        <p:nvSpPr>
          <p:cNvPr id="162" name="Text 24"/>
          <p:cNvSpPr/>
          <p:nvPr/>
        </p:nvSpPr>
        <p:spPr>
          <a:xfrm>
            <a:off x="6812280" y="2240280"/>
            <a:ext cx="493740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rgbClr val="782F40"/>
                </a:solidFill>
                <a:effectLst/>
                <a:uFillTx/>
                <a:latin typeface="Arial"/>
                <a:ea typeface="Arial"/>
              </a:rPr>
              <a:t>Resolve  </a:t>
            </a:r>
            <a:r>
              <a:rPr lang="en-US" sz="1200" b="0" u="none" strike="noStrike">
                <a:solidFill>
                  <a:srgbClr val="101820"/>
                </a:solidFill>
                <a:effectLst/>
                <a:uFillTx/>
                <a:latin typeface="Arial"/>
                <a:ea typeface="Arial"/>
              </a:rPr>
              <a:t>the entities named in the question against the card, and say so if one is not modeled</a:t>
            </a:r>
            <a:endParaRPr lang="en-US" sz="1200" b="0" u="none" strike="noStrike">
              <a:solidFill>
                <a:srgbClr val="000000"/>
              </a:solidFill>
              <a:effectLst/>
              <a:uFillTx/>
              <a:latin typeface="Arial"/>
            </a:endParaRPr>
          </a:p>
        </p:txBody>
      </p:sp>
      <p:sp>
        <p:nvSpPr>
          <p:cNvPr id="163" name="Shape 25"/>
          <p:cNvSpPr/>
          <p:nvPr/>
        </p:nvSpPr>
        <p:spPr>
          <a:xfrm>
            <a:off x="6309360" y="3054240"/>
            <a:ext cx="365400" cy="36540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4" name="Text 26"/>
          <p:cNvSpPr/>
          <p:nvPr/>
        </p:nvSpPr>
        <p:spPr>
          <a:xfrm>
            <a:off x="6309360" y="3054240"/>
            <a:ext cx="3654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01820"/>
                </a:solidFill>
                <a:effectLst/>
                <a:uFillTx/>
                <a:latin typeface="Arial"/>
                <a:ea typeface="Arial"/>
              </a:rPr>
              <a:t>2</a:t>
            </a:r>
            <a:endParaRPr lang="en-US" sz="1300" b="0" u="none" strike="noStrike">
              <a:solidFill>
                <a:srgbClr val="000000"/>
              </a:solidFill>
              <a:effectLst/>
              <a:uFillTx/>
              <a:latin typeface="Arial"/>
            </a:endParaRPr>
          </a:p>
        </p:txBody>
      </p:sp>
      <p:sp>
        <p:nvSpPr>
          <p:cNvPr id="165" name="Text 27"/>
          <p:cNvSpPr/>
          <p:nvPr/>
        </p:nvSpPr>
        <p:spPr>
          <a:xfrm>
            <a:off x="6812280" y="3008520"/>
            <a:ext cx="493740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rgbClr val="782F40"/>
                </a:solidFill>
                <a:effectLst/>
                <a:uFillTx/>
                <a:latin typeface="Arial"/>
                <a:ea typeface="Arial"/>
              </a:rPr>
              <a:t>Compose  </a:t>
            </a:r>
            <a:r>
              <a:rPr lang="en-US" sz="1200" b="0" u="none" strike="noStrike">
                <a:solidFill>
                  <a:srgbClr val="101820"/>
                </a:solidFill>
                <a:effectLst/>
                <a:uFillTx/>
                <a:latin typeface="Arial"/>
                <a:ea typeface="Arial"/>
              </a:rPr>
              <a:t>the query from five schema-derived primitives: describe, neighbors, walk, chain, bridge</a:t>
            </a:r>
            <a:endParaRPr lang="en-US" sz="1200" b="0" u="none" strike="noStrike">
              <a:solidFill>
                <a:srgbClr val="000000"/>
              </a:solidFill>
              <a:effectLst/>
              <a:uFillTx/>
              <a:latin typeface="Arial"/>
            </a:endParaRPr>
          </a:p>
        </p:txBody>
      </p:sp>
      <p:sp>
        <p:nvSpPr>
          <p:cNvPr id="166" name="Shape 28"/>
          <p:cNvSpPr/>
          <p:nvPr/>
        </p:nvSpPr>
        <p:spPr>
          <a:xfrm>
            <a:off x="6309360" y="3822120"/>
            <a:ext cx="365400" cy="36540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7" name="Text 29"/>
          <p:cNvSpPr/>
          <p:nvPr/>
        </p:nvSpPr>
        <p:spPr>
          <a:xfrm>
            <a:off x="6309360" y="3822120"/>
            <a:ext cx="3654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01820"/>
                </a:solidFill>
                <a:effectLst/>
                <a:uFillTx/>
                <a:latin typeface="Arial"/>
                <a:ea typeface="Arial"/>
              </a:rPr>
              <a:t>3</a:t>
            </a:r>
            <a:endParaRPr lang="en-US" sz="1300" b="0" u="none" strike="noStrike">
              <a:solidFill>
                <a:srgbClr val="000000"/>
              </a:solidFill>
              <a:effectLst/>
              <a:uFillTx/>
              <a:latin typeface="Arial"/>
            </a:endParaRPr>
          </a:p>
        </p:txBody>
      </p:sp>
      <p:sp>
        <p:nvSpPr>
          <p:cNvPr id="168" name="Text 30"/>
          <p:cNvSpPr/>
          <p:nvPr/>
        </p:nvSpPr>
        <p:spPr>
          <a:xfrm>
            <a:off x="6812280" y="3776400"/>
            <a:ext cx="493740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rgbClr val="782F40"/>
                </a:solidFill>
                <a:effectLst/>
                <a:uFillTx/>
                <a:latin typeface="Arial"/>
                <a:ea typeface="Arial"/>
              </a:rPr>
              <a:t>Gate  </a:t>
            </a:r>
            <a:r>
              <a:rPr lang="en-US" sz="1200" b="0" u="none" strike="noStrike">
                <a:solidFill>
                  <a:srgbClr val="101820"/>
                </a:solidFill>
                <a:effectLst/>
                <a:uFillTx/>
                <a:latin typeface="Arial"/>
                <a:ea typeface="Arial"/>
              </a:rPr>
              <a:t>it before it runs: read-only, allowed labels and edges, bounded depth and rows</a:t>
            </a:r>
            <a:endParaRPr lang="en-US" sz="1200" b="0" u="none" strike="noStrike">
              <a:solidFill>
                <a:srgbClr val="000000"/>
              </a:solidFill>
              <a:effectLst/>
              <a:uFillTx/>
              <a:latin typeface="Arial"/>
            </a:endParaRPr>
          </a:p>
        </p:txBody>
      </p:sp>
      <p:sp>
        <p:nvSpPr>
          <p:cNvPr id="169" name="Shape 31"/>
          <p:cNvSpPr/>
          <p:nvPr/>
        </p:nvSpPr>
        <p:spPr>
          <a:xfrm>
            <a:off x="6309360" y="4590360"/>
            <a:ext cx="365400" cy="36540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0" name="Text 32"/>
          <p:cNvSpPr/>
          <p:nvPr/>
        </p:nvSpPr>
        <p:spPr>
          <a:xfrm>
            <a:off x="6309360" y="4590360"/>
            <a:ext cx="3654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01820"/>
                </a:solidFill>
                <a:effectLst/>
                <a:uFillTx/>
                <a:latin typeface="Arial"/>
                <a:ea typeface="Arial"/>
              </a:rPr>
              <a:t>4</a:t>
            </a:r>
            <a:endParaRPr lang="en-US" sz="1300" b="0" u="none" strike="noStrike">
              <a:solidFill>
                <a:srgbClr val="000000"/>
              </a:solidFill>
              <a:effectLst/>
              <a:uFillTx/>
              <a:latin typeface="Arial"/>
            </a:endParaRPr>
          </a:p>
        </p:txBody>
      </p:sp>
      <p:sp>
        <p:nvSpPr>
          <p:cNvPr id="171" name="Text 33"/>
          <p:cNvSpPr/>
          <p:nvPr/>
        </p:nvSpPr>
        <p:spPr>
          <a:xfrm>
            <a:off x="6812280" y="4544640"/>
            <a:ext cx="493740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rgbClr val="782F40"/>
                </a:solidFill>
                <a:effectLst/>
                <a:uFillTx/>
                <a:latin typeface="Arial"/>
                <a:ea typeface="Arial"/>
              </a:rPr>
              <a:t>Execute  </a:t>
            </a:r>
            <a:r>
              <a:rPr lang="en-US" sz="1200" b="0" u="none" strike="noStrike">
                <a:solidFill>
                  <a:srgbClr val="101820"/>
                </a:solidFill>
                <a:effectLst/>
                <a:uFillTx/>
                <a:latin typeface="Arial"/>
                <a:ea typeface="Arial"/>
              </a:rPr>
              <a:t>once, under a timeout, in the database's own language</a:t>
            </a:r>
            <a:endParaRPr lang="en-US" sz="1200" b="0" u="none" strike="noStrike">
              <a:solidFill>
                <a:srgbClr val="000000"/>
              </a:solidFill>
              <a:effectLst/>
              <a:uFillTx/>
              <a:latin typeface="Arial"/>
            </a:endParaRPr>
          </a:p>
        </p:txBody>
      </p:sp>
      <p:sp>
        <p:nvSpPr>
          <p:cNvPr id="172" name="Shape 34"/>
          <p:cNvSpPr/>
          <p:nvPr/>
        </p:nvSpPr>
        <p:spPr>
          <a:xfrm>
            <a:off x="6309360" y="5358240"/>
            <a:ext cx="365400" cy="36540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3" name="Text 35"/>
          <p:cNvSpPr/>
          <p:nvPr/>
        </p:nvSpPr>
        <p:spPr>
          <a:xfrm>
            <a:off x="6309360" y="5358240"/>
            <a:ext cx="3654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01820"/>
                </a:solidFill>
                <a:effectLst/>
                <a:uFillTx/>
                <a:latin typeface="Arial"/>
                <a:ea typeface="Arial"/>
              </a:rPr>
              <a:t>5</a:t>
            </a:r>
            <a:endParaRPr lang="en-US" sz="1300" b="0" u="none" strike="noStrike">
              <a:solidFill>
                <a:srgbClr val="000000"/>
              </a:solidFill>
              <a:effectLst/>
              <a:uFillTx/>
              <a:latin typeface="Arial"/>
            </a:endParaRPr>
          </a:p>
        </p:txBody>
      </p:sp>
      <p:sp>
        <p:nvSpPr>
          <p:cNvPr id="174" name="Text 36"/>
          <p:cNvSpPr/>
          <p:nvPr/>
        </p:nvSpPr>
        <p:spPr>
          <a:xfrm>
            <a:off x="6812280" y="5312520"/>
            <a:ext cx="493740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rgbClr val="782F40"/>
                </a:solidFill>
                <a:effectLst/>
                <a:uFillTx/>
                <a:latin typeface="Arial"/>
                <a:ea typeface="Arial"/>
              </a:rPr>
              <a:t>Normalize  </a:t>
            </a:r>
            <a:r>
              <a:rPr lang="en-US" sz="1200" b="0" u="none" strike="noStrike">
                <a:solidFill>
                  <a:srgbClr val="101820"/>
                </a:solidFill>
                <a:effectLst/>
                <a:uFillTx/>
                <a:latin typeface="Arial"/>
                <a:ea typeface="Arial"/>
              </a:rPr>
              <a:t>every record with its provenance: source, executed query, record id, timestamp</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82F40"/>
        </a:solidFill>
      </p:bgPr>
    </p:bg>
    <p:spTree>
      <p:nvGrpSpPr>
        <p:cNvPr id="1" name=""/>
        <p:cNvGrpSpPr/>
        <p:nvPr/>
      </p:nvGrpSpPr>
      <p:grpSpPr>
        <a:xfrm>
          <a:off x="0" y="0"/>
          <a:ext cx="0" cy="0"/>
          <a:chOff x="0" y="0"/>
          <a:chExt cx="0" cy="0"/>
        </a:xfrm>
      </p:grpSpPr>
      <p:pic>
        <p:nvPicPr>
          <p:cNvPr id="175" name="Image 0" descr="/tmp/claude-1000/-home-bdgr-Agents-Ariadne/eca9f446-3ea1-4c07-8826-cc7003be2e12/scratchpad/assets/fsu-white.png"/>
          <p:cNvPicPr/>
          <p:nvPr/>
        </p:nvPicPr>
        <p:blipFill>
          <a:blip r:embed="rId1"/>
          <a:stretch/>
        </p:blipFill>
        <p:spPr>
          <a:xfrm>
            <a:off x="457200" y="292680"/>
            <a:ext cx="1105920" cy="456840"/>
          </a:xfrm>
          <a:prstGeom prst="rect">
            <a:avLst/>
          </a:prstGeom>
          <a:noFill/>
          <a:ln w="0">
            <a:noFill/>
          </a:ln>
        </p:spPr>
      </p:pic>
      <p:pic>
        <p:nvPicPr>
          <p:cNvPr id="176" name="Image 1" descr="/tmp/claude-1000/-home-bdgr-Agents-Ariadne/eca9f446-3ea1-4c07-8826-cc7003be2e12/scratchpad/assets/reliaquest-on-dark.png"/>
          <p:cNvPicPr/>
          <p:nvPr/>
        </p:nvPicPr>
        <p:blipFill>
          <a:blip r:embed="rId2"/>
          <a:stretch/>
        </p:blipFill>
        <p:spPr>
          <a:xfrm>
            <a:off x="1874520" y="374760"/>
            <a:ext cx="1325520" cy="292320"/>
          </a:xfrm>
          <a:prstGeom prst="rect">
            <a:avLst/>
          </a:prstGeom>
          <a:noFill/>
          <a:ln w="0">
            <a:noFill/>
          </a:ln>
        </p:spPr>
      </p:pic>
      <p:pic>
        <p:nvPicPr>
          <p:cNvPr id="177" name="Image 2" descr="/tmp/claude-1000/-home-bdgr-Agents-Ariadne/eca9f446-3ea1-4c07-8826-cc7003be2e12/scratchpad/assets/ariadne-mark.png"/>
          <p:cNvPicPr/>
          <p:nvPr/>
        </p:nvPicPr>
        <p:blipFill>
          <a:blip r:embed="rId3"/>
          <a:stretch/>
        </p:blipFill>
        <p:spPr>
          <a:xfrm>
            <a:off x="11201400" y="274320"/>
            <a:ext cx="529920" cy="456840"/>
          </a:xfrm>
          <a:prstGeom prst="rect">
            <a:avLst/>
          </a:prstGeom>
          <a:noFill/>
          <a:ln w="0">
            <a:noFill/>
          </a:ln>
        </p:spPr>
      </p:pic>
      <p:sp>
        <p:nvSpPr>
          <p:cNvPr id="178" name="Text 0"/>
          <p:cNvSpPr/>
          <p:nvPr/>
        </p:nvSpPr>
        <p:spPr>
          <a:xfrm>
            <a:off x="10607040" y="6510600"/>
            <a:ext cx="11426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DFD1A7"/>
                </a:solidFill>
                <a:effectLst/>
                <a:uFillTx/>
                <a:latin typeface="Arial"/>
                <a:ea typeface="Arial"/>
              </a:rPr>
              <a:t>7 / 13</a:t>
            </a:r>
            <a:endParaRPr lang="en-US" sz="900" b="0" u="none" strike="noStrike">
              <a:solidFill>
                <a:srgbClr val="FFFFFF"/>
              </a:solidFill>
              <a:effectLst/>
              <a:uFillTx/>
              <a:latin typeface="Arial"/>
            </a:endParaRPr>
          </a:p>
        </p:txBody>
      </p:sp>
      <p:sp>
        <p:nvSpPr>
          <p:cNvPr id="179" name="Text 1"/>
          <p:cNvSpPr/>
          <p:nvPr/>
        </p:nvSpPr>
        <p:spPr>
          <a:xfrm>
            <a:off x="457200" y="6510600"/>
            <a:ext cx="96008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DFD1A7"/>
                </a:solidFill>
                <a:effectLst/>
                <a:uFillTx/>
                <a:latin typeface="Arial"/>
                <a:ea typeface="Arial"/>
              </a:rPr>
              <a:t>Verifier gates: utils/synthesis/verifier.py. Abstention text quoted from a committed evaluation answer.</a:t>
            </a:r>
            <a:endParaRPr lang="en-US" sz="900" b="0" u="none" strike="noStrike">
              <a:solidFill>
                <a:srgbClr val="FFFFFF"/>
              </a:solidFill>
              <a:effectLst/>
              <a:uFillTx/>
              <a:latin typeface="Arial"/>
            </a:endParaRPr>
          </a:p>
        </p:txBody>
      </p:sp>
      <p:sp>
        <p:nvSpPr>
          <p:cNvPr id="180" name="Text 2"/>
          <p:cNvSpPr/>
          <p:nvPr/>
        </p:nvSpPr>
        <p:spPr>
          <a:xfrm>
            <a:off x="457200" y="868680"/>
            <a:ext cx="112467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FFFFFF"/>
                </a:solidFill>
                <a:effectLst/>
                <a:uFillTx/>
                <a:latin typeface="Arial"/>
                <a:ea typeface="Arial"/>
              </a:rPr>
              <a:t>The verifier: every claim carries its record</a:t>
            </a:r>
            <a:endParaRPr lang="en-US" sz="3000" b="0" u="none" strike="noStrike">
              <a:solidFill>
                <a:srgbClr val="FFFFFF"/>
              </a:solidFill>
              <a:effectLst/>
              <a:uFillTx/>
              <a:latin typeface="Arial"/>
            </a:endParaRPr>
          </a:p>
        </p:txBody>
      </p:sp>
      <p:sp>
        <p:nvSpPr>
          <p:cNvPr id="181" name="Shape 3"/>
          <p:cNvSpPr/>
          <p:nvPr/>
        </p:nvSpPr>
        <p:spPr>
          <a:xfrm>
            <a:off x="457200" y="1783080"/>
            <a:ext cx="383760" cy="38376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2" name="Text 4"/>
          <p:cNvSpPr/>
          <p:nvPr/>
        </p:nvSpPr>
        <p:spPr>
          <a:xfrm>
            <a:off x="457200" y="178308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01820"/>
                </a:solidFill>
                <a:effectLst/>
                <a:uFillTx/>
                <a:latin typeface="Arial"/>
                <a:ea typeface="Arial"/>
              </a:rPr>
              <a:t>✓</a:t>
            </a:r>
            <a:endParaRPr lang="en-US" sz="1400" b="0" u="none" strike="noStrike">
              <a:solidFill>
                <a:srgbClr val="FFFFFF"/>
              </a:solidFill>
              <a:effectLst/>
              <a:uFillTx/>
              <a:latin typeface="Arial"/>
            </a:endParaRPr>
          </a:p>
        </p:txBody>
      </p:sp>
      <p:sp>
        <p:nvSpPr>
          <p:cNvPr id="183" name="Text 5"/>
          <p:cNvSpPr/>
          <p:nvPr/>
        </p:nvSpPr>
        <p:spPr>
          <a:xfrm>
            <a:off x="1005840" y="1764720"/>
            <a:ext cx="5120280" cy="328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Arial"/>
                <a:ea typeface="Arial"/>
              </a:rPr>
              <a:t>Cited</a:t>
            </a:r>
            <a:endParaRPr lang="en-US" sz="1600" b="0" u="none" strike="noStrike">
              <a:solidFill>
                <a:srgbClr val="FFFFFF"/>
              </a:solidFill>
              <a:effectLst/>
              <a:uFillTx/>
              <a:latin typeface="Arial"/>
            </a:endParaRPr>
          </a:p>
        </p:txBody>
      </p:sp>
      <p:sp>
        <p:nvSpPr>
          <p:cNvPr id="184" name="Text 6"/>
          <p:cNvSpPr/>
          <p:nvPr/>
        </p:nvSpPr>
        <p:spPr>
          <a:xfrm>
            <a:off x="1005840" y="2094120"/>
            <a:ext cx="51202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DFD1A7"/>
                </a:solidFill>
                <a:effectLst/>
                <a:uFillTx/>
                <a:latin typeface="Arial"/>
                <a:ea typeface="Arial"/>
              </a:rPr>
              <a:t>every claim points at records that were actually retrieved</a:t>
            </a:r>
            <a:endParaRPr lang="en-US" sz="1200" b="0" u="none" strike="noStrike">
              <a:solidFill>
                <a:srgbClr val="FFFFFF"/>
              </a:solidFill>
              <a:effectLst/>
              <a:uFillTx/>
              <a:latin typeface="Arial"/>
            </a:endParaRPr>
          </a:p>
        </p:txBody>
      </p:sp>
      <p:sp>
        <p:nvSpPr>
          <p:cNvPr id="185" name="Shape 7"/>
          <p:cNvSpPr/>
          <p:nvPr/>
        </p:nvSpPr>
        <p:spPr>
          <a:xfrm>
            <a:off x="457200" y="2651760"/>
            <a:ext cx="383760" cy="38376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6" name="Text 8"/>
          <p:cNvSpPr/>
          <p:nvPr/>
        </p:nvSpPr>
        <p:spPr>
          <a:xfrm>
            <a:off x="457200" y="265176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01820"/>
                </a:solidFill>
                <a:effectLst/>
                <a:uFillTx/>
                <a:latin typeface="Arial"/>
                <a:ea typeface="Arial"/>
              </a:rPr>
              <a:t>✓</a:t>
            </a:r>
            <a:endParaRPr lang="en-US" sz="1400" b="0" u="none" strike="noStrike">
              <a:solidFill>
                <a:srgbClr val="FFFFFF"/>
              </a:solidFill>
              <a:effectLst/>
              <a:uFillTx/>
              <a:latin typeface="Arial"/>
            </a:endParaRPr>
          </a:p>
        </p:txBody>
      </p:sp>
      <p:sp>
        <p:nvSpPr>
          <p:cNvPr id="187" name="Text 9"/>
          <p:cNvSpPr/>
          <p:nvPr/>
        </p:nvSpPr>
        <p:spPr>
          <a:xfrm>
            <a:off x="1005840" y="2633400"/>
            <a:ext cx="5120280" cy="328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Arial"/>
                <a:ea typeface="Arial"/>
              </a:rPr>
              <a:t>Resolvable</a:t>
            </a:r>
            <a:endParaRPr lang="en-US" sz="1600" b="0" u="none" strike="noStrike">
              <a:solidFill>
                <a:srgbClr val="FFFFFF"/>
              </a:solidFill>
              <a:effectLst/>
              <a:uFillTx/>
              <a:latin typeface="Arial"/>
            </a:endParaRPr>
          </a:p>
        </p:txBody>
      </p:sp>
      <p:sp>
        <p:nvSpPr>
          <p:cNvPr id="188" name="Text 10"/>
          <p:cNvSpPr/>
          <p:nvPr/>
        </p:nvSpPr>
        <p:spPr>
          <a:xfrm>
            <a:off x="1005840" y="2962800"/>
            <a:ext cx="51202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DFD1A7"/>
                </a:solidFill>
                <a:effectLst/>
                <a:uFillTx/>
                <a:latin typeface="Arial"/>
                <a:ea typeface="Arial"/>
              </a:rPr>
              <a:t>every identifier in a claim occurs in those records</a:t>
            </a:r>
            <a:endParaRPr lang="en-US" sz="1200" b="0" u="none" strike="noStrike">
              <a:solidFill>
                <a:srgbClr val="FFFFFF"/>
              </a:solidFill>
              <a:effectLst/>
              <a:uFillTx/>
              <a:latin typeface="Arial"/>
            </a:endParaRPr>
          </a:p>
        </p:txBody>
      </p:sp>
      <p:sp>
        <p:nvSpPr>
          <p:cNvPr id="189" name="Shape 11"/>
          <p:cNvSpPr/>
          <p:nvPr/>
        </p:nvSpPr>
        <p:spPr>
          <a:xfrm>
            <a:off x="457200" y="3520440"/>
            <a:ext cx="383760" cy="38376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0" name="Text 12"/>
          <p:cNvSpPr/>
          <p:nvPr/>
        </p:nvSpPr>
        <p:spPr>
          <a:xfrm>
            <a:off x="457200" y="352044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01820"/>
                </a:solidFill>
                <a:effectLst/>
                <a:uFillTx/>
                <a:latin typeface="Arial"/>
                <a:ea typeface="Arial"/>
              </a:rPr>
              <a:t>✓</a:t>
            </a:r>
            <a:endParaRPr lang="en-US" sz="1400" b="0" u="none" strike="noStrike">
              <a:solidFill>
                <a:srgbClr val="FFFFFF"/>
              </a:solidFill>
              <a:effectLst/>
              <a:uFillTx/>
              <a:latin typeface="Arial"/>
            </a:endParaRPr>
          </a:p>
        </p:txBody>
      </p:sp>
      <p:sp>
        <p:nvSpPr>
          <p:cNvPr id="191" name="Text 13"/>
          <p:cNvSpPr/>
          <p:nvPr/>
        </p:nvSpPr>
        <p:spPr>
          <a:xfrm>
            <a:off x="1005840" y="3502080"/>
            <a:ext cx="5120280" cy="328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Arial"/>
                <a:ea typeface="Arial"/>
              </a:rPr>
              <a:t>Grounded</a:t>
            </a:r>
            <a:endParaRPr lang="en-US" sz="1600" b="0" u="none" strike="noStrike">
              <a:solidFill>
                <a:srgbClr val="FFFFFF"/>
              </a:solidFill>
              <a:effectLst/>
              <a:uFillTx/>
              <a:latin typeface="Arial"/>
            </a:endParaRPr>
          </a:p>
        </p:txBody>
      </p:sp>
      <p:sp>
        <p:nvSpPr>
          <p:cNvPr id="192" name="Text 14"/>
          <p:cNvSpPr/>
          <p:nvPr/>
        </p:nvSpPr>
        <p:spPr>
          <a:xfrm>
            <a:off x="1005840" y="3831480"/>
            <a:ext cx="51202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DFD1A7"/>
                </a:solidFill>
                <a:effectLst/>
                <a:uFillTx/>
                <a:latin typeface="Arial"/>
                <a:ea typeface="Arial"/>
              </a:rPr>
              <a:t>what the claim says is in the record it cites</a:t>
            </a:r>
            <a:endParaRPr lang="en-US" sz="1200" b="0" u="none" strike="noStrike">
              <a:solidFill>
                <a:srgbClr val="FFFFFF"/>
              </a:solidFill>
              <a:effectLst/>
              <a:uFillTx/>
              <a:latin typeface="Arial"/>
            </a:endParaRPr>
          </a:p>
        </p:txBody>
      </p:sp>
      <p:sp>
        <p:nvSpPr>
          <p:cNvPr id="193" name="Shape 15"/>
          <p:cNvSpPr/>
          <p:nvPr/>
        </p:nvSpPr>
        <p:spPr>
          <a:xfrm>
            <a:off x="457200" y="4389120"/>
            <a:ext cx="383760" cy="38376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4" name="Text 16"/>
          <p:cNvSpPr/>
          <p:nvPr/>
        </p:nvSpPr>
        <p:spPr>
          <a:xfrm>
            <a:off x="457200" y="438912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01820"/>
                </a:solidFill>
                <a:effectLst/>
                <a:uFillTx/>
                <a:latin typeface="Arial"/>
                <a:ea typeface="Arial"/>
              </a:rPr>
              <a:t>✓</a:t>
            </a:r>
            <a:endParaRPr lang="en-US" sz="1400" b="0" u="none" strike="noStrike">
              <a:solidFill>
                <a:srgbClr val="FFFFFF"/>
              </a:solidFill>
              <a:effectLst/>
              <a:uFillTx/>
              <a:latin typeface="Arial"/>
            </a:endParaRPr>
          </a:p>
        </p:txBody>
      </p:sp>
      <p:sp>
        <p:nvSpPr>
          <p:cNvPr id="195" name="Text 17"/>
          <p:cNvSpPr/>
          <p:nvPr/>
        </p:nvSpPr>
        <p:spPr>
          <a:xfrm>
            <a:off x="1005840" y="4370760"/>
            <a:ext cx="5120280" cy="328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Arial"/>
                <a:ea typeface="Arial"/>
              </a:rPr>
              <a:t>Correlated</a:t>
            </a:r>
            <a:endParaRPr lang="en-US" sz="1600" b="0" u="none" strike="noStrike">
              <a:solidFill>
                <a:srgbClr val="FFFFFF"/>
              </a:solidFill>
              <a:effectLst/>
              <a:uFillTx/>
              <a:latin typeface="Arial"/>
            </a:endParaRPr>
          </a:p>
        </p:txBody>
      </p:sp>
      <p:sp>
        <p:nvSpPr>
          <p:cNvPr id="196" name="Text 18"/>
          <p:cNvSpPr/>
          <p:nvPr/>
        </p:nvSpPr>
        <p:spPr>
          <a:xfrm>
            <a:off x="1005840" y="4700160"/>
            <a:ext cx="51202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DFD1A7"/>
                </a:solidFill>
                <a:effectLst/>
                <a:uFillTx/>
                <a:latin typeface="Arial"/>
                <a:ea typeface="Arial"/>
              </a:rPr>
              <a:t>a link across two databases must be backed by the join index</a:t>
            </a:r>
            <a:endParaRPr lang="en-US" sz="1200" b="0" u="none" strike="noStrike">
              <a:solidFill>
                <a:srgbClr val="FFFFFF"/>
              </a:solidFill>
              <a:effectLst/>
              <a:uFillTx/>
              <a:latin typeface="Arial"/>
            </a:endParaRPr>
          </a:p>
        </p:txBody>
      </p:sp>
      <p:sp>
        <p:nvSpPr>
          <p:cNvPr id="197" name="Text 19"/>
          <p:cNvSpPr/>
          <p:nvPr/>
        </p:nvSpPr>
        <p:spPr>
          <a:xfrm>
            <a:off x="457200" y="5349240"/>
            <a:ext cx="566892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rgbClr val="CEB888"/>
                </a:solidFill>
                <a:effectLst/>
                <a:uFillTx/>
                <a:latin typeface="Arial"/>
                <a:ea typeface="Arial"/>
              </a:rPr>
              <a:t>What fails a gate is cut from the prose and kept flagged. The verifier is deterministic code, not a model.</a:t>
            </a:r>
            <a:endParaRPr lang="en-US" sz="1300" b="0" u="none" strike="noStrike">
              <a:solidFill>
                <a:srgbClr val="FFFFFF"/>
              </a:solidFill>
              <a:effectLst/>
              <a:uFillTx/>
              <a:latin typeface="Arial"/>
            </a:endParaRPr>
          </a:p>
        </p:txBody>
      </p:sp>
      <p:sp>
        <p:nvSpPr>
          <p:cNvPr id="198" name="Shape 20"/>
          <p:cNvSpPr/>
          <p:nvPr/>
        </p:nvSpPr>
        <p:spPr>
          <a:xfrm>
            <a:off x="6675120" y="1783080"/>
            <a:ext cx="5074560" cy="2834280"/>
          </a:xfrm>
          <a:prstGeom prst="roundRect">
            <a:avLst>
              <a:gd name="adj" fmla="val 3871"/>
            </a:avLst>
          </a:prstGeom>
          <a:solidFill>
            <a:srgbClr val="572932"/>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9" name="Text 21"/>
          <p:cNvSpPr/>
          <p:nvPr/>
        </p:nvSpPr>
        <p:spPr>
          <a:xfrm>
            <a:off x="6949440" y="1965960"/>
            <a:ext cx="45716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CEB888"/>
                </a:solidFill>
                <a:effectLst/>
                <a:uFillTx/>
                <a:latin typeface="Arial"/>
                <a:ea typeface="Arial"/>
              </a:rPr>
              <a:t>When the data has nothing</a:t>
            </a:r>
            <a:endParaRPr lang="en-US" sz="1500" b="0" u="none" strike="noStrike">
              <a:solidFill>
                <a:srgbClr val="FFFFFF"/>
              </a:solidFill>
              <a:effectLst/>
              <a:uFillTx/>
              <a:latin typeface="Arial"/>
            </a:endParaRPr>
          </a:p>
        </p:txBody>
      </p:sp>
      <p:sp>
        <p:nvSpPr>
          <p:cNvPr id="200" name="Text 22"/>
          <p:cNvSpPr/>
          <p:nvPr/>
        </p:nvSpPr>
        <p:spPr>
          <a:xfrm>
            <a:off x="6949440" y="2423160"/>
            <a:ext cx="457164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i="1" u="none" strike="noStrike">
                <a:solidFill>
                  <a:srgbClr val="FFFFFF"/>
                </a:solidFill>
                <a:effectLst/>
                <a:uFillTx/>
                <a:latin typeface="Arial"/>
                <a:ea typeface="Arial"/>
              </a:rPr>
              <a:t>"The capec source doesn't establish this. The executed query ran cleanly and returned no matching records."</a:t>
            </a:r>
            <a:endParaRPr lang="en-US" sz="1300" b="0" u="none" strike="noStrike">
              <a:solidFill>
                <a:srgbClr val="FFFFFF"/>
              </a:solidFill>
              <a:effectLst/>
              <a:uFillTx/>
              <a:latin typeface="Arial"/>
            </a:endParaRPr>
          </a:p>
        </p:txBody>
      </p:sp>
      <p:sp>
        <p:nvSpPr>
          <p:cNvPr id="201" name="Text 23"/>
          <p:cNvSpPr/>
          <p:nvPr/>
        </p:nvSpPr>
        <p:spPr>
          <a:xfrm>
            <a:off x="6949440" y="3383280"/>
            <a:ext cx="45716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50" b="0" u="none" strike="noStrike">
                <a:solidFill>
                  <a:srgbClr val="DFD1A7"/>
                </a:solidFill>
                <a:effectLst/>
                <a:uFillTx/>
                <a:latin typeface="Courier New"/>
                <a:ea typeface="Courier New"/>
              </a:rPr>
              <a:t>g.V().hasLabel("AttackPattern").has("id", within(ids))</a:t>
            </a:r>
            <a:endParaRPr lang="en-US" sz="950" b="0" u="none" strike="noStrike">
              <a:solidFill>
                <a:srgbClr val="FFFFFF"/>
              </a:solidFill>
              <a:effectLst/>
              <a:uFillTx/>
              <a:latin typeface="Arial"/>
            </a:endParaRPr>
          </a:p>
          <a:p>
            <a:pPr defTabSz="914400">
              <a:lnSpc>
                <a:spcPct val="100000"/>
              </a:lnSpc>
              <a:tabLst>
                <a:tab pos="0" algn="l"/>
              </a:tabLst>
            </a:pPr>
            <a:r>
              <a:rPr lang="en-US" sz="950" b="0" u="none" strike="noStrike">
                <a:solidFill>
                  <a:srgbClr val="DFD1A7"/>
                </a:solidFill>
                <a:effectLst/>
                <a:uFillTx/>
                <a:latin typeface="Courier New"/>
                <a:ea typeface="Courier New"/>
              </a:rPr>
              <a:t> .out("MAPS_TO").hasLabel("TaxonomyEntry") …</a:t>
            </a:r>
            <a:endParaRPr lang="en-US" sz="950" b="0" u="none" strike="noStrike">
              <a:solidFill>
                <a:srgbClr val="FFFFFF"/>
              </a:solidFill>
              <a:effectLst/>
              <a:uFillTx/>
              <a:latin typeface="Arial"/>
            </a:endParaRPr>
          </a:p>
        </p:txBody>
      </p:sp>
      <p:sp>
        <p:nvSpPr>
          <p:cNvPr id="202" name="Text 24"/>
          <p:cNvSpPr/>
          <p:nvPr/>
        </p:nvSpPr>
        <p:spPr>
          <a:xfrm>
            <a:off x="6949440" y="4069080"/>
            <a:ext cx="45716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CEB888"/>
                </a:solidFill>
                <a:effectLst/>
                <a:uFillTx/>
                <a:latin typeface="Arial"/>
                <a:ea typeface="Arial"/>
              </a:rPr>
              <a:t>0 claims made  ·  0 invented mappings  ·  the query is the proof</a:t>
            </a:r>
            <a:endParaRPr lang="en-US" sz="1200" b="0" u="none" strike="noStrike">
              <a:solidFill>
                <a:srgbClr val="FFFFFF"/>
              </a:solidFill>
              <a:effectLst/>
              <a:uFillTx/>
              <a:latin typeface="Arial"/>
            </a:endParaRPr>
          </a:p>
        </p:txBody>
      </p:sp>
      <p:sp>
        <p:nvSpPr>
          <p:cNvPr id="203" name="Text 25"/>
          <p:cNvSpPr/>
          <p:nvPr/>
        </p:nvSpPr>
        <p:spPr>
          <a:xfrm>
            <a:off x="6675120" y="4846320"/>
            <a:ext cx="507456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FFFFFF"/>
                </a:solidFill>
                <a:effectLst/>
                <a:uFillTx/>
                <a:latin typeface="Arial"/>
                <a:ea typeface="Arial"/>
              </a:rPr>
              <a:t>An honest "no", with the receipt. If the evidence does not answer the question, the planner is asked again, up to five rounds, before the answer is composed.</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04" name="Image 0" descr="/tmp/claude-1000/-home-bdgr-Agents-Ariadne/eca9f446-3ea1-4c07-8826-cc7003be2e12/scratchpad/assets/fsu-garnet-gold.png"/>
          <p:cNvPicPr/>
          <p:nvPr/>
        </p:nvPicPr>
        <p:blipFill>
          <a:blip r:embed="rId1"/>
          <a:stretch/>
        </p:blipFill>
        <p:spPr>
          <a:xfrm>
            <a:off x="457200" y="292680"/>
            <a:ext cx="1105920" cy="456840"/>
          </a:xfrm>
          <a:prstGeom prst="rect">
            <a:avLst/>
          </a:prstGeom>
          <a:noFill/>
          <a:ln w="0">
            <a:noFill/>
          </a:ln>
        </p:spPr>
      </p:pic>
      <p:pic>
        <p:nvPicPr>
          <p:cNvPr id="205" name="Image 1" descr="/tmp/claude-1000/-home-bdgr-Agents-Ariadne/eca9f446-3ea1-4c07-8826-cc7003be2e12/scratchpad/assets/reliaquest.png"/>
          <p:cNvPicPr/>
          <p:nvPr/>
        </p:nvPicPr>
        <p:blipFill>
          <a:blip r:embed="rId2"/>
          <a:stretch/>
        </p:blipFill>
        <p:spPr>
          <a:xfrm>
            <a:off x="1874520" y="374760"/>
            <a:ext cx="1325520" cy="292320"/>
          </a:xfrm>
          <a:prstGeom prst="rect">
            <a:avLst/>
          </a:prstGeom>
          <a:noFill/>
          <a:ln w="0">
            <a:noFill/>
          </a:ln>
        </p:spPr>
      </p:pic>
      <p:pic>
        <p:nvPicPr>
          <p:cNvPr id="206" name="Image 2" descr="/tmp/claude-1000/-home-bdgr-Agents-Ariadne/eca9f446-3ea1-4c07-8826-cc7003be2e12/scratchpad/assets/ariadne-mark.png"/>
          <p:cNvPicPr/>
          <p:nvPr/>
        </p:nvPicPr>
        <p:blipFill>
          <a:blip r:embed="rId3"/>
          <a:stretch/>
        </p:blipFill>
        <p:spPr>
          <a:xfrm>
            <a:off x="11201400" y="274320"/>
            <a:ext cx="529920" cy="456840"/>
          </a:xfrm>
          <a:prstGeom prst="rect">
            <a:avLst/>
          </a:prstGeom>
          <a:noFill/>
          <a:ln w="0">
            <a:noFill/>
          </a:ln>
        </p:spPr>
      </p:pic>
      <p:sp>
        <p:nvSpPr>
          <p:cNvPr id="207" name="Text 0"/>
          <p:cNvSpPr/>
          <p:nvPr/>
        </p:nvSpPr>
        <p:spPr>
          <a:xfrm>
            <a:off x="10607040" y="6510600"/>
            <a:ext cx="11426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101820"/>
                </a:solidFill>
                <a:effectLst/>
                <a:uFillTx/>
                <a:latin typeface="Arial"/>
                <a:ea typeface="Arial"/>
              </a:rPr>
              <a:t>8 / 13</a:t>
            </a:r>
            <a:endParaRPr lang="en-US" sz="900" b="0" u="none" strike="noStrike">
              <a:solidFill>
                <a:srgbClr val="000000"/>
              </a:solidFill>
              <a:effectLst/>
              <a:uFillTx/>
              <a:latin typeface="Arial"/>
            </a:endParaRPr>
          </a:p>
        </p:txBody>
      </p:sp>
      <p:sp>
        <p:nvSpPr>
          <p:cNvPr id="208" name="Text 1"/>
          <p:cNvSpPr/>
          <p:nvPr/>
        </p:nvSpPr>
        <p:spPr>
          <a:xfrm>
            <a:off x="457200" y="6510600"/>
            <a:ext cx="96008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101820"/>
                </a:solidFill>
                <a:effectLst/>
                <a:uFillTx/>
                <a:latin typeface="Arial"/>
                <a:ea typeface="Arial"/>
              </a:rPr>
              <a:t>Live capture of the Ariadne workbench, September 15, 2026, both sources live. A 30-second clip of this run replaces the still in the final deck.</a:t>
            </a:r>
            <a:endParaRPr lang="en-US" sz="900" b="0" u="none" strike="noStrike">
              <a:solidFill>
                <a:srgbClr val="000000"/>
              </a:solidFill>
              <a:effectLst/>
              <a:uFillTx/>
              <a:latin typeface="Arial"/>
            </a:endParaRPr>
          </a:p>
        </p:txBody>
      </p:sp>
      <p:sp>
        <p:nvSpPr>
          <p:cNvPr id="209" name="Text 2"/>
          <p:cNvSpPr/>
          <p:nvPr/>
        </p:nvSpPr>
        <p:spPr>
          <a:xfrm>
            <a:off x="457200" y="868680"/>
            <a:ext cx="112467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782F40"/>
                </a:solidFill>
                <a:effectLst/>
                <a:uFillTx/>
                <a:latin typeface="Arial"/>
                <a:ea typeface="Arial"/>
              </a:rPr>
              <a:t>The workbench: ask, watch it run, open the receipts</a:t>
            </a:r>
            <a:endParaRPr lang="en-US" sz="3000" b="0" u="none" strike="noStrike">
              <a:solidFill>
                <a:srgbClr val="000000"/>
              </a:solidFill>
              <a:effectLst/>
              <a:uFillTx/>
              <a:latin typeface="Arial"/>
            </a:endParaRPr>
          </a:p>
        </p:txBody>
      </p:sp>
      <p:pic>
        <p:nvPicPr>
          <p:cNvPr id="210" name="Image 3" descr="/tmp/claude-1000/-home-bdgr-Agents-Ariadne/eca9f446-3ea1-4c07-8826-cc7003be2e12/scratchpad/assets/workbench-answer.png"/>
          <p:cNvPicPr/>
          <p:nvPr/>
        </p:nvPicPr>
        <p:blipFill>
          <a:blip r:embed="rId4"/>
          <a:stretch/>
        </p:blipFill>
        <p:spPr>
          <a:xfrm>
            <a:off x="457200" y="1600200"/>
            <a:ext cx="7589160" cy="4644720"/>
          </a:xfrm>
          <a:prstGeom prst="rect">
            <a:avLst/>
          </a:prstGeom>
          <a:noFill/>
          <a:ln w="0">
            <a:noFill/>
          </a:ln>
        </p:spPr>
      </p:pic>
      <p:sp>
        <p:nvSpPr>
          <p:cNvPr id="211" name="Shape 3"/>
          <p:cNvSpPr/>
          <p:nvPr/>
        </p:nvSpPr>
        <p:spPr>
          <a:xfrm>
            <a:off x="2540520" y="2257560"/>
            <a:ext cx="310680" cy="31068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2" name="Text 4"/>
          <p:cNvSpPr/>
          <p:nvPr/>
        </p:nvSpPr>
        <p:spPr>
          <a:xfrm>
            <a:off x="2540520" y="225756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01820"/>
                </a:solidFill>
                <a:effectLst/>
                <a:uFillTx/>
                <a:latin typeface="Arial"/>
                <a:ea typeface="Arial"/>
              </a:rPr>
              <a:t>1</a:t>
            </a:r>
            <a:endParaRPr lang="en-US" sz="1200" b="0" u="none" strike="noStrike">
              <a:solidFill>
                <a:srgbClr val="000000"/>
              </a:solidFill>
              <a:effectLst/>
              <a:uFillTx/>
              <a:latin typeface="Arial"/>
            </a:endParaRPr>
          </a:p>
        </p:txBody>
      </p:sp>
      <p:sp>
        <p:nvSpPr>
          <p:cNvPr id="213" name="Shape 5"/>
          <p:cNvSpPr/>
          <p:nvPr/>
        </p:nvSpPr>
        <p:spPr>
          <a:xfrm>
            <a:off x="5787000" y="2574000"/>
            <a:ext cx="310680" cy="31068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4" name="Text 6"/>
          <p:cNvSpPr/>
          <p:nvPr/>
        </p:nvSpPr>
        <p:spPr>
          <a:xfrm>
            <a:off x="5787000" y="257400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01820"/>
                </a:solidFill>
                <a:effectLst/>
                <a:uFillTx/>
                <a:latin typeface="Arial"/>
                <a:ea typeface="Arial"/>
              </a:rPr>
              <a:t>2</a:t>
            </a:r>
            <a:endParaRPr lang="en-US" sz="1200" b="0" u="none" strike="noStrike">
              <a:solidFill>
                <a:srgbClr val="000000"/>
              </a:solidFill>
              <a:effectLst/>
              <a:uFillTx/>
              <a:latin typeface="Arial"/>
            </a:endParaRPr>
          </a:p>
        </p:txBody>
      </p:sp>
      <p:sp>
        <p:nvSpPr>
          <p:cNvPr id="215" name="Shape 7"/>
          <p:cNvSpPr/>
          <p:nvPr/>
        </p:nvSpPr>
        <p:spPr>
          <a:xfrm>
            <a:off x="6172200" y="4032720"/>
            <a:ext cx="310680" cy="31068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6" name="Text 8"/>
          <p:cNvSpPr/>
          <p:nvPr/>
        </p:nvSpPr>
        <p:spPr>
          <a:xfrm>
            <a:off x="6172200" y="403272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01820"/>
                </a:solidFill>
                <a:effectLst/>
                <a:uFillTx/>
                <a:latin typeface="Arial"/>
                <a:ea typeface="Arial"/>
              </a:rPr>
              <a:t>3</a:t>
            </a:r>
            <a:endParaRPr lang="en-US" sz="1200" b="0" u="none" strike="noStrike">
              <a:solidFill>
                <a:srgbClr val="000000"/>
              </a:solidFill>
              <a:effectLst/>
              <a:uFillTx/>
              <a:latin typeface="Arial"/>
            </a:endParaRPr>
          </a:p>
        </p:txBody>
      </p:sp>
      <p:sp>
        <p:nvSpPr>
          <p:cNvPr id="217" name="Shape 9"/>
          <p:cNvSpPr/>
          <p:nvPr/>
        </p:nvSpPr>
        <p:spPr>
          <a:xfrm>
            <a:off x="1857600" y="3442320"/>
            <a:ext cx="310680" cy="31068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8" name="Text 10"/>
          <p:cNvSpPr/>
          <p:nvPr/>
        </p:nvSpPr>
        <p:spPr>
          <a:xfrm>
            <a:off x="1857600" y="344232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01820"/>
                </a:solidFill>
                <a:effectLst/>
                <a:uFillTx/>
                <a:latin typeface="Arial"/>
                <a:ea typeface="Arial"/>
              </a:rPr>
              <a:t>4</a:t>
            </a:r>
            <a:endParaRPr lang="en-US" sz="1200" b="0" u="none" strike="noStrike">
              <a:solidFill>
                <a:srgbClr val="000000"/>
              </a:solidFill>
              <a:effectLst/>
              <a:uFillTx/>
              <a:latin typeface="Arial"/>
            </a:endParaRPr>
          </a:p>
        </p:txBody>
      </p:sp>
      <p:sp>
        <p:nvSpPr>
          <p:cNvPr id="219" name="Shape 11"/>
          <p:cNvSpPr/>
          <p:nvPr/>
        </p:nvSpPr>
        <p:spPr>
          <a:xfrm>
            <a:off x="1910880" y="5880960"/>
            <a:ext cx="310680" cy="31068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0" name="Text 12"/>
          <p:cNvSpPr/>
          <p:nvPr/>
        </p:nvSpPr>
        <p:spPr>
          <a:xfrm>
            <a:off x="1910880" y="588096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01820"/>
                </a:solidFill>
                <a:effectLst/>
                <a:uFillTx/>
                <a:latin typeface="Arial"/>
                <a:ea typeface="Arial"/>
              </a:rPr>
              <a:t>5</a:t>
            </a:r>
            <a:endParaRPr lang="en-US" sz="1200" b="0" u="none" strike="noStrike">
              <a:solidFill>
                <a:srgbClr val="000000"/>
              </a:solidFill>
              <a:effectLst/>
              <a:uFillTx/>
              <a:latin typeface="Arial"/>
            </a:endParaRPr>
          </a:p>
        </p:txBody>
      </p:sp>
      <p:sp>
        <p:nvSpPr>
          <p:cNvPr id="221" name="Shape 13"/>
          <p:cNvSpPr/>
          <p:nvPr/>
        </p:nvSpPr>
        <p:spPr>
          <a:xfrm>
            <a:off x="8321040" y="1691640"/>
            <a:ext cx="310680" cy="31068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2" name="Text 14"/>
          <p:cNvSpPr/>
          <p:nvPr/>
        </p:nvSpPr>
        <p:spPr>
          <a:xfrm>
            <a:off x="8321040" y="169164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01820"/>
                </a:solidFill>
                <a:effectLst/>
                <a:uFillTx/>
                <a:latin typeface="Arial"/>
                <a:ea typeface="Arial"/>
              </a:rPr>
              <a:t>1</a:t>
            </a:r>
            <a:endParaRPr lang="en-US" sz="1200" b="0" u="none" strike="noStrike">
              <a:solidFill>
                <a:srgbClr val="000000"/>
              </a:solidFill>
              <a:effectLst/>
              <a:uFillTx/>
              <a:latin typeface="Arial"/>
            </a:endParaRPr>
          </a:p>
        </p:txBody>
      </p:sp>
      <p:sp>
        <p:nvSpPr>
          <p:cNvPr id="223" name="Text 15"/>
          <p:cNvSpPr/>
          <p:nvPr/>
        </p:nvSpPr>
        <p:spPr>
          <a:xfrm>
            <a:off x="8732520" y="1664280"/>
            <a:ext cx="30171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782F40"/>
                </a:solidFill>
                <a:effectLst/>
                <a:uFillTx/>
                <a:latin typeface="Arial"/>
                <a:ea typeface="Arial"/>
              </a:rPr>
              <a:t>The question</a:t>
            </a:r>
            <a:endParaRPr lang="en-US" sz="1300" b="0" u="none" strike="noStrike">
              <a:solidFill>
                <a:srgbClr val="000000"/>
              </a:solidFill>
              <a:effectLst/>
              <a:uFillTx/>
              <a:latin typeface="Arial"/>
            </a:endParaRPr>
          </a:p>
        </p:txBody>
      </p:sp>
      <p:sp>
        <p:nvSpPr>
          <p:cNvPr id="224" name="Text 16"/>
          <p:cNvSpPr/>
          <p:nvPr/>
        </p:nvSpPr>
        <p:spPr>
          <a:xfrm>
            <a:off x="8732520" y="1947600"/>
            <a:ext cx="3017160" cy="621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01820"/>
                </a:solidFill>
                <a:effectLst/>
                <a:uFillTx/>
                <a:latin typeface="Arial"/>
                <a:ea typeface="Arial"/>
              </a:rPr>
              <a:t>plain English, identifiers optional</a:t>
            </a:r>
            <a:endParaRPr lang="en-US" sz="1100" b="0" u="none" strike="noStrike">
              <a:solidFill>
                <a:srgbClr val="000000"/>
              </a:solidFill>
              <a:effectLst/>
              <a:uFillTx/>
              <a:latin typeface="Arial"/>
            </a:endParaRPr>
          </a:p>
        </p:txBody>
      </p:sp>
      <p:sp>
        <p:nvSpPr>
          <p:cNvPr id="225" name="Shape 17"/>
          <p:cNvSpPr/>
          <p:nvPr/>
        </p:nvSpPr>
        <p:spPr>
          <a:xfrm>
            <a:off x="8321040" y="2587680"/>
            <a:ext cx="310680" cy="31068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6" name="Text 18"/>
          <p:cNvSpPr/>
          <p:nvPr/>
        </p:nvSpPr>
        <p:spPr>
          <a:xfrm>
            <a:off x="8321040" y="258768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01820"/>
                </a:solidFill>
                <a:effectLst/>
                <a:uFillTx/>
                <a:latin typeface="Arial"/>
                <a:ea typeface="Arial"/>
              </a:rPr>
              <a:t>2</a:t>
            </a:r>
            <a:endParaRPr lang="en-US" sz="1200" b="0" u="none" strike="noStrike">
              <a:solidFill>
                <a:srgbClr val="000000"/>
              </a:solidFill>
              <a:effectLst/>
              <a:uFillTx/>
              <a:latin typeface="Arial"/>
            </a:endParaRPr>
          </a:p>
        </p:txBody>
      </p:sp>
      <p:sp>
        <p:nvSpPr>
          <p:cNvPr id="227" name="Text 19"/>
          <p:cNvSpPr/>
          <p:nvPr/>
        </p:nvSpPr>
        <p:spPr>
          <a:xfrm>
            <a:off x="8732520" y="2560320"/>
            <a:ext cx="30171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782F40"/>
                </a:solidFill>
                <a:effectLst/>
                <a:uFillTx/>
                <a:latin typeface="Arial"/>
                <a:ea typeface="Arial"/>
              </a:rPr>
              <a:t>The plan and its gate</a:t>
            </a:r>
            <a:endParaRPr lang="en-US" sz="1300" b="0" u="none" strike="noStrike">
              <a:solidFill>
                <a:srgbClr val="000000"/>
              </a:solidFill>
              <a:effectLst/>
              <a:uFillTx/>
              <a:latin typeface="Arial"/>
            </a:endParaRPr>
          </a:p>
        </p:txBody>
      </p:sp>
      <p:sp>
        <p:nvSpPr>
          <p:cNvPr id="228" name="Text 20"/>
          <p:cNvSpPr/>
          <p:nvPr/>
        </p:nvSpPr>
        <p:spPr>
          <a:xfrm>
            <a:off x="8732520" y="2843640"/>
            <a:ext cx="3017160" cy="621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01820"/>
                </a:solidFill>
                <a:effectLst/>
                <a:uFillTx/>
                <a:latin typeface="Arial"/>
                <a:ea typeface="Arial"/>
              </a:rPr>
              <a:t>which sources, which sub-questions, why it passed</a:t>
            </a:r>
            <a:endParaRPr lang="en-US" sz="1100" b="0" u="none" strike="noStrike">
              <a:solidFill>
                <a:srgbClr val="000000"/>
              </a:solidFill>
              <a:effectLst/>
              <a:uFillTx/>
              <a:latin typeface="Arial"/>
            </a:endParaRPr>
          </a:p>
        </p:txBody>
      </p:sp>
      <p:sp>
        <p:nvSpPr>
          <p:cNvPr id="229" name="Shape 21"/>
          <p:cNvSpPr/>
          <p:nvPr/>
        </p:nvSpPr>
        <p:spPr>
          <a:xfrm>
            <a:off x="8321040" y="3483720"/>
            <a:ext cx="310680" cy="31068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0" name="Text 22"/>
          <p:cNvSpPr/>
          <p:nvPr/>
        </p:nvSpPr>
        <p:spPr>
          <a:xfrm>
            <a:off x="8321040" y="348372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01820"/>
                </a:solidFill>
                <a:effectLst/>
                <a:uFillTx/>
                <a:latin typeface="Arial"/>
                <a:ea typeface="Arial"/>
              </a:rPr>
              <a:t>3</a:t>
            </a:r>
            <a:endParaRPr lang="en-US" sz="1200" b="0" u="none" strike="noStrike">
              <a:solidFill>
                <a:srgbClr val="000000"/>
              </a:solidFill>
              <a:effectLst/>
              <a:uFillTx/>
              <a:latin typeface="Arial"/>
            </a:endParaRPr>
          </a:p>
        </p:txBody>
      </p:sp>
      <p:sp>
        <p:nvSpPr>
          <p:cNvPr id="231" name="Text 23"/>
          <p:cNvSpPr/>
          <p:nvPr/>
        </p:nvSpPr>
        <p:spPr>
          <a:xfrm>
            <a:off x="8732520" y="3456360"/>
            <a:ext cx="30171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782F40"/>
                </a:solidFill>
                <a:effectLst/>
                <a:uFillTx/>
                <a:latin typeface="Arial"/>
                <a:ea typeface="Arial"/>
              </a:rPr>
              <a:t>One lane per database</a:t>
            </a:r>
            <a:endParaRPr lang="en-US" sz="1300" b="0" u="none" strike="noStrike">
              <a:solidFill>
                <a:srgbClr val="000000"/>
              </a:solidFill>
              <a:effectLst/>
              <a:uFillTx/>
              <a:latin typeface="Arial"/>
            </a:endParaRPr>
          </a:p>
        </p:txBody>
      </p:sp>
      <p:sp>
        <p:nvSpPr>
          <p:cNvPr id="232" name="Text 24"/>
          <p:cNvSpPr/>
          <p:nvPr/>
        </p:nvSpPr>
        <p:spPr>
          <a:xfrm>
            <a:off x="8732520" y="3740040"/>
            <a:ext cx="3017160" cy="621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01820"/>
                </a:solidFill>
                <a:effectLst/>
                <a:uFillTx/>
                <a:latin typeface="Arial"/>
                <a:ea typeface="Arial"/>
              </a:rPr>
              <a:t>the validated query, in that database's own language</a:t>
            </a:r>
            <a:endParaRPr lang="en-US" sz="1100" b="0" u="none" strike="noStrike">
              <a:solidFill>
                <a:srgbClr val="000000"/>
              </a:solidFill>
              <a:effectLst/>
              <a:uFillTx/>
              <a:latin typeface="Arial"/>
            </a:endParaRPr>
          </a:p>
        </p:txBody>
      </p:sp>
      <p:sp>
        <p:nvSpPr>
          <p:cNvPr id="233" name="Shape 25"/>
          <p:cNvSpPr/>
          <p:nvPr/>
        </p:nvSpPr>
        <p:spPr>
          <a:xfrm>
            <a:off x="8321040" y="4380120"/>
            <a:ext cx="310680" cy="31068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4" name="Text 26"/>
          <p:cNvSpPr/>
          <p:nvPr/>
        </p:nvSpPr>
        <p:spPr>
          <a:xfrm>
            <a:off x="8321040" y="438012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01820"/>
                </a:solidFill>
                <a:effectLst/>
                <a:uFillTx/>
                <a:latin typeface="Arial"/>
                <a:ea typeface="Arial"/>
              </a:rPr>
              <a:t>4</a:t>
            </a:r>
            <a:endParaRPr lang="en-US" sz="1200" b="0" u="none" strike="noStrike">
              <a:solidFill>
                <a:srgbClr val="000000"/>
              </a:solidFill>
              <a:effectLst/>
              <a:uFillTx/>
              <a:latin typeface="Arial"/>
            </a:endParaRPr>
          </a:p>
        </p:txBody>
      </p:sp>
      <p:sp>
        <p:nvSpPr>
          <p:cNvPr id="235" name="Text 27"/>
          <p:cNvSpPr/>
          <p:nvPr/>
        </p:nvSpPr>
        <p:spPr>
          <a:xfrm>
            <a:off x="8732520" y="4352400"/>
            <a:ext cx="30171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782F40"/>
                </a:solidFill>
                <a:effectLst/>
                <a:uFillTx/>
                <a:latin typeface="Arial"/>
                <a:ea typeface="Arial"/>
              </a:rPr>
              <a:t>The answer</a:t>
            </a:r>
            <a:endParaRPr lang="en-US" sz="1300" b="0" u="none" strike="noStrike">
              <a:solidFill>
                <a:srgbClr val="000000"/>
              </a:solidFill>
              <a:effectLst/>
              <a:uFillTx/>
              <a:latin typeface="Arial"/>
            </a:endParaRPr>
          </a:p>
        </p:txBody>
      </p:sp>
      <p:sp>
        <p:nvSpPr>
          <p:cNvPr id="236" name="Text 28"/>
          <p:cNvSpPr/>
          <p:nvPr/>
        </p:nvSpPr>
        <p:spPr>
          <a:xfrm>
            <a:off x="8732520" y="4636080"/>
            <a:ext cx="3017160" cy="621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01820"/>
                </a:solidFill>
                <a:effectLst/>
                <a:uFillTx/>
                <a:latin typeface="Arial"/>
                <a:ea typeface="Arial"/>
              </a:rPr>
              <a:t>every identifier is a citation you can open</a:t>
            </a:r>
            <a:endParaRPr lang="en-US" sz="1100" b="0" u="none" strike="noStrike">
              <a:solidFill>
                <a:srgbClr val="000000"/>
              </a:solidFill>
              <a:effectLst/>
              <a:uFillTx/>
              <a:latin typeface="Arial"/>
            </a:endParaRPr>
          </a:p>
        </p:txBody>
      </p:sp>
      <p:sp>
        <p:nvSpPr>
          <p:cNvPr id="237" name="Shape 29"/>
          <p:cNvSpPr/>
          <p:nvPr/>
        </p:nvSpPr>
        <p:spPr>
          <a:xfrm>
            <a:off x="8321040" y="5276160"/>
            <a:ext cx="310680" cy="31068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8" name="Text 30"/>
          <p:cNvSpPr/>
          <p:nvPr/>
        </p:nvSpPr>
        <p:spPr>
          <a:xfrm>
            <a:off x="8321040" y="527616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01820"/>
                </a:solidFill>
                <a:effectLst/>
                <a:uFillTx/>
                <a:latin typeface="Arial"/>
                <a:ea typeface="Arial"/>
              </a:rPr>
              <a:t>5</a:t>
            </a:r>
            <a:endParaRPr lang="en-US" sz="1200" b="0" u="none" strike="noStrike">
              <a:solidFill>
                <a:srgbClr val="000000"/>
              </a:solidFill>
              <a:effectLst/>
              <a:uFillTx/>
              <a:latin typeface="Arial"/>
            </a:endParaRPr>
          </a:p>
        </p:txBody>
      </p:sp>
      <p:sp>
        <p:nvSpPr>
          <p:cNvPr id="239" name="Text 31"/>
          <p:cNvSpPr/>
          <p:nvPr/>
        </p:nvSpPr>
        <p:spPr>
          <a:xfrm>
            <a:off x="8732520" y="5248800"/>
            <a:ext cx="30171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782F40"/>
                </a:solidFill>
                <a:effectLst/>
                <a:uFillTx/>
                <a:latin typeface="Arial"/>
                <a:ea typeface="Arial"/>
              </a:rPr>
              <a:t>Three controls, off by default</a:t>
            </a:r>
            <a:endParaRPr lang="en-US" sz="1300" b="0" u="none" strike="noStrike">
              <a:solidFill>
                <a:srgbClr val="000000"/>
              </a:solidFill>
              <a:effectLst/>
              <a:uFillTx/>
              <a:latin typeface="Arial"/>
            </a:endParaRPr>
          </a:p>
        </p:txBody>
      </p:sp>
      <p:sp>
        <p:nvSpPr>
          <p:cNvPr id="240" name="Text 32"/>
          <p:cNvSpPr/>
          <p:nvPr/>
        </p:nvSpPr>
        <p:spPr>
          <a:xfrm>
            <a:off x="8732520" y="5532120"/>
            <a:ext cx="3017160" cy="621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01820"/>
                </a:solidFill>
                <a:effectLst/>
                <a:uFillTx/>
                <a:latin typeface="Arial"/>
                <a:ea typeface="Arial"/>
              </a:rPr>
              <a:t>Verify asks a model for a second opinion; Prose asks a model to write over the verified claims; Thinking sets its budget</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82F40"/>
        </a:solidFill>
      </p:bgPr>
    </p:bg>
    <p:spTree>
      <p:nvGrpSpPr>
        <p:cNvPr id="1" name=""/>
        <p:cNvGrpSpPr/>
        <p:nvPr/>
      </p:nvGrpSpPr>
      <p:grpSpPr>
        <a:xfrm>
          <a:off x="0" y="0"/>
          <a:ext cx="0" cy="0"/>
          <a:chOff x="0" y="0"/>
          <a:chExt cx="0" cy="0"/>
        </a:xfrm>
      </p:grpSpPr>
      <p:pic>
        <p:nvPicPr>
          <p:cNvPr id="241" name="Image 0" descr="/tmp/claude-1000/-home-bdgr-Agents-Ariadne/eca9f446-3ea1-4c07-8826-cc7003be2e12/scratchpad/assets/fsu-white.png"/>
          <p:cNvPicPr/>
          <p:nvPr/>
        </p:nvPicPr>
        <p:blipFill>
          <a:blip r:embed="rId1"/>
          <a:stretch/>
        </p:blipFill>
        <p:spPr>
          <a:xfrm>
            <a:off x="457200" y="292680"/>
            <a:ext cx="1105920" cy="456840"/>
          </a:xfrm>
          <a:prstGeom prst="rect">
            <a:avLst/>
          </a:prstGeom>
          <a:noFill/>
          <a:ln w="0">
            <a:noFill/>
          </a:ln>
        </p:spPr>
      </p:pic>
      <p:pic>
        <p:nvPicPr>
          <p:cNvPr id="242" name="Image 1" descr="/tmp/claude-1000/-home-bdgr-Agents-Ariadne/eca9f446-3ea1-4c07-8826-cc7003be2e12/scratchpad/assets/reliaquest-on-dark.png"/>
          <p:cNvPicPr/>
          <p:nvPr/>
        </p:nvPicPr>
        <p:blipFill>
          <a:blip r:embed="rId2"/>
          <a:stretch/>
        </p:blipFill>
        <p:spPr>
          <a:xfrm>
            <a:off x="1874520" y="374760"/>
            <a:ext cx="1325520" cy="292320"/>
          </a:xfrm>
          <a:prstGeom prst="rect">
            <a:avLst/>
          </a:prstGeom>
          <a:noFill/>
          <a:ln w="0">
            <a:noFill/>
          </a:ln>
        </p:spPr>
      </p:pic>
      <p:pic>
        <p:nvPicPr>
          <p:cNvPr id="243" name="Image 2" descr="/tmp/claude-1000/-home-bdgr-Agents-Ariadne/eca9f446-3ea1-4c07-8826-cc7003be2e12/scratchpad/assets/ariadne-mark.png"/>
          <p:cNvPicPr/>
          <p:nvPr/>
        </p:nvPicPr>
        <p:blipFill>
          <a:blip r:embed="rId3"/>
          <a:stretch/>
        </p:blipFill>
        <p:spPr>
          <a:xfrm>
            <a:off x="11201400" y="274320"/>
            <a:ext cx="529920" cy="456840"/>
          </a:xfrm>
          <a:prstGeom prst="rect">
            <a:avLst/>
          </a:prstGeom>
          <a:noFill/>
          <a:ln w="0">
            <a:noFill/>
          </a:ln>
        </p:spPr>
      </p:pic>
      <p:sp>
        <p:nvSpPr>
          <p:cNvPr id="244" name="Text 0"/>
          <p:cNvSpPr/>
          <p:nvPr/>
        </p:nvSpPr>
        <p:spPr>
          <a:xfrm>
            <a:off x="10607040" y="6510600"/>
            <a:ext cx="11426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DFD1A7"/>
                </a:solidFill>
                <a:effectLst/>
                <a:uFillTx/>
                <a:latin typeface="Arial"/>
                <a:ea typeface="Arial"/>
              </a:rPr>
              <a:t>9 / 13</a:t>
            </a:r>
            <a:endParaRPr lang="en-US" sz="900" b="0" u="none" strike="noStrike">
              <a:solidFill>
                <a:srgbClr val="FFFFFF"/>
              </a:solidFill>
              <a:effectLst/>
              <a:uFillTx/>
              <a:latin typeface="Arial"/>
            </a:endParaRPr>
          </a:p>
        </p:txBody>
      </p:sp>
      <p:sp>
        <p:nvSpPr>
          <p:cNvPr id="245" name="Text 1"/>
          <p:cNvSpPr/>
          <p:nvPr/>
        </p:nvSpPr>
        <p:spPr>
          <a:xfrm>
            <a:off x="457200" y="6510600"/>
            <a:ext cx="96008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DFD1A7"/>
                </a:solidFill>
                <a:effectLst/>
                <a:uFillTx/>
                <a:latin typeface="Arial"/>
                <a:ea typeface="Arial"/>
              </a:rPr>
              <a:t>Sources: EXP-2026-08-013 (three sources) · EXP-2026-08-017 (federate vs. merge) · EXP-2026-08-016 (safety audit), docs/research/.</a:t>
            </a:r>
            <a:endParaRPr lang="en-US" sz="900" b="0" u="none" strike="noStrike">
              <a:solidFill>
                <a:srgbClr val="FFFFFF"/>
              </a:solidFill>
              <a:effectLst/>
              <a:uFillTx/>
              <a:latin typeface="Arial"/>
            </a:endParaRPr>
          </a:p>
        </p:txBody>
      </p:sp>
      <p:sp>
        <p:nvSpPr>
          <p:cNvPr id="246" name="Text 2"/>
          <p:cNvSpPr/>
          <p:nvPr/>
        </p:nvSpPr>
        <p:spPr>
          <a:xfrm>
            <a:off x="457200" y="868680"/>
            <a:ext cx="112467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FFFFFF"/>
                </a:solidFill>
                <a:effectLst/>
                <a:uFillTx/>
                <a:latin typeface="Arial"/>
                <a:ea typeface="Arial"/>
              </a:rPr>
              <a:t>It scales across databases</a:t>
            </a:r>
            <a:endParaRPr lang="en-US" sz="3000" b="0" u="none" strike="noStrike">
              <a:solidFill>
                <a:srgbClr val="FFFFFF"/>
              </a:solidFill>
              <a:effectLst/>
              <a:uFillTx/>
              <a:latin typeface="Arial"/>
            </a:endParaRPr>
          </a:p>
        </p:txBody>
      </p:sp>
      <p:sp>
        <p:nvSpPr>
          <p:cNvPr id="247" name="Shape 3"/>
          <p:cNvSpPr/>
          <p:nvPr/>
        </p:nvSpPr>
        <p:spPr>
          <a:xfrm>
            <a:off x="457200" y="1737360"/>
            <a:ext cx="3565800" cy="3245760"/>
          </a:xfrm>
          <a:prstGeom prst="roundRect">
            <a:avLst>
              <a:gd name="adj" fmla="val 3380"/>
            </a:avLst>
          </a:prstGeom>
          <a:solidFill>
            <a:srgbClr val="572932"/>
          </a:solidFill>
          <a:ln w="12700">
            <a:solidFill>
              <a:srgbClr val="57293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8" name="Text 4"/>
          <p:cNvSpPr/>
          <p:nvPr/>
        </p:nvSpPr>
        <p:spPr>
          <a:xfrm>
            <a:off x="731520" y="1965960"/>
            <a:ext cx="301716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400" b="1" u="none" strike="noStrike">
                <a:solidFill>
                  <a:srgbClr val="CEB888"/>
                </a:solidFill>
                <a:effectLst/>
                <a:uFillTx/>
                <a:latin typeface="Arial"/>
                <a:ea typeface="Arial"/>
              </a:rPr>
              <a:t>3 · 2 · 1</a:t>
            </a:r>
            <a:endParaRPr lang="en-US" sz="4400" b="0" u="none" strike="noStrike">
              <a:solidFill>
                <a:srgbClr val="FFFFFF"/>
              </a:solidFill>
              <a:effectLst/>
              <a:uFillTx/>
              <a:latin typeface="Arial"/>
            </a:endParaRPr>
          </a:p>
        </p:txBody>
      </p:sp>
      <p:sp>
        <p:nvSpPr>
          <p:cNvPr id="249" name="Text 5"/>
          <p:cNvSpPr/>
          <p:nvPr/>
        </p:nvSpPr>
        <p:spPr>
          <a:xfrm>
            <a:off x="731520" y="2880360"/>
            <a:ext cx="301716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rgbClr val="FFFFFF"/>
                </a:solidFill>
                <a:effectLst/>
                <a:uFillTx/>
                <a:latin typeface="Arial"/>
                <a:ea typeface="Arial"/>
              </a:rPr>
              <a:t>databases · query languages · one process</a:t>
            </a:r>
            <a:endParaRPr lang="en-US" sz="1300" b="0" u="none" strike="noStrike">
              <a:solidFill>
                <a:srgbClr val="FFFFFF"/>
              </a:solidFill>
              <a:effectLst/>
              <a:uFillTx/>
              <a:latin typeface="Arial"/>
            </a:endParaRPr>
          </a:p>
        </p:txBody>
      </p:sp>
      <p:sp>
        <p:nvSpPr>
          <p:cNvPr id="250" name="Text 6"/>
          <p:cNvSpPr/>
          <p:nvPr/>
        </p:nvSpPr>
        <p:spPr>
          <a:xfrm>
            <a:off x="731520" y="3520440"/>
            <a:ext cx="301716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DFD1A7"/>
                </a:solidFill>
                <a:effectLst/>
                <a:uFillTx/>
                <a:latin typeface="Arial"/>
                <a:ea typeface="Arial"/>
              </a:rPr>
              <a:t>Nothing about the questions changed when the third database was added.</a:t>
            </a:r>
            <a:endParaRPr lang="en-US" sz="1200" b="0" u="none" strike="noStrike">
              <a:solidFill>
                <a:srgbClr val="FFFFFF"/>
              </a:solidFill>
              <a:effectLst/>
              <a:uFillTx/>
              <a:latin typeface="Arial"/>
            </a:endParaRPr>
          </a:p>
        </p:txBody>
      </p:sp>
      <p:sp>
        <p:nvSpPr>
          <p:cNvPr id="251" name="Shape 7"/>
          <p:cNvSpPr/>
          <p:nvPr/>
        </p:nvSpPr>
        <p:spPr>
          <a:xfrm>
            <a:off x="4297680" y="1737360"/>
            <a:ext cx="3565800" cy="3245760"/>
          </a:xfrm>
          <a:prstGeom prst="roundRect">
            <a:avLst>
              <a:gd name="adj" fmla="val 3380"/>
            </a:avLst>
          </a:prstGeom>
          <a:solidFill>
            <a:srgbClr val="572932"/>
          </a:solidFill>
          <a:ln w="12700">
            <a:solidFill>
              <a:srgbClr val="57293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2" name="Text 8"/>
          <p:cNvSpPr/>
          <p:nvPr/>
        </p:nvSpPr>
        <p:spPr>
          <a:xfrm>
            <a:off x="4572000" y="1965960"/>
            <a:ext cx="301716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400" b="1" u="none" strike="noStrike">
                <a:solidFill>
                  <a:srgbClr val="CEB888"/>
                </a:solidFill>
                <a:effectLst/>
                <a:uFillTx/>
                <a:latin typeface="Arial"/>
                <a:ea typeface="Arial"/>
              </a:rPr>
              <a:t>0 vs 1,083</a:t>
            </a:r>
            <a:endParaRPr lang="en-US" sz="4400" b="0" u="none" strike="noStrike">
              <a:solidFill>
                <a:srgbClr val="FFFFFF"/>
              </a:solidFill>
              <a:effectLst/>
              <a:uFillTx/>
              <a:latin typeface="Arial"/>
            </a:endParaRPr>
          </a:p>
        </p:txBody>
      </p:sp>
      <p:sp>
        <p:nvSpPr>
          <p:cNvPr id="253" name="Text 9"/>
          <p:cNvSpPr/>
          <p:nvPr/>
        </p:nvSpPr>
        <p:spPr>
          <a:xfrm>
            <a:off x="4572000" y="2880360"/>
            <a:ext cx="301716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rgbClr val="FFFFFF"/>
                </a:solidFill>
                <a:effectLst/>
                <a:uFillTx/>
                <a:latin typeface="Arial"/>
                <a:ea typeface="Arial"/>
              </a:rPr>
              <a:t>records rewritten to answer across ATT&amp;CK and CAPEC</a:t>
            </a:r>
            <a:endParaRPr lang="en-US" sz="1300" b="0" u="none" strike="noStrike">
              <a:solidFill>
                <a:srgbClr val="FFFFFF"/>
              </a:solidFill>
              <a:effectLst/>
              <a:uFillTx/>
              <a:latin typeface="Arial"/>
            </a:endParaRPr>
          </a:p>
        </p:txBody>
      </p:sp>
      <p:sp>
        <p:nvSpPr>
          <p:cNvPr id="254" name="Text 10"/>
          <p:cNvSpPr/>
          <p:nvPr/>
        </p:nvSpPr>
        <p:spPr>
          <a:xfrm>
            <a:off x="4572000" y="3520440"/>
            <a:ext cx="301716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DFD1A7"/>
                </a:solidFill>
                <a:effectLst/>
                <a:uFillTx/>
                <a:latin typeface="Arial"/>
                <a:ea typeface="Arial"/>
              </a:rPr>
              <a:t>Federating edited nothing. Merging the two into one store rewrote 1,083 records, and the edit must be redone on every release.</a:t>
            </a:r>
            <a:endParaRPr lang="en-US" sz="1200" b="0" u="none" strike="noStrike">
              <a:solidFill>
                <a:srgbClr val="FFFFFF"/>
              </a:solidFill>
              <a:effectLst/>
              <a:uFillTx/>
              <a:latin typeface="Arial"/>
            </a:endParaRPr>
          </a:p>
        </p:txBody>
      </p:sp>
      <p:sp>
        <p:nvSpPr>
          <p:cNvPr id="255" name="Shape 11"/>
          <p:cNvSpPr/>
          <p:nvPr/>
        </p:nvSpPr>
        <p:spPr>
          <a:xfrm>
            <a:off x="8138160" y="1737360"/>
            <a:ext cx="3565800" cy="3245760"/>
          </a:xfrm>
          <a:prstGeom prst="roundRect">
            <a:avLst>
              <a:gd name="adj" fmla="val 3380"/>
            </a:avLst>
          </a:prstGeom>
          <a:solidFill>
            <a:srgbClr val="572932"/>
          </a:solidFill>
          <a:ln w="12700">
            <a:solidFill>
              <a:srgbClr val="57293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6" name="Text 12"/>
          <p:cNvSpPr/>
          <p:nvPr/>
        </p:nvSpPr>
        <p:spPr>
          <a:xfrm>
            <a:off x="8412480" y="1965960"/>
            <a:ext cx="301716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400" b="1" u="none" strike="noStrike">
                <a:solidFill>
                  <a:srgbClr val="CEB888"/>
                </a:solidFill>
                <a:effectLst/>
                <a:uFillTx/>
                <a:latin typeface="Arial"/>
                <a:ea typeface="Arial"/>
              </a:rPr>
              <a:t>240 / 240</a:t>
            </a:r>
            <a:endParaRPr lang="en-US" sz="4400" b="0" u="none" strike="noStrike">
              <a:solidFill>
                <a:srgbClr val="FFFFFF"/>
              </a:solidFill>
              <a:effectLst/>
              <a:uFillTx/>
              <a:latin typeface="Arial"/>
            </a:endParaRPr>
          </a:p>
        </p:txBody>
      </p:sp>
      <p:sp>
        <p:nvSpPr>
          <p:cNvPr id="257" name="Text 13"/>
          <p:cNvSpPr/>
          <p:nvPr/>
        </p:nvSpPr>
        <p:spPr>
          <a:xfrm>
            <a:off x="8412480" y="2880360"/>
            <a:ext cx="301716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rgbClr val="FFFFFF"/>
                </a:solidFill>
                <a:effectLst/>
                <a:uFillTx/>
                <a:latin typeface="Arial"/>
                <a:ea typeface="Arial"/>
              </a:rPr>
              <a:t>adversarial queries blocked before execution</a:t>
            </a:r>
            <a:endParaRPr lang="en-US" sz="1300" b="0" u="none" strike="noStrike">
              <a:solidFill>
                <a:srgbClr val="FFFFFF"/>
              </a:solidFill>
              <a:effectLst/>
              <a:uFillTx/>
              <a:latin typeface="Arial"/>
            </a:endParaRPr>
          </a:p>
        </p:txBody>
      </p:sp>
      <p:sp>
        <p:nvSpPr>
          <p:cNvPr id="258" name="Text 14"/>
          <p:cNvSpPr/>
          <p:nvPr/>
        </p:nvSpPr>
        <p:spPr>
          <a:xfrm>
            <a:off x="8412480" y="3520440"/>
            <a:ext cx="301716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DFD1A7"/>
                </a:solidFill>
                <a:effectLst/>
                <a:uFillTx/>
                <a:latin typeface="Arial"/>
                <a:ea typeface="Arial"/>
              </a:rPr>
              <a:t>After we found and closed 15 bypasses ourselves. Read-only, bounded, and card-checked, by code.</a:t>
            </a:r>
            <a:endParaRPr lang="en-US" sz="1200" b="0" u="none" strike="noStrike">
              <a:solidFill>
                <a:srgbClr val="FFFFFF"/>
              </a:solidFill>
              <a:effectLst/>
              <a:uFillTx/>
              <a:latin typeface="Arial"/>
            </a:endParaRPr>
          </a:p>
        </p:txBody>
      </p:sp>
      <p:sp>
        <p:nvSpPr>
          <p:cNvPr id="259" name="Text 15"/>
          <p:cNvSpPr/>
          <p:nvPr/>
        </p:nvSpPr>
        <p:spPr>
          <a:xfrm>
            <a:off x="457200" y="5257800"/>
            <a:ext cx="112467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FFFFF"/>
                </a:solidFill>
                <a:effectLst/>
                <a:uFillTx/>
                <a:latin typeface="Arial"/>
                <a:ea typeface="Arial"/>
              </a:rPr>
              <a:t>Adding a database is a source card, not a project.</a:t>
            </a:r>
            <a:endParaRPr lang="en-US" sz="1800" b="0" u="none" strike="noStrike">
              <a:solidFill>
                <a:srgbClr val="FFFFFF"/>
              </a:solidFill>
              <a:effectLst/>
              <a:uFillTx/>
              <a:latin typeface="Arial"/>
            </a:endParaRPr>
          </a:p>
        </p:txBody>
      </p:sp>
      <p:sp>
        <p:nvSpPr>
          <p:cNvPr id="260" name="Text 16"/>
          <p:cNvSpPr/>
          <p:nvPr/>
        </p:nvSpPr>
        <p:spPr>
          <a:xfrm>
            <a:off x="457200" y="5715000"/>
            <a:ext cx="112467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CEB888"/>
                </a:solidFill>
                <a:effectLst/>
                <a:uFillTx/>
                <a:latin typeface="Arial"/>
                <a:ea typeface="Arial"/>
              </a:rPr>
              <a:t>Next on the roadmap: Amazon Neptune and Google Spanner Graph, so the same question also runs in GQL and openCypher.</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61" name="Image 0" descr="/tmp/claude-1000/-home-bdgr-Agents-Ariadne/eca9f446-3ea1-4c07-8826-cc7003be2e12/scratchpad/assets/fsu-garnet-gold.png"/>
          <p:cNvPicPr/>
          <p:nvPr/>
        </p:nvPicPr>
        <p:blipFill>
          <a:blip r:embed="rId1"/>
          <a:stretch/>
        </p:blipFill>
        <p:spPr>
          <a:xfrm>
            <a:off x="457200" y="292680"/>
            <a:ext cx="1105920" cy="456840"/>
          </a:xfrm>
          <a:prstGeom prst="rect">
            <a:avLst/>
          </a:prstGeom>
          <a:noFill/>
          <a:ln w="0">
            <a:noFill/>
          </a:ln>
        </p:spPr>
      </p:pic>
      <p:pic>
        <p:nvPicPr>
          <p:cNvPr id="262" name="Image 1" descr="/tmp/claude-1000/-home-bdgr-Agents-Ariadne/eca9f446-3ea1-4c07-8826-cc7003be2e12/scratchpad/assets/reliaquest.png"/>
          <p:cNvPicPr/>
          <p:nvPr/>
        </p:nvPicPr>
        <p:blipFill>
          <a:blip r:embed="rId2"/>
          <a:stretch/>
        </p:blipFill>
        <p:spPr>
          <a:xfrm>
            <a:off x="1874520" y="374760"/>
            <a:ext cx="1325520" cy="292320"/>
          </a:xfrm>
          <a:prstGeom prst="rect">
            <a:avLst/>
          </a:prstGeom>
          <a:noFill/>
          <a:ln w="0">
            <a:noFill/>
          </a:ln>
        </p:spPr>
      </p:pic>
      <p:pic>
        <p:nvPicPr>
          <p:cNvPr id="263" name="Image 2" descr="/tmp/claude-1000/-home-bdgr-Agents-Ariadne/eca9f446-3ea1-4c07-8826-cc7003be2e12/scratchpad/assets/ariadne-mark.png"/>
          <p:cNvPicPr/>
          <p:nvPr/>
        </p:nvPicPr>
        <p:blipFill>
          <a:blip r:embed="rId3"/>
          <a:stretch/>
        </p:blipFill>
        <p:spPr>
          <a:xfrm>
            <a:off x="11201400" y="274320"/>
            <a:ext cx="529920" cy="456840"/>
          </a:xfrm>
          <a:prstGeom prst="rect">
            <a:avLst/>
          </a:prstGeom>
          <a:noFill/>
          <a:ln w="0">
            <a:noFill/>
          </a:ln>
        </p:spPr>
      </p:pic>
      <p:sp>
        <p:nvSpPr>
          <p:cNvPr id="264" name="Text 0"/>
          <p:cNvSpPr/>
          <p:nvPr/>
        </p:nvSpPr>
        <p:spPr>
          <a:xfrm>
            <a:off x="10607040" y="6510600"/>
            <a:ext cx="11426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101820"/>
                </a:solidFill>
                <a:effectLst/>
                <a:uFillTx/>
                <a:latin typeface="Arial"/>
                <a:ea typeface="Arial"/>
              </a:rPr>
              <a:t>10 / 13</a:t>
            </a:r>
            <a:endParaRPr lang="en-US" sz="900" b="0" u="none" strike="noStrike">
              <a:solidFill>
                <a:srgbClr val="000000"/>
              </a:solidFill>
              <a:effectLst/>
              <a:uFillTx/>
              <a:latin typeface="Arial"/>
            </a:endParaRPr>
          </a:p>
        </p:txBody>
      </p:sp>
      <p:sp>
        <p:nvSpPr>
          <p:cNvPr id="265" name="Text 1"/>
          <p:cNvSpPr/>
          <p:nvPr/>
        </p:nvSpPr>
        <p:spPr>
          <a:xfrm>
            <a:off x="457200" y="6510600"/>
            <a:ext cx="96008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101820"/>
                </a:solidFill>
                <a:effectLst/>
                <a:uFillTx/>
                <a:latin typeface="Arial"/>
                <a:ea typeface="Arial"/>
              </a:rPr>
              <a:t>Synthetic records conforming to ReliaQuest's real schema; catalogue received 2026-08-21. Sources: EXP-2026-08-011, EXP-2026-08-013 (phase 2), docs/research/.</a:t>
            </a:r>
            <a:endParaRPr lang="en-US" sz="900" b="0" u="none" strike="noStrike">
              <a:solidFill>
                <a:srgbClr val="000000"/>
              </a:solidFill>
              <a:effectLst/>
              <a:uFillTx/>
              <a:latin typeface="Arial"/>
            </a:endParaRPr>
          </a:p>
        </p:txBody>
      </p:sp>
      <p:sp>
        <p:nvSpPr>
          <p:cNvPr id="266" name="Text 2"/>
          <p:cNvSpPr/>
          <p:nvPr/>
        </p:nvSpPr>
        <p:spPr>
          <a:xfrm>
            <a:off x="457200" y="868680"/>
            <a:ext cx="112467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782F40"/>
                </a:solidFill>
                <a:effectLst/>
                <a:uFillTx/>
                <a:latin typeface="Arial"/>
                <a:ea typeface="Arial"/>
              </a:rPr>
              <a:t>It already runs on ReliaQuest's own schema</a:t>
            </a:r>
            <a:endParaRPr lang="en-US" sz="3000" b="0" u="none" strike="noStrike">
              <a:solidFill>
                <a:srgbClr val="000000"/>
              </a:solidFill>
              <a:effectLst/>
              <a:uFillTx/>
              <a:latin typeface="Arial"/>
            </a:endParaRPr>
          </a:p>
        </p:txBody>
      </p:sp>
      <p:sp>
        <p:nvSpPr>
          <p:cNvPr id="267" name="Text 3"/>
          <p:cNvSpPr/>
          <p:nvPr/>
        </p:nvSpPr>
        <p:spPr>
          <a:xfrm>
            <a:off x="457200" y="1691640"/>
            <a:ext cx="33829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782F40"/>
                </a:solidFill>
                <a:effectLst/>
                <a:uFillTx/>
                <a:latin typeface="Arial"/>
                <a:ea typeface="Arial"/>
              </a:rPr>
              <a:t>What ReliaQuest sent</a:t>
            </a:r>
            <a:endParaRPr lang="en-US" sz="1500" b="0" u="none" strike="noStrike">
              <a:solidFill>
                <a:srgbClr val="000000"/>
              </a:solidFill>
              <a:effectLst/>
              <a:uFillTx/>
              <a:latin typeface="Arial"/>
            </a:endParaRPr>
          </a:p>
        </p:txBody>
      </p:sp>
      <p:sp>
        <p:nvSpPr>
          <p:cNvPr id="268" name="Shape 4"/>
          <p:cNvSpPr/>
          <p:nvPr/>
        </p:nvSpPr>
        <p:spPr>
          <a:xfrm>
            <a:off x="457200" y="2194560"/>
            <a:ext cx="1599840" cy="1416960"/>
          </a:xfrm>
          <a:prstGeom prst="roundRect">
            <a:avLst>
              <a:gd name="adj" fmla="val 6452"/>
            </a:avLst>
          </a:prstGeom>
          <a:solidFill>
            <a:srgbClr val="DFD1A7"/>
          </a:solidFill>
          <a:ln w="12700">
            <a:solidFill>
              <a:srgbClr val="DFD1A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9" name="Text 5"/>
          <p:cNvSpPr/>
          <p:nvPr/>
        </p:nvSpPr>
        <p:spPr>
          <a:xfrm>
            <a:off x="594360" y="2377800"/>
            <a:ext cx="1325520" cy="639720"/>
          </a:xfrm>
          <a:prstGeom prst="rect">
            <a:avLst/>
          </a:prstGeom>
          <a:noFill/>
          <a:ln w="0">
            <a:noFill/>
          </a:ln>
        </p:spPr>
        <p:style>
          <a:lnRef idx="0"/>
          <a:fillRef idx="0"/>
          <a:effectRef idx="0"/>
          <a:fontRef idx="minor"/>
        </p:style>
        <p:txBody>
          <a:bodyPr lIns="0" tIns="0" rIns="0" bIns="0" anchor="ctr" anchorCtr="1">
            <a:noAutofit/>
          </a:bodyPr>
          <a:p>
            <a:pPr algn="ctr" defTabSz="914400">
              <a:lnSpc>
                <a:spcPct val="100000"/>
              </a:lnSpc>
              <a:tabLst>
                <a:tab pos="0" algn="l"/>
              </a:tabLst>
            </a:pPr>
            <a:r>
              <a:rPr lang="en-US" sz="3400" b="1" u="none" strike="noStrike">
                <a:solidFill>
                  <a:srgbClr val="782F40"/>
                </a:solidFill>
                <a:effectLst/>
                <a:uFillTx/>
                <a:latin typeface="Arial"/>
                <a:ea typeface="Arial"/>
              </a:rPr>
              <a:t>72</a:t>
            </a:r>
            <a:endParaRPr lang="en-US" sz="3400" b="0" u="none" strike="noStrike">
              <a:solidFill>
                <a:srgbClr val="000000"/>
              </a:solidFill>
              <a:effectLst/>
              <a:uFillTx/>
              <a:latin typeface="Arial"/>
            </a:endParaRPr>
          </a:p>
        </p:txBody>
      </p:sp>
      <p:sp>
        <p:nvSpPr>
          <p:cNvPr id="270" name="Text 6"/>
          <p:cNvSpPr/>
          <p:nvPr/>
        </p:nvSpPr>
        <p:spPr>
          <a:xfrm>
            <a:off x="594360" y="3017880"/>
            <a:ext cx="1325520" cy="639720"/>
          </a:xfrm>
          <a:prstGeom prst="rect">
            <a:avLst/>
          </a:prstGeom>
          <a:noFill/>
          <a:ln w="0">
            <a:noFill/>
          </a:ln>
        </p:spPr>
        <p:style>
          <a:lnRef idx="0"/>
          <a:fillRef idx="0"/>
          <a:effectRef idx="0"/>
          <a:fontRef idx="minor"/>
        </p:style>
        <p:txBody>
          <a:bodyPr lIns="0" tIns="0" rIns="0" bIns="0" anchor="t" anchorCtr="1">
            <a:noAutofit/>
          </a:bodyPr>
          <a:p>
            <a:pPr algn="ctr" defTabSz="914400">
              <a:lnSpc>
                <a:spcPct val="100000"/>
              </a:lnSpc>
              <a:tabLst>
                <a:tab pos="0" algn="l"/>
              </a:tabLst>
            </a:pPr>
            <a:r>
              <a:rPr lang="en-US" sz="1050" b="0" u="none" strike="noStrike">
                <a:solidFill>
                  <a:srgbClr val="101820"/>
                </a:solidFill>
                <a:effectLst/>
                <a:uFillTx/>
                <a:latin typeface="Arial"/>
                <a:ea typeface="Arial"/>
              </a:rPr>
              <a:t>node types</a:t>
            </a:r>
            <a:endParaRPr lang="en-US" sz="1050" b="0" u="none" strike="noStrike">
              <a:solidFill>
                <a:srgbClr val="000000"/>
              </a:solidFill>
              <a:effectLst/>
              <a:uFillTx/>
              <a:latin typeface="Arial"/>
            </a:endParaRPr>
          </a:p>
        </p:txBody>
      </p:sp>
      <p:sp>
        <p:nvSpPr>
          <p:cNvPr id="271" name="Shape 7"/>
          <p:cNvSpPr/>
          <p:nvPr/>
        </p:nvSpPr>
        <p:spPr>
          <a:xfrm>
            <a:off x="2194560" y="2194560"/>
            <a:ext cx="1599840" cy="1416960"/>
          </a:xfrm>
          <a:prstGeom prst="roundRect">
            <a:avLst>
              <a:gd name="adj" fmla="val 6452"/>
            </a:avLst>
          </a:prstGeom>
          <a:solidFill>
            <a:srgbClr val="DFD1A7"/>
          </a:solidFill>
          <a:ln w="12700">
            <a:solidFill>
              <a:srgbClr val="DFD1A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2" name="Text 8"/>
          <p:cNvSpPr/>
          <p:nvPr/>
        </p:nvSpPr>
        <p:spPr>
          <a:xfrm>
            <a:off x="2331720" y="2377800"/>
            <a:ext cx="1325520" cy="639720"/>
          </a:xfrm>
          <a:prstGeom prst="rect">
            <a:avLst/>
          </a:prstGeom>
          <a:noFill/>
          <a:ln w="0">
            <a:noFill/>
          </a:ln>
        </p:spPr>
        <p:style>
          <a:lnRef idx="0"/>
          <a:fillRef idx="0"/>
          <a:effectRef idx="0"/>
          <a:fontRef idx="minor"/>
        </p:style>
        <p:txBody>
          <a:bodyPr lIns="0" tIns="0" rIns="0" bIns="0" anchor="ctr" anchorCtr="1">
            <a:noAutofit/>
          </a:bodyPr>
          <a:p>
            <a:pPr algn="ctr" defTabSz="914400">
              <a:lnSpc>
                <a:spcPct val="100000"/>
              </a:lnSpc>
              <a:tabLst>
                <a:tab pos="0" algn="l"/>
              </a:tabLst>
            </a:pPr>
            <a:r>
              <a:rPr lang="en-US" sz="3400" b="1" u="none" strike="noStrike">
                <a:solidFill>
                  <a:srgbClr val="782F40"/>
                </a:solidFill>
                <a:effectLst/>
                <a:uFillTx/>
                <a:latin typeface="Arial"/>
                <a:ea typeface="Arial"/>
              </a:rPr>
              <a:t>21</a:t>
            </a:r>
            <a:endParaRPr lang="en-US" sz="3400" b="0" u="none" strike="noStrike">
              <a:solidFill>
                <a:srgbClr val="000000"/>
              </a:solidFill>
              <a:effectLst/>
              <a:uFillTx/>
              <a:latin typeface="Arial"/>
            </a:endParaRPr>
          </a:p>
        </p:txBody>
      </p:sp>
      <p:sp>
        <p:nvSpPr>
          <p:cNvPr id="273" name="Text 9"/>
          <p:cNvSpPr/>
          <p:nvPr/>
        </p:nvSpPr>
        <p:spPr>
          <a:xfrm>
            <a:off x="2331720" y="3017880"/>
            <a:ext cx="1325520" cy="639720"/>
          </a:xfrm>
          <a:prstGeom prst="rect">
            <a:avLst/>
          </a:prstGeom>
          <a:noFill/>
          <a:ln w="0">
            <a:noFill/>
          </a:ln>
        </p:spPr>
        <p:style>
          <a:lnRef idx="0"/>
          <a:fillRef idx="0"/>
          <a:effectRef idx="0"/>
          <a:fontRef idx="minor"/>
        </p:style>
        <p:txBody>
          <a:bodyPr lIns="0" tIns="0" rIns="0" bIns="0" anchor="t" anchorCtr="1">
            <a:noAutofit/>
          </a:bodyPr>
          <a:p>
            <a:pPr algn="ctr" defTabSz="914400">
              <a:lnSpc>
                <a:spcPct val="100000"/>
              </a:lnSpc>
              <a:tabLst>
                <a:tab pos="0" algn="l"/>
              </a:tabLst>
            </a:pPr>
            <a:r>
              <a:rPr lang="en-US" sz="1050" b="0" u="none" strike="noStrike">
                <a:solidFill>
                  <a:srgbClr val="101820"/>
                </a:solidFill>
                <a:effectLst/>
                <a:uFillTx/>
                <a:latin typeface="Arial"/>
                <a:ea typeface="Arial"/>
              </a:rPr>
              <a:t>relationship types</a:t>
            </a:r>
            <a:endParaRPr lang="en-US" sz="1050" b="0" u="none" strike="noStrike">
              <a:solidFill>
                <a:srgbClr val="000000"/>
              </a:solidFill>
              <a:effectLst/>
              <a:uFillTx/>
              <a:latin typeface="Arial"/>
            </a:endParaRPr>
          </a:p>
        </p:txBody>
      </p:sp>
      <p:sp>
        <p:nvSpPr>
          <p:cNvPr id="274" name="Shape 10"/>
          <p:cNvSpPr/>
          <p:nvPr/>
        </p:nvSpPr>
        <p:spPr>
          <a:xfrm>
            <a:off x="457200" y="3794760"/>
            <a:ext cx="1599840" cy="1416960"/>
          </a:xfrm>
          <a:prstGeom prst="roundRect">
            <a:avLst>
              <a:gd name="adj" fmla="val 6452"/>
            </a:avLst>
          </a:prstGeom>
          <a:solidFill>
            <a:srgbClr val="DFD1A7"/>
          </a:solidFill>
          <a:ln w="12700">
            <a:solidFill>
              <a:srgbClr val="DFD1A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5" name="Text 11"/>
          <p:cNvSpPr/>
          <p:nvPr/>
        </p:nvSpPr>
        <p:spPr>
          <a:xfrm>
            <a:off x="594360" y="3886200"/>
            <a:ext cx="1325520" cy="639720"/>
          </a:xfrm>
          <a:prstGeom prst="rect">
            <a:avLst/>
          </a:prstGeom>
          <a:noFill/>
          <a:ln w="0">
            <a:noFill/>
          </a:ln>
        </p:spPr>
        <p:style>
          <a:lnRef idx="0"/>
          <a:fillRef idx="0"/>
          <a:effectRef idx="0"/>
          <a:fontRef idx="minor"/>
        </p:style>
        <p:txBody>
          <a:bodyPr lIns="0" tIns="0" rIns="0" bIns="0" anchor="ctr" anchorCtr="1">
            <a:noAutofit/>
          </a:bodyPr>
          <a:p>
            <a:pPr algn="ctr" defTabSz="914400">
              <a:lnSpc>
                <a:spcPct val="100000"/>
              </a:lnSpc>
              <a:tabLst>
                <a:tab pos="0" algn="l"/>
              </a:tabLst>
            </a:pPr>
            <a:r>
              <a:rPr lang="en-US" sz="3400" b="1" u="none" strike="noStrike">
                <a:solidFill>
                  <a:srgbClr val="782F40"/>
                </a:solidFill>
                <a:effectLst/>
                <a:uFillTx/>
                <a:latin typeface="Arial"/>
                <a:ea typeface="Arial"/>
              </a:rPr>
              <a:t>5</a:t>
            </a:r>
            <a:endParaRPr lang="en-US" sz="3400" b="0" u="none" strike="noStrike">
              <a:solidFill>
                <a:srgbClr val="000000"/>
              </a:solidFill>
              <a:effectLst/>
              <a:uFillTx/>
              <a:latin typeface="Arial"/>
            </a:endParaRPr>
          </a:p>
        </p:txBody>
      </p:sp>
      <p:sp>
        <p:nvSpPr>
          <p:cNvPr id="276" name="Text 12"/>
          <p:cNvSpPr/>
          <p:nvPr/>
        </p:nvSpPr>
        <p:spPr>
          <a:xfrm>
            <a:off x="594360" y="4526280"/>
            <a:ext cx="1325520" cy="639720"/>
          </a:xfrm>
          <a:prstGeom prst="rect">
            <a:avLst/>
          </a:prstGeom>
          <a:noFill/>
          <a:ln w="0">
            <a:noFill/>
          </a:ln>
        </p:spPr>
        <p:style>
          <a:lnRef idx="0"/>
          <a:fillRef idx="0"/>
          <a:effectRef idx="0"/>
          <a:fontRef idx="minor"/>
        </p:style>
        <p:txBody>
          <a:bodyPr lIns="0" tIns="0" rIns="0" bIns="0" anchor="t" anchorCtr="1">
            <a:noAutofit/>
          </a:bodyPr>
          <a:p>
            <a:pPr algn="ctr" defTabSz="914400">
              <a:lnSpc>
                <a:spcPct val="100000"/>
              </a:lnSpc>
              <a:tabLst>
                <a:tab pos="0" algn="l"/>
              </a:tabLst>
            </a:pPr>
            <a:r>
              <a:rPr lang="en-US" sz="1050" b="0" u="none" strike="noStrike">
                <a:solidFill>
                  <a:srgbClr val="101820"/>
                </a:solidFill>
                <a:effectLst/>
                <a:uFillTx/>
                <a:latin typeface="Arial"/>
                <a:ea typeface="Arial"/>
              </a:rPr>
              <a:t>identity systems: AD · Entra · Okta · AWS · GCP</a:t>
            </a:r>
            <a:endParaRPr lang="en-US" sz="1050" b="0" u="none" strike="noStrike">
              <a:solidFill>
                <a:srgbClr val="000000"/>
              </a:solidFill>
              <a:effectLst/>
              <a:uFillTx/>
              <a:latin typeface="Arial"/>
            </a:endParaRPr>
          </a:p>
        </p:txBody>
      </p:sp>
      <p:sp>
        <p:nvSpPr>
          <p:cNvPr id="277" name="Shape 13"/>
          <p:cNvSpPr/>
          <p:nvPr/>
        </p:nvSpPr>
        <p:spPr>
          <a:xfrm>
            <a:off x="2194560" y="3794760"/>
            <a:ext cx="1599840" cy="1416960"/>
          </a:xfrm>
          <a:prstGeom prst="roundRect">
            <a:avLst>
              <a:gd name="adj" fmla="val 6452"/>
            </a:avLst>
          </a:prstGeom>
          <a:solidFill>
            <a:srgbClr val="DFD1A7"/>
          </a:solidFill>
          <a:ln w="12700">
            <a:solidFill>
              <a:srgbClr val="DFD1A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8" name="Text 14"/>
          <p:cNvSpPr/>
          <p:nvPr/>
        </p:nvSpPr>
        <p:spPr>
          <a:xfrm>
            <a:off x="2331720" y="3886200"/>
            <a:ext cx="1325520" cy="639720"/>
          </a:xfrm>
          <a:prstGeom prst="rect">
            <a:avLst/>
          </a:prstGeom>
          <a:noFill/>
          <a:ln w="0">
            <a:noFill/>
          </a:ln>
        </p:spPr>
        <p:style>
          <a:lnRef idx="0"/>
          <a:fillRef idx="0"/>
          <a:effectRef idx="0"/>
          <a:fontRef idx="minor"/>
        </p:style>
        <p:txBody>
          <a:bodyPr lIns="0" tIns="0" rIns="0" bIns="0" anchor="ctr" anchorCtr="1">
            <a:noAutofit/>
          </a:bodyPr>
          <a:p>
            <a:pPr algn="ctr" defTabSz="914400">
              <a:lnSpc>
                <a:spcPct val="100000"/>
              </a:lnSpc>
              <a:tabLst>
                <a:tab pos="0" algn="l"/>
              </a:tabLst>
            </a:pPr>
            <a:r>
              <a:rPr lang="en-US" sz="3400" b="1" u="none" strike="noStrike">
                <a:solidFill>
                  <a:srgbClr val="782F40"/>
                </a:solidFill>
                <a:effectLst/>
                <a:uFillTx/>
                <a:latin typeface="Arial"/>
                <a:ea typeface="Arial"/>
              </a:rPr>
              <a:t>0</a:t>
            </a:r>
            <a:endParaRPr lang="en-US" sz="3400" b="0" u="none" strike="noStrike">
              <a:solidFill>
                <a:srgbClr val="000000"/>
              </a:solidFill>
              <a:effectLst/>
              <a:uFillTx/>
              <a:latin typeface="Arial"/>
            </a:endParaRPr>
          </a:p>
        </p:txBody>
      </p:sp>
      <p:sp>
        <p:nvSpPr>
          <p:cNvPr id="279" name="Text 15"/>
          <p:cNvSpPr/>
          <p:nvPr/>
        </p:nvSpPr>
        <p:spPr>
          <a:xfrm>
            <a:off x="2331720" y="4526280"/>
            <a:ext cx="1325520" cy="639720"/>
          </a:xfrm>
          <a:prstGeom prst="rect">
            <a:avLst/>
          </a:prstGeom>
          <a:noFill/>
          <a:ln w="0">
            <a:noFill/>
          </a:ln>
        </p:spPr>
        <p:style>
          <a:lnRef idx="0"/>
          <a:fillRef idx="0"/>
          <a:effectRef idx="0"/>
          <a:fontRef idx="minor"/>
        </p:style>
        <p:txBody>
          <a:bodyPr lIns="0" tIns="0" rIns="0" bIns="0" anchor="t" anchorCtr="1">
            <a:noAutofit/>
          </a:bodyPr>
          <a:p>
            <a:pPr algn="ctr" defTabSz="914400">
              <a:lnSpc>
                <a:spcPct val="100000"/>
              </a:lnSpc>
              <a:tabLst>
                <a:tab pos="0" algn="l"/>
              </a:tabLst>
            </a:pPr>
            <a:r>
              <a:rPr lang="en-US" sz="1050" b="0" u="none" strike="noStrike">
                <a:solidFill>
                  <a:srgbClr val="101820"/>
                </a:solidFill>
                <a:effectLst/>
                <a:uFillTx/>
                <a:latin typeface="Arial"/>
                <a:ea typeface="Arial"/>
              </a:rPr>
              <a:t>customer records needed</a:t>
            </a:r>
            <a:endParaRPr lang="en-US" sz="1050" b="0" u="none" strike="noStrike">
              <a:solidFill>
                <a:srgbClr val="000000"/>
              </a:solidFill>
              <a:effectLst/>
              <a:uFillTx/>
              <a:latin typeface="Arial"/>
            </a:endParaRPr>
          </a:p>
        </p:txBody>
      </p:sp>
      <p:sp>
        <p:nvSpPr>
          <p:cNvPr id="280" name="Text 16"/>
          <p:cNvSpPr/>
          <p:nvPr/>
        </p:nvSpPr>
        <p:spPr>
          <a:xfrm>
            <a:off x="4206240" y="1691640"/>
            <a:ext cx="37486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782F40"/>
                </a:solidFill>
                <a:effectLst/>
                <a:uFillTx/>
                <a:latin typeface="Arial"/>
                <a:ea typeface="Arial"/>
              </a:rPr>
              <a:t>The bridge to ATT&amp;CK</a:t>
            </a:r>
            <a:endParaRPr lang="en-US" sz="1500" b="0" u="none" strike="noStrike">
              <a:solidFill>
                <a:srgbClr val="000000"/>
              </a:solidFill>
              <a:effectLst/>
              <a:uFillTx/>
              <a:latin typeface="Arial"/>
            </a:endParaRPr>
          </a:p>
        </p:txBody>
      </p:sp>
      <p:sp>
        <p:nvSpPr>
          <p:cNvPr id="281" name="Shape 17"/>
          <p:cNvSpPr/>
          <p:nvPr/>
        </p:nvSpPr>
        <p:spPr>
          <a:xfrm>
            <a:off x="4206240" y="2194560"/>
            <a:ext cx="3748680" cy="914040"/>
          </a:xfrm>
          <a:prstGeom prst="roundRect">
            <a:avLst>
              <a:gd name="adj" fmla="val 8000"/>
            </a:avLst>
          </a:prstGeom>
          <a:solidFill>
            <a:srgbClr val="782F40"/>
          </a:solidFill>
          <a:ln w="12700">
            <a:solidFill>
              <a:srgbClr val="782F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2" name="Text 18"/>
          <p:cNvSpPr/>
          <p:nvPr/>
        </p:nvSpPr>
        <p:spPr>
          <a:xfrm>
            <a:off x="4279320" y="2194560"/>
            <a:ext cx="360252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CEB888"/>
                </a:solidFill>
                <a:effectLst/>
                <a:uFillTx/>
                <a:latin typeface="Arial"/>
                <a:ea typeface="Arial"/>
              </a:rPr>
              <a:t>Your identity graph</a:t>
            </a:r>
            <a:endParaRPr lang="en-US" sz="10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FFFFFF"/>
                </a:solidFill>
                <a:effectLst/>
                <a:uFillTx/>
                <a:latin typeface="Courier New"/>
                <a:ea typeface="Courier New"/>
              </a:rPr>
              <a:t>Domain Admins  —DC_SYNC→  Domain</a:t>
            </a:r>
            <a:endParaRPr lang="en-US" sz="1200" b="0" u="none" strike="noStrike">
              <a:solidFill>
                <a:srgbClr val="000000"/>
              </a:solidFill>
              <a:effectLst/>
              <a:uFillTx/>
              <a:latin typeface="Arial"/>
            </a:endParaRPr>
          </a:p>
        </p:txBody>
      </p:sp>
      <p:sp>
        <p:nvSpPr>
          <p:cNvPr id="283" name="Shape 19"/>
          <p:cNvSpPr/>
          <p:nvPr/>
        </p:nvSpPr>
        <p:spPr>
          <a:xfrm>
            <a:off x="6080760" y="3108960"/>
            <a:ext cx="360" cy="411480"/>
          </a:xfrm>
          <a:prstGeom prst="line">
            <a:avLst/>
          </a:prstGeom>
          <a:ln w="25400">
            <a:solidFill>
              <a:srgbClr val="CEB888"/>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84" name="Text 20"/>
          <p:cNvSpPr/>
          <p:nvPr/>
        </p:nvSpPr>
        <p:spPr>
          <a:xfrm>
            <a:off x="6263640" y="3127320"/>
            <a:ext cx="17370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i="1" u="none" strike="noStrike">
                <a:solidFill>
                  <a:srgbClr val="101820"/>
                </a:solidFill>
                <a:effectLst/>
                <a:uFillTx/>
                <a:latin typeface="Arial"/>
                <a:ea typeface="Arial"/>
              </a:rPr>
              <a:t>is the technique</a:t>
            </a:r>
            <a:endParaRPr lang="en-US" sz="1100" b="0" u="none" strike="noStrike">
              <a:solidFill>
                <a:srgbClr val="000000"/>
              </a:solidFill>
              <a:effectLst/>
              <a:uFillTx/>
              <a:latin typeface="Arial"/>
            </a:endParaRPr>
          </a:p>
        </p:txBody>
      </p:sp>
      <p:sp>
        <p:nvSpPr>
          <p:cNvPr id="285" name="Shape 21"/>
          <p:cNvSpPr/>
          <p:nvPr/>
        </p:nvSpPr>
        <p:spPr>
          <a:xfrm>
            <a:off x="4206240" y="3520440"/>
            <a:ext cx="3748680" cy="914040"/>
          </a:xfrm>
          <a:prstGeom prst="roundRect">
            <a:avLst>
              <a:gd name="adj" fmla="val 8000"/>
            </a:avLst>
          </a:prstGeom>
          <a:solidFill>
            <a:srgbClr val="782F40"/>
          </a:solidFill>
          <a:ln w="12700">
            <a:solidFill>
              <a:srgbClr val="782F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6" name="Text 22"/>
          <p:cNvSpPr/>
          <p:nvPr/>
        </p:nvSpPr>
        <p:spPr>
          <a:xfrm>
            <a:off x="4279320" y="3520440"/>
            <a:ext cx="360252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CEB888"/>
                </a:solidFill>
                <a:effectLst/>
                <a:uFillTx/>
                <a:latin typeface="Arial"/>
                <a:ea typeface="Arial"/>
              </a:rPr>
              <a:t>MITRE ATT&amp;CK</a:t>
            </a:r>
            <a:endParaRPr lang="en-US" sz="10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FFFFFF"/>
                </a:solidFill>
                <a:effectLst/>
                <a:uFillTx/>
                <a:latin typeface="Arial"/>
                <a:ea typeface="Arial"/>
              </a:rPr>
              <a:t>T1003.006  OS Credential Dumping: DCSync</a:t>
            </a:r>
            <a:endParaRPr lang="en-US" sz="1200" b="0" u="none" strike="noStrike">
              <a:solidFill>
                <a:srgbClr val="000000"/>
              </a:solidFill>
              <a:effectLst/>
              <a:uFillTx/>
              <a:latin typeface="Arial"/>
            </a:endParaRPr>
          </a:p>
        </p:txBody>
      </p:sp>
      <p:sp>
        <p:nvSpPr>
          <p:cNvPr id="287" name="Shape 23"/>
          <p:cNvSpPr/>
          <p:nvPr/>
        </p:nvSpPr>
        <p:spPr>
          <a:xfrm>
            <a:off x="6080760" y="4434840"/>
            <a:ext cx="360" cy="411480"/>
          </a:xfrm>
          <a:prstGeom prst="line">
            <a:avLst/>
          </a:prstGeom>
          <a:ln w="25400">
            <a:solidFill>
              <a:srgbClr val="CEB888"/>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88" name="Text 24"/>
          <p:cNvSpPr/>
          <p:nvPr/>
        </p:nvSpPr>
        <p:spPr>
          <a:xfrm>
            <a:off x="6263640" y="4453200"/>
            <a:ext cx="17370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i="1" u="none" strike="noStrike">
                <a:solidFill>
                  <a:srgbClr val="101820"/>
                </a:solidFill>
                <a:effectLst/>
                <a:uFillTx/>
                <a:latin typeface="Arial"/>
                <a:ea typeface="Arial"/>
              </a:rPr>
              <a:t>which is mitigated by</a:t>
            </a:r>
            <a:endParaRPr lang="en-US" sz="1100" b="0" u="none" strike="noStrike">
              <a:solidFill>
                <a:srgbClr val="000000"/>
              </a:solidFill>
              <a:effectLst/>
              <a:uFillTx/>
              <a:latin typeface="Arial"/>
            </a:endParaRPr>
          </a:p>
        </p:txBody>
      </p:sp>
      <p:sp>
        <p:nvSpPr>
          <p:cNvPr id="289" name="Shape 25"/>
          <p:cNvSpPr/>
          <p:nvPr/>
        </p:nvSpPr>
        <p:spPr>
          <a:xfrm>
            <a:off x="4206240" y="4846320"/>
            <a:ext cx="3748680" cy="914040"/>
          </a:xfrm>
          <a:prstGeom prst="roundRect">
            <a:avLst>
              <a:gd name="adj" fmla="val 8000"/>
            </a:avLst>
          </a:prstGeom>
          <a:solidFill>
            <a:srgbClr val="782F40"/>
          </a:solidFill>
          <a:ln w="12700">
            <a:solidFill>
              <a:srgbClr val="782F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0" name="Text 26"/>
          <p:cNvSpPr/>
          <p:nvPr/>
        </p:nvSpPr>
        <p:spPr>
          <a:xfrm>
            <a:off x="4279320" y="4846320"/>
            <a:ext cx="360252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CEB888"/>
                </a:solidFill>
                <a:effectLst/>
                <a:uFillTx/>
                <a:latin typeface="Arial"/>
                <a:ea typeface="Arial"/>
              </a:rPr>
              <a:t>ATT&amp;CK mitigations</a:t>
            </a:r>
            <a:endParaRPr lang="en-US" sz="1000" b="0" u="none" strike="noStrike">
              <a:solidFill>
                <a:srgbClr val="000000"/>
              </a:solidFill>
              <a:effectLst/>
              <a:uFillTx/>
              <a:latin typeface="Arial"/>
            </a:endParaRPr>
          </a:p>
          <a:p>
            <a:pPr algn="ctr" defTabSz="914400">
              <a:lnSpc>
                <a:spcPct val="100000"/>
              </a:lnSpc>
              <a:tabLst>
                <a:tab pos="0" algn="l"/>
              </a:tabLst>
            </a:pPr>
            <a:r>
              <a:rPr lang="en-US" sz="1100" b="1" u="none" strike="noStrike">
                <a:solidFill>
                  <a:srgbClr val="FFFFFF"/>
                </a:solidFill>
                <a:effectLst/>
                <a:uFillTx/>
                <a:latin typeface="Arial"/>
                <a:ea typeface="Arial"/>
              </a:rPr>
              <a:t>M1015 Active Directory Configuration · M1026 Privileged Account Management · M1027 Password Policies</a:t>
            </a:r>
            <a:endParaRPr lang="en-US" sz="1100" b="0" u="none" strike="noStrike">
              <a:solidFill>
                <a:srgbClr val="000000"/>
              </a:solidFill>
              <a:effectLst/>
              <a:uFillTx/>
              <a:latin typeface="Arial"/>
            </a:endParaRPr>
          </a:p>
        </p:txBody>
      </p:sp>
      <p:sp>
        <p:nvSpPr>
          <p:cNvPr id="291" name="Text 27"/>
          <p:cNvSpPr/>
          <p:nvPr/>
        </p:nvSpPr>
        <p:spPr>
          <a:xfrm>
            <a:off x="4206240" y="5852160"/>
            <a:ext cx="374868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0" u="none" strike="noStrike">
                <a:solidFill>
                  <a:srgbClr val="101820"/>
                </a:solidFill>
                <a:effectLst/>
                <a:uFillTx/>
                <a:latin typeface="Arial"/>
                <a:ea typeface="Arial"/>
              </a:rPr>
              <a:t>13 of 21 relationship types carry a technique. The other 8 are declared not to, each with its reason recorded.</a:t>
            </a:r>
            <a:endParaRPr lang="en-US" sz="1050" b="0" u="none" strike="noStrike">
              <a:solidFill>
                <a:srgbClr val="000000"/>
              </a:solidFill>
              <a:effectLst/>
              <a:uFillTx/>
              <a:latin typeface="Arial"/>
            </a:endParaRPr>
          </a:p>
        </p:txBody>
      </p:sp>
      <p:sp>
        <p:nvSpPr>
          <p:cNvPr id="292" name="Text 28"/>
          <p:cNvSpPr/>
          <p:nvPr/>
        </p:nvSpPr>
        <p:spPr>
          <a:xfrm>
            <a:off x="8321040" y="1691640"/>
            <a:ext cx="34286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782F40"/>
                </a:solidFill>
                <a:effectLst/>
                <a:uFillTx/>
                <a:latin typeface="Arial"/>
                <a:ea typeface="Arial"/>
              </a:rPr>
              <a:t>What happened</a:t>
            </a:r>
            <a:endParaRPr lang="en-US" sz="1500" b="0" u="none" strike="noStrike">
              <a:solidFill>
                <a:srgbClr val="000000"/>
              </a:solidFill>
              <a:effectLst/>
              <a:uFillTx/>
              <a:latin typeface="Arial"/>
            </a:endParaRPr>
          </a:p>
        </p:txBody>
      </p:sp>
      <p:sp>
        <p:nvSpPr>
          <p:cNvPr id="293" name="Text 29"/>
          <p:cNvSpPr/>
          <p:nvPr/>
        </p:nvSpPr>
        <p:spPr>
          <a:xfrm>
            <a:off x="8321040" y="2148840"/>
            <a:ext cx="3428640" cy="32914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99"/>
              </a:spcAft>
              <a:buClr>
                <a:srgbClr val="101820"/>
              </a:buClr>
              <a:buFont typeface="Symbol" charset="2"/>
              <a:buChar char=""/>
            </a:pPr>
            <a:r>
              <a:rPr lang="en-US" sz="1200" b="0" u="none" strike="noStrike">
                <a:solidFill>
                  <a:srgbClr val="101820"/>
                </a:solidFill>
                <a:effectLst/>
                <a:uFillTx/>
                <a:latin typeface="Arial"/>
                <a:ea typeface="Arial"/>
              </a:rPr>
              <a:t>The card is the native input: the schema alone was enough. We generated synthetic records that conform to it.</a:t>
            </a:r>
            <a:endParaRPr lang="en-US" sz="1200" b="0" u="none" strike="noStrike">
              <a:solidFill>
                <a:srgbClr val="000000"/>
              </a:solidFill>
              <a:effectLst/>
              <a:uFillTx/>
              <a:latin typeface="Arial"/>
            </a:endParaRPr>
          </a:p>
          <a:p>
            <a:pPr marL="343080" indent="-343080" defTabSz="914400">
              <a:lnSpc>
                <a:spcPct val="100000"/>
              </a:lnSpc>
              <a:spcAft>
                <a:spcPts val="799"/>
              </a:spcAft>
              <a:buClr>
                <a:srgbClr val="101820"/>
              </a:buClr>
              <a:buFont typeface="Symbol" charset="2"/>
              <a:buChar char=""/>
            </a:pPr>
            <a:r>
              <a:rPr lang="en-US" sz="1200" b="0" u="none" strike="noStrike">
                <a:solidFill>
                  <a:srgbClr val="101820"/>
                </a:solidFill>
                <a:effectLst/>
                <a:uFillTx/>
                <a:latin typeface="Arial"/>
                <a:ea typeface="Arial"/>
              </a:rPr>
              <a:t>It ran live beside ATT&amp;CK and CAPEC: three sources, two languages, one process, and nothing else changed.</a:t>
            </a:r>
            <a:endParaRPr lang="en-US" sz="1200" b="0" u="none" strike="noStrike">
              <a:solidFill>
                <a:srgbClr val="000000"/>
              </a:solidFill>
              <a:effectLst/>
              <a:uFillTx/>
              <a:latin typeface="Arial"/>
            </a:endParaRPr>
          </a:p>
          <a:p>
            <a:pPr marL="343080" indent="-343080" defTabSz="914400">
              <a:lnSpc>
                <a:spcPct val="100000"/>
              </a:lnSpc>
              <a:spcAft>
                <a:spcPts val="799"/>
              </a:spcAft>
              <a:buClr>
                <a:srgbClr val="101820"/>
              </a:buClr>
              <a:buFont typeface="Symbol" charset="2"/>
              <a:buChar char=""/>
            </a:pPr>
            <a:r>
              <a:rPr lang="en-US" sz="1200" b="0" u="none" strike="noStrike">
                <a:solidFill>
                  <a:srgbClr val="101820"/>
                </a:solidFill>
                <a:effectLst/>
                <a:uFillTx/>
                <a:latin typeface="Arial"/>
                <a:ea typeface="Arial"/>
              </a:rPr>
              <a:t>A relationship in your graph resolves to a technique in ATT&amp;CK, and on to its mitigations.</a:t>
            </a:r>
            <a:endParaRPr lang="en-US" sz="1200" b="0" u="none" strike="noStrike">
              <a:solidFill>
                <a:srgbClr val="000000"/>
              </a:solidFill>
              <a:effectLst/>
              <a:uFillTx/>
              <a:latin typeface="Arial"/>
            </a:endParaRPr>
          </a:p>
          <a:p>
            <a:pPr marL="343080" indent="-343080" defTabSz="914400">
              <a:lnSpc>
                <a:spcPct val="100000"/>
              </a:lnSpc>
              <a:spcAft>
                <a:spcPts val="799"/>
              </a:spcAft>
              <a:buClr>
                <a:srgbClr val="101820"/>
              </a:buClr>
              <a:buFont typeface="Symbol" charset="2"/>
              <a:buChar char=""/>
            </a:pPr>
            <a:r>
              <a:rPr lang="en-US" sz="1200" b="0" u="none" strike="noStrike">
                <a:solidFill>
                  <a:srgbClr val="101820"/>
                </a:solidFill>
                <a:effectLst/>
                <a:uFillTx/>
                <a:latin typeface="Arial"/>
                <a:ea typeface="Arial"/>
              </a:rPr>
              <a:t>Where no mapped relationship exists, it says so instead of guessing.</a:t>
            </a:r>
            <a:endParaRPr lang="en-US" sz="1200" b="0" u="none" strike="noStrike">
              <a:solidFill>
                <a:srgbClr val="000000"/>
              </a:solidFill>
              <a:effectLst/>
              <a:uFillTx/>
              <a:latin typeface="Arial"/>
            </a:endParaRPr>
          </a:p>
        </p:txBody>
      </p:sp>
      <p:sp>
        <p:nvSpPr>
          <p:cNvPr id="294" name="Text 30"/>
          <p:cNvSpPr/>
          <p:nvPr/>
        </p:nvSpPr>
        <p:spPr>
          <a:xfrm>
            <a:off x="8321040" y="5486400"/>
            <a:ext cx="342864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1" i="1" u="none" strike="noStrike">
                <a:solidFill>
                  <a:srgbClr val="782F40"/>
                </a:solidFill>
                <a:effectLst/>
                <a:uFillTx/>
                <a:latin typeface="Arial"/>
                <a:ea typeface="Arial"/>
              </a:rPr>
              <a:t>"Which technique is what Domain Admins can do with DC_SYNC, and what mitigates it?"</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82F40"/>
        </a:solidFill>
      </p:bgPr>
    </p:bg>
    <p:spTree>
      <p:nvGrpSpPr>
        <p:cNvPr id="1" name=""/>
        <p:cNvGrpSpPr/>
        <p:nvPr/>
      </p:nvGrpSpPr>
      <p:grpSpPr>
        <a:xfrm>
          <a:off x="0" y="0"/>
          <a:ext cx="0" cy="0"/>
          <a:chOff x="0" y="0"/>
          <a:chExt cx="0" cy="0"/>
        </a:xfrm>
      </p:grpSpPr>
      <p:pic>
        <p:nvPicPr>
          <p:cNvPr id="295" name="Image 0" descr="/tmp/claude-1000/-home-bdgr-Agents-Ariadne/eca9f446-3ea1-4c07-8826-cc7003be2e12/scratchpad/assets/fsu-white.png"/>
          <p:cNvPicPr/>
          <p:nvPr/>
        </p:nvPicPr>
        <p:blipFill>
          <a:blip r:embed="rId1"/>
          <a:stretch/>
        </p:blipFill>
        <p:spPr>
          <a:xfrm>
            <a:off x="457200" y="292680"/>
            <a:ext cx="1105920" cy="456840"/>
          </a:xfrm>
          <a:prstGeom prst="rect">
            <a:avLst/>
          </a:prstGeom>
          <a:noFill/>
          <a:ln w="0">
            <a:noFill/>
          </a:ln>
        </p:spPr>
      </p:pic>
      <p:pic>
        <p:nvPicPr>
          <p:cNvPr id="296" name="Image 1" descr="/tmp/claude-1000/-home-bdgr-Agents-Ariadne/eca9f446-3ea1-4c07-8826-cc7003be2e12/scratchpad/assets/reliaquest-on-dark.png"/>
          <p:cNvPicPr/>
          <p:nvPr/>
        </p:nvPicPr>
        <p:blipFill>
          <a:blip r:embed="rId2"/>
          <a:stretch/>
        </p:blipFill>
        <p:spPr>
          <a:xfrm>
            <a:off x="1874520" y="374760"/>
            <a:ext cx="1325520" cy="292320"/>
          </a:xfrm>
          <a:prstGeom prst="rect">
            <a:avLst/>
          </a:prstGeom>
          <a:noFill/>
          <a:ln w="0">
            <a:noFill/>
          </a:ln>
        </p:spPr>
      </p:pic>
      <p:pic>
        <p:nvPicPr>
          <p:cNvPr id="297" name="Image 2" descr="/tmp/claude-1000/-home-bdgr-Agents-Ariadne/eca9f446-3ea1-4c07-8826-cc7003be2e12/scratchpad/assets/ariadne-mark.png"/>
          <p:cNvPicPr/>
          <p:nvPr/>
        </p:nvPicPr>
        <p:blipFill>
          <a:blip r:embed="rId3"/>
          <a:stretch/>
        </p:blipFill>
        <p:spPr>
          <a:xfrm>
            <a:off x="11201400" y="274320"/>
            <a:ext cx="529920" cy="456840"/>
          </a:xfrm>
          <a:prstGeom prst="rect">
            <a:avLst/>
          </a:prstGeom>
          <a:noFill/>
          <a:ln w="0">
            <a:noFill/>
          </a:ln>
        </p:spPr>
      </p:pic>
      <p:sp>
        <p:nvSpPr>
          <p:cNvPr id="298" name="Text 0"/>
          <p:cNvSpPr/>
          <p:nvPr/>
        </p:nvSpPr>
        <p:spPr>
          <a:xfrm>
            <a:off x="10607040" y="6510600"/>
            <a:ext cx="11426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DFD1A7"/>
                </a:solidFill>
                <a:effectLst/>
                <a:uFillTx/>
                <a:latin typeface="Arial"/>
                <a:ea typeface="Arial"/>
              </a:rPr>
              <a:t>11 / 13</a:t>
            </a:r>
            <a:endParaRPr lang="en-US" sz="900" b="0" u="none" strike="noStrike">
              <a:solidFill>
                <a:srgbClr val="FFFFFF"/>
              </a:solidFill>
              <a:effectLst/>
              <a:uFillTx/>
              <a:latin typeface="Arial"/>
            </a:endParaRPr>
          </a:p>
        </p:txBody>
      </p:sp>
      <p:sp>
        <p:nvSpPr>
          <p:cNvPr id="299" name="Text 1"/>
          <p:cNvSpPr/>
          <p:nvPr/>
        </p:nvSpPr>
        <p:spPr>
          <a:xfrm>
            <a:off x="457200" y="6510600"/>
            <a:ext cx="96008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DFD1A7"/>
                </a:solidFill>
                <a:effectLst/>
                <a:uFillTx/>
                <a:latin typeface="Arial"/>
                <a:ea typeface="Arial"/>
              </a:rPr>
              <a:t>Sources: EXP-2026-09-021 (paraphrase robustness) · EXP-2026-09-020 (workbench plan source) · EXP-2026-08-011 (synthetic identity records), docs/research/.</a:t>
            </a:r>
            <a:endParaRPr lang="en-US" sz="900" b="0" u="none" strike="noStrike">
              <a:solidFill>
                <a:srgbClr val="FFFFFF"/>
              </a:solidFill>
              <a:effectLst/>
              <a:uFillTx/>
              <a:latin typeface="Arial"/>
            </a:endParaRPr>
          </a:p>
        </p:txBody>
      </p:sp>
      <p:sp>
        <p:nvSpPr>
          <p:cNvPr id="300" name="Text 2"/>
          <p:cNvSpPr/>
          <p:nvPr/>
        </p:nvSpPr>
        <p:spPr>
          <a:xfrm>
            <a:off x="457200" y="868680"/>
            <a:ext cx="112467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FFFFFF"/>
                </a:solidFill>
                <a:effectLst/>
                <a:uFillTx/>
                <a:latin typeface="Arial"/>
                <a:ea typeface="Arial"/>
              </a:rPr>
              <a:t>Where it stops today</a:t>
            </a:r>
            <a:endParaRPr lang="en-US" sz="3000" b="0" u="none" strike="noStrike">
              <a:solidFill>
                <a:srgbClr val="FFFFFF"/>
              </a:solidFill>
              <a:effectLst/>
              <a:uFillTx/>
              <a:latin typeface="Arial"/>
            </a:endParaRPr>
          </a:p>
        </p:txBody>
      </p:sp>
      <p:sp>
        <p:nvSpPr>
          <p:cNvPr id="301" name="Shape 3"/>
          <p:cNvSpPr/>
          <p:nvPr/>
        </p:nvSpPr>
        <p:spPr>
          <a:xfrm>
            <a:off x="457200" y="1828800"/>
            <a:ext cx="365400" cy="36540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2" name="Text 4"/>
          <p:cNvSpPr/>
          <p:nvPr/>
        </p:nvSpPr>
        <p:spPr>
          <a:xfrm>
            <a:off x="457200" y="1828800"/>
            <a:ext cx="3654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01820"/>
                </a:solidFill>
                <a:effectLst/>
                <a:uFillTx/>
                <a:latin typeface="Arial"/>
                <a:ea typeface="Arial"/>
              </a:rPr>
              <a:t>1</a:t>
            </a:r>
            <a:endParaRPr lang="en-US" sz="1300" b="0" u="none" strike="noStrike">
              <a:solidFill>
                <a:srgbClr val="FFFFFF"/>
              </a:solidFill>
              <a:effectLst/>
              <a:uFillTx/>
              <a:latin typeface="Arial"/>
            </a:endParaRPr>
          </a:p>
        </p:txBody>
      </p:sp>
      <p:sp>
        <p:nvSpPr>
          <p:cNvPr id="303" name="Text 5"/>
          <p:cNvSpPr/>
          <p:nvPr/>
        </p:nvSpPr>
        <p:spPr>
          <a:xfrm>
            <a:off x="960120" y="1783080"/>
            <a:ext cx="3565800" cy="328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Arial"/>
                <a:ea typeface="Arial"/>
              </a:rPr>
              <a:t>Ask by identifier</a:t>
            </a:r>
            <a:endParaRPr lang="en-US" sz="1500" b="0" u="none" strike="noStrike">
              <a:solidFill>
                <a:srgbClr val="FFFFFF"/>
              </a:solidFill>
              <a:effectLst/>
              <a:uFillTx/>
              <a:latin typeface="Arial"/>
            </a:endParaRPr>
          </a:p>
        </p:txBody>
      </p:sp>
      <p:sp>
        <p:nvSpPr>
          <p:cNvPr id="304" name="Text 6"/>
          <p:cNvSpPr/>
          <p:nvPr/>
        </p:nvSpPr>
        <p:spPr>
          <a:xfrm>
            <a:off x="960120" y="2112120"/>
            <a:ext cx="356580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DFD1A7"/>
                </a:solidFill>
                <a:effectLst/>
                <a:uFillTx/>
                <a:latin typeface="Arial"/>
                <a:ea typeface="Arial"/>
              </a:rPr>
              <a:t>"What mitigates T1003?"  ·  "What does CAPEC-555 map to?"</a:t>
            </a:r>
            <a:endParaRPr lang="en-US" sz="1100" b="0" u="none" strike="noStrike">
              <a:solidFill>
                <a:srgbClr val="FFFFFF"/>
              </a:solidFill>
              <a:effectLst/>
              <a:uFillTx/>
              <a:latin typeface="Arial"/>
            </a:endParaRPr>
          </a:p>
        </p:txBody>
      </p:sp>
      <p:sp>
        <p:nvSpPr>
          <p:cNvPr id="305" name="Shape 7"/>
          <p:cNvSpPr/>
          <p:nvPr/>
        </p:nvSpPr>
        <p:spPr>
          <a:xfrm>
            <a:off x="4663440" y="1801440"/>
            <a:ext cx="2651400" cy="658080"/>
          </a:xfrm>
          <a:prstGeom prst="roundRect">
            <a:avLst>
              <a:gd name="adj" fmla="val 13889"/>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6" name="Text 8"/>
          <p:cNvSpPr/>
          <p:nvPr/>
        </p:nvSpPr>
        <p:spPr>
          <a:xfrm>
            <a:off x="4754880" y="1801440"/>
            <a:ext cx="2468520" cy="658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01820"/>
                </a:solidFill>
                <a:effectLst/>
                <a:uFillTx/>
                <a:latin typeface="Arial"/>
                <a:ea typeface="Arial"/>
              </a:rPr>
              <a:t>Works</a:t>
            </a:r>
            <a:endParaRPr lang="en-US" sz="1200" b="0" u="none" strike="noStrike">
              <a:solidFill>
                <a:srgbClr val="FFFFFF"/>
              </a:solidFill>
              <a:effectLst/>
              <a:uFillTx/>
              <a:latin typeface="Arial"/>
            </a:endParaRPr>
          </a:p>
        </p:txBody>
      </p:sp>
      <p:sp>
        <p:nvSpPr>
          <p:cNvPr id="307" name="Shape 9"/>
          <p:cNvSpPr/>
          <p:nvPr/>
        </p:nvSpPr>
        <p:spPr>
          <a:xfrm>
            <a:off x="457200" y="2743200"/>
            <a:ext cx="365400" cy="36540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8" name="Text 10"/>
          <p:cNvSpPr/>
          <p:nvPr/>
        </p:nvSpPr>
        <p:spPr>
          <a:xfrm>
            <a:off x="457200" y="2743200"/>
            <a:ext cx="3654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01820"/>
                </a:solidFill>
                <a:effectLst/>
                <a:uFillTx/>
                <a:latin typeface="Arial"/>
                <a:ea typeface="Arial"/>
              </a:rPr>
              <a:t>2</a:t>
            </a:r>
            <a:endParaRPr lang="en-US" sz="1300" b="0" u="none" strike="noStrike">
              <a:solidFill>
                <a:srgbClr val="FFFFFF"/>
              </a:solidFill>
              <a:effectLst/>
              <a:uFillTx/>
              <a:latin typeface="Arial"/>
            </a:endParaRPr>
          </a:p>
        </p:txBody>
      </p:sp>
      <p:sp>
        <p:nvSpPr>
          <p:cNvPr id="309" name="Text 11"/>
          <p:cNvSpPr/>
          <p:nvPr/>
        </p:nvSpPr>
        <p:spPr>
          <a:xfrm>
            <a:off x="960120" y="2697480"/>
            <a:ext cx="3565800" cy="328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Arial"/>
                <a:ea typeface="Arial"/>
              </a:rPr>
              <a:t>Reword the question</a:t>
            </a:r>
            <a:endParaRPr lang="en-US" sz="1500" b="0" u="none" strike="noStrike">
              <a:solidFill>
                <a:srgbClr val="FFFFFF"/>
              </a:solidFill>
              <a:effectLst/>
              <a:uFillTx/>
              <a:latin typeface="Arial"/>
            </a:endParaRPr>
          </a:p>
        </p:txBody>
      </p:sp>
      <p:sp>
        <p:nvSpPr>
          <p:cNvPr id="310" name="Text 12"/>
          <p:cNvSpPr/>
          <p:nvPr/>
        </p:nvSpPr>
        <p:spPr>
          <a:xfrm>
            <a:off x="960120" y="3026520"/>
            <a:ext cx="356580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DFD1A7"/>
                </a:solidFill>
                <a:effectLst/>
                <a:uFillTx/>
                <a:latin typeface="Arial"/>
                <a:ea typeface="Arial"/>
              </a:rPr>
              <a:t>same entity, different verb or phrasing</a:t>
            </a:r>
            <a:endParaRPr lang="en-US" sz="1100" b="0" u="none" strike="noStrike">
              <a:solidFill>
                <a:srgbClr val="FFFFFF"/>
              </a:solidFill>
              <a:effectLst/>
              <a:uFillTx/>
              <a:latin typeface="Arial"/>
            </a:endParaRPr>
          </a:p>
        </p:txBody>
      </p:sp>
      <p:sp>
        <p:nvSpPr>
          <p:cNvPr id="311" name="Shape 13"/>
          <p:cNvSpPr/>
          <p:nvPr/>
        </p:nvSpPr>
        <p:spPr>
          <a:xfrm>
            <a:off x="4663440" y="2715840"/>
            <a:ext cx="2651400" cy="658080"/>
          </a:xfrm>
          <a:prstGeom prst="roundRect">
            <a:avLst>
              <a:gd name="adj" fmla="val 13889"/>
            </a:avLst>
          </a:prstGeom>
          <a:solidFill>
            <a:srgbClr val="DFD1A7"/>
          </a:solidFill>
          <a:ln w="12700">
            <a:solidFill>
              <a:srgbClr val="DFD1A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2" name="Text 14"/>
          <p:cNvSpPr/>
          <p:nvPr/>
        </p:nvSpPr>
        <p:spPr>
          <a:xfrm>
            <a:off x="4754880" y="2715840"/>
            <a:ext cx="2468520" cy="658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01820"/>
                </a:solidFill>
                <a:effectLst/>
                <a:uFillTx/>
                <a:latin typeface="Arial"/>
                <a:ea typeface="Arial"/>
              </a:rPr>
              <a:t>About half survive</a:t>
            </a:r>
            <a:endParaRPr lang="en-US" sz="1200" b="0" u="none" strike="noStrike">
              <a:solidFill>
                <a:srgbClr val="FFFFFF"/>
              </a:solidFill>
              <a:effectLst/>
              <a:uFillTx/>
              <a:latin typeface="Arial"/>
            </a:endParaRPr>
          </a:p>
        </p:txBody>
      </p:sp>
      <p:sp>
        <p:nvSpPr>
          <p:cNvPr id="313" name="Shape 15"/>
          <p:cNvSpPr/>
          <p:nvPr/>
        </p:nvSpPr>
        <p:spPr>
          <a:xfrm>
            <a:off x="457200" y="3657600"/>
            <a:ext cx="365400" cy="36540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4" name="Text 16"/>
          <p:cNvSpPr/>
          <p:nvPr/>
        </p:nvSpPr>
        <p:spPr>
          <a:xfrm>
            <a:off x="457200" y="3657600"/>
            <a:ext cx="3654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01820"/>
                </a:solidFill>
                <a:effectLst/>
                <a:uFillTx/>
                <a:latin typeface="Arial"/>
                <a:ea typeface="Arial"/>
              </a:rPr>
              <a:t>3</a:t>
            </a:r>
            <a:endParaRPr lang="en-US" sz="1300" b="0" u="none" strike="noStrike">
              <a:solidFill>
                <a:srgbClr val="FFFFFF"/>
              </a:solidFill>
              <a:effectLst/>
              <a:uFillTx/>
              <a:latin typeface="Arial"/>
            </a:endParaRPr>
          </a:p>
        </p:txBody>
      </p:sp>
      <p:sp>
        <p:nvSpPr>
          <p:cNvPr id="315" name="Text 17"/>
          <p:cNvSpPr/>
          <p:nvPr/>
        </p:nvSpPr>
        <p:spPr>
          <a:xfrm>
            <a:off x="960120" y="3611880"/>
            <a:ext cx="3565800" cy="328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Arial"/>
                <a:ea typeface="Arial"/>
              </a:rPr>
              <a:t>Paraphrase the name</a:t>
            </a:r>
            <a:endParaRPr lang="en-US" sz="1500" b="0" u="none" strike="noStrike">
              <a:solidFill>
                <a:srgbClr val="FFFFFF"/>
              </a:solidFill>
              <a:effectLst/>
              <a:uFillTx/>
              <a:latin typeface="Arial"/>
            </a:endParaRPr>
          </a:p>
        </p:txBody>
      </p:sp>
      <p:sp>
        <p:nvSpPr>
          <p:cNvPr id="316" name="Text 18"/>
          <p:cNvSpPr/>
          <p:nvPr/>
        </p:nvSpPr>
        <p:spPr>
          <a:xfrm>
            <a:off x="960120" y="3940920"/>
            <a:ext cx="356580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DFD1A7"/>
                </a:solidFill>
                <a:effectLst/>
                <a:uFillTx/>
                <a:latin typeface="Arial"/>
                <a:ea typeface="Arial"/>
              </a:rPr>
              <a:t>the entity without its identifier</a:t>
            </a:r>
            <a:endParaRPr lang="en-US" sz="1100" b="0" u="none" strike="noStrike">
              <a:solidFill>
                <a:srgbClr val="FFFFFF"/>
              </a:solidFill>
              <a:effectLst/>
              <a:uFillTx/>
              <a:latin typeface="Arial"/>
            </a:endParaRPr>
          </a:p>
        </p:txBody>
      </p:sp>
      <p:sp>
        <p:nvSpPr>
          <p:cNvPr id="317" name="Shape 19"/>
          <p:cNvSpPr/>
          <p:nvPr/>
        </p:nvSpPr>
        <p:spPr>
          <a:xfrm>
            <a:off x="4663440" y="3630240"/>
            <a:ext cx="2651400" cy="658080"/>
          </a:xfrm>
          <a:prstGeom prst="roundRect">
            <a:avLst>
              <a:gd name="adj" fmla="val 13889"/>
            </a:avLst>
          </a:prstGeom>
          <a:solidFill>
            <a:srgbClr val="DFD1A7"/>
          </a:solidFill>
          <a:ln w="12700">
            <a:solidFill>
              <a:srgbClr val="DFD1A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8" name="Text 20"/>
          <p:cNvSpPr/>
          <p:nvPr/>
        </p:nvSpPr>
        <p:spPr>
          <a:xfrm>
            <a:off x="4754880" y="3630240"/>
            <a:ext cx="2468520" cy="658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01820"/>
                </a:solidFill>
                <a:effectLst/>
                <a:uFillTx/>
                <a:latin typeface="Arial"/>
                <a:ea typeface="Arial"/>
              </a:rPr>
              <a:t>About a third, with the rewrite stage shipped this week</a:t>
            </a:r>
            <a:endParaRPr lang="en-US" sz="1200" b="0" u="none" strike="noStrike">
              <a:solidFill>
                <a:srgbClr val="FFFFFF"/>
              </a:solidFill>
              <a:effectLst/>
              <a:uFillTx/>
              <a:latin typeface="Arial"/>
            </a:endParaRPr>
          </a:p>
        </p:txBody>
      </p:sp>
      <p:sp>
        <p:nvSpPr>
          <p:cNvPr id="319" name="Shape 21"/>
          <p:cNvSpPr/>
          <p:nvPr/>
        </p:nvSpPr>
        <p:spPr>
          <a:xfrm>
            <a:off x="457200" y="4572000"/>
            <a:ext cx="365400" cy="365400"/>
          </a:xfrm>
          <a:prstGeom prst="ellipse">
            <a:avLst/>
          </a:prstGeom>
          <a:solidFill>
            <a:srgbClr val="CEB888"/>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0" name="Text 22"/>
          <p:cNvSpPr/>
          <p:nvPr/>
        </p:nvSpPr>
        <p:spPr>
          <a:xfrm>
            <a:off x="457200" y="4572000"/>
            <a:ext cx="3654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01820"/>
                </a:solidFill>
                <a:effectLst/>
                <a:uFillTx/>
                <a:latin typeface="Arial"/>
                <a:ea typeface="Arial"/>
              </a:rPr>
              <a:t>4</a:t>
            </a:r>
            <a:endParaRPr lang="en-US" sz="1300" b="0" u="none" strike="noStrike">
              <a:solidFill>
                <a:srgbClr val="FFFFFF"/>
              </a:solidFill>
              <a:effectLst/>
              <a:uFillTx/>
              <a:latin typeface="Arial"/>
            </a:endParaRPr>
          </a:p>
        </p:txBody>
      </p:sp>
      <p:sp>
        <p:nvSpPr>
          <p:cNvPr id="321" name="Text 23"/>
          <p:cNvSpPr/>
          <p:nvPr/>
        </p:nvSpPr>
        <p:spPr>
          <a:xfrm>
            <a:off x="960120" y="4526280"/>
            <a:ext cx="3565800" cy="328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Arial"/>
                <a:ea typeface="Arial"/>
              </a:rPr>
              <a:t>Describe it without naming it</a:t>
            </a:r>
            <a:endParaRPr lang="en-US" sz="1500" b="0" u="none" strike="noStrike">
              <a:solidFill>
                <a:srgbClr val="FFFFFF"/>
              </a:solidFill>
              <a:effectLst/>
              <a:uFillTx/>
              <a:latin typeface="Arial"/>
            </a:endParaRPr>
          </a:p>
        </p:txBody>
      </p:sp>
      <p:sp>
        <p:nvSpPr>
          <p:cNvPr id="322" name="Text 24"/>
          <p:cNvSpPr/>
          <p:nvPr/>
        </p:nvSpPr>
        <p:spPr>
          <a:xfrm>
            <a:off x="960120" y="4855320"/>
            <a:ext cx="356580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DFD1A7"/>
                </a:solidFill>
                <a:effectLst/>
                <a:uFillTx/>
                <a:latin typeface="Arial"/>
                <a:ea typeface="Arial"/>
              </a:rPr>
              <a:t>no identifier, no recognisable name</a:t>
            </a:r>
            <a:endParaRPr lang="en-US" sz="1100" b="0" u="none" strike="noStrike">
              <a:solidFill>
                <a:srgbClr val="FFFFFF"/>
              </a:solidFill>
              <a:effectLst/>
              <a:uFillTx/>
              <a:latin typeface="Arial"/>
            </a:endParaRPr>
          </a:p>
        </p:txBody>
      </p:sp>
      <p:sp>
        <p:nvSpPr>
          <p:cNvPr id="323" name="Shape 25"/>
          <p:cNvSpPr/>
          <p:nvPr/>
        </p:nvSpPr>
        <p:spPr>
          <a:xfrm>
            <a:off x="4663440" y="4544640"/>
            <a:ext cx="2651400" cy="658080"/>
          </a:xfrm>
          <a:prstGeom prst="roundRect">
            <a:avLst>
              <a:gd name="adj" fmla="val 13889"/>
            </a:avLst>
          </a:prstGeom>
          <a:solidFill>
            <a:srgbClr val="572932"/>
          </a:solidFill>
          <a:ln w="12700">
            <a:solidFill>
              <a:srgbClr val="CEB88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4" name="Text 26"/>
          <p:cNvSpPr/>
          <p:nvPr/>
        </p:nvSpPr>
        <p:spPr>
          <a:xfrm>
            <a:off x="4754880" y="4544640"/>
            <a:ext cx="2468520" cy="658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rial"/>
                <a:ea typeface="Arial"/>
              </a:rPr>
              <a:t>Not yet</a:t>
            </a:r>
            <a:endParaRPr lang="en-US" sz="1200" b="0" u="none" strike="noStrike">
              <a:solidFill>
                <a:srgbClr val="FFFFFF"/>
              </a:solidFill>
              <a:effectLst/>
              <a:uFillTx/>
              <a:latin typeface="Arial"/>
            </a:endParaRPr>
          </a:p>
        </p:txBody>
      </p:sp>
      <p:sp>
        <p:nvSpPr>
          <p:cNvPr id="325" name="Text 27"/>
          <p:cNvSpPr/>
          <p:nvPr/>
        </p:nvSpPr>
        <p:spPr>
          <a:xfrm>
            <a:off x="7863840" y="1783080"/>
            <a:ext cx="38858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CEB888"/>
                </a:solidFill>
                <a:effectLst/>
                <a:uFillTx/>
                <a:latin typeface="Arial"/>
                <a:ea typeface="Arial"/>
              </a:rPr>
              <a:t>Also open</a:t>
            </a:r>
            <a:endParaRPr lang="en-US" sz="1500" b="0" u="none" strike="noStrike">
              <a:solidFill>
                <a:srgbClr val="FFFFFF"/>
              </a:solidFill>
              <a:effectLst/>
              <a:uFillTx/>
              <a:latin typeface="Arial"/>
            </a:endParaRPr>
          </a:p>
        </p:txBody>
      </p:sp>
      <p:sp>
        <p:nvSpPr>
          <p:cNvPr id="326" name="Text 28"/>
          <p:cNvSpPr/>
          <p:nvPr/>
        </p:nvSpPr>
        <p:spPr>
          <a:xfrm>
            <a:off x="7863840" y="2240280"/>
            <a:ext cx="3885840" cy="36572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99"/>
              </a:spcAft>
              <a:buClr>
                <a:srgbClr val="FFFFFF"/>
              </a:buClr>
              <a:buFont typeface="Symbol" charset="2"/>
              <a:buChar char=""/>
            </a:pPr>
            <a:r>
              <a:rPr lang="en-US" sz="1200" b="0" u="none" strike="noStrike">
                <a:solidFill>
                  <a:srgbClr val="FFFFFF"/>
                </a:solidFill>
                <a:effectLst/>
                <a:uFillTx/>
                <a:latin typeface="Arial"/>
                <a:ea typeface="Arial"/>
              </a:rPr>
              <a:t>Answer quality through the workbench's own planner has not been judged yet. Every headline in the record replays a human-authored plan.</a:t>
            </a:r>
            <a:endParaRPr lang="en-US" sz="1200" b="0" u="none" strike="noStrike">
              <a:solidFill>
                <a:srgbClr val="FFFFFF"/>
              </a:solidFill>
              <a:effectLst/>
              <a:uFillTx/>
              <a:latin typeface="Arial"/>
            </a:endParaRPr>
          </a:p>
          <a:p>
            <a:pPr marL="343080" indent="-343080" defTabSz="914400">
              <a:lnSpc>
                <a:spcPct val="100000"/>
              </a:lnSpc>
              <a:spcAft>
                <a:spcPts val="799"/>
              </a:spcAft>
              <a:buClr>
                <a:srgbClr val="FFFFFF"/>
              </a:buClr>
              <a:buFont typeface="Symbol" charset="2"/>
              <a:buChar char=""/>
            </a:pPr>
            <a:r>
              <a:rPr lang="en-US" sz="1200" b="0" u="none" strike="noStrike">
                <a:solidFill>
                  <a:srgbClr val="FFFFFF"/>
                </a:solidFill>
                <a:effectLst/>
                <a:uFillTx/>
                <a:latin typeface="Arial"/>
                <a:ea typeface="Arial"/>
              </a:rPr>
              <a:t>The identity records were synthetic. The schema was real.</a:t>
            </a:r>
            <a:endParaRPr lang="en-US" sz="1200" b="0" u="none" strike="noStrike">
              <a:solidFill>
                <a:srgbClr val="FFFFFF"/>
              </a:solidFill>
              <a:effectLst/>
              <a:uFillTx/>
              <a:latin typeface="Arial"/>
            </a:endParaRPr>
          </a:p>
          <a:p>
            <a:pPr marL="343080" indent="-343080" defTabSz="914400">
              <a:lnSpc>
                <a:spcPct val="100000"/>
              </a:lnSpc>
              <a:spcAft>
                <a:spcPts val="799"/>
              </a:spcAft>
              <a:buClr>
                <a:srgbClr val="FFFFFF"/>
              </a:buClr>
              <a:buFont typeface="Symbol" charset="2"/>
              <a:buChar char=""/>
            </a:pPr>
            <a:r>
              <a:rPr lang="en-US" sz="1200" b="0" u="none" strike="noStrike">
                <a:solidFill>
                  <a:srgbClr val="FFFFFF"/>
                </a:solidFill>
                <a:effectLst/>
                <a:uFillTx/>
                <a:latin typeface="Arial"/>
                <a:ea typeface="Arial"/>
              </a:rPr>
              <a:t>The schema-derived engine is what makes the system open-ended; its ceiling is set by the plan it is given. The planner is the next target.</a:t>
            </a:r>
            <a:endParaRPr lang="en-US" sz="1200" b="0" u="none" strike="noStrike">
              <a:solidFill>
                <a:srgbClr val="FFFFFF"/>
              </a:solidFill>
              <a:effectLst/>
              <a:uFillTx/>
              <a:latin typeface="Arial"/>
            </a:endParaRPr>
          </a:p>
          <a:p>
            <a:pPr marL="343080" indent="-343080" defTabSz="914400">
              <a:lnSpc>
                <a:spcPct val="100000"/>
              </a:lnSpc>
              <a:spcAft>
                <a:spcPts val="799"/>
              </a:spcAft>
              <a:buClr>
                <a:srgbClr val="FFFFFF"/>
              </a:buClr>
              <a:buFont typeface="Symbol" charset="2"/>
              <a:buChar char=""/>
            </a:pPr>
            <a:r>
              <a:rPr lang="en-US" sz="1200" b="0" u="none" strike="noStrike">
                <a:solidFill>
                  <a:srgbClr val="FFFFFF"/>
                </a:solidFill>
                <a:effectLst/>
                <a:uFillTx/>
                <a:latin typeface="Arial"/>
                <a:ea typeface="Arial"/>
              </a:rPr>
              <a:t>The rewrite stage helps questions without an identifier and is skipped when one is present.</a:t>
            </a:r>
            <a:endParaRPr lang="en-US" sz="1200" b="0" u="none" strike="noStrike">
              <a:solidFill>
                <a:srgbClr val="FFFFFF"/>
              </a:solidFill>
              <a:effectLst/>
              <a:uFillTx/>
              <a:latin typeface="Arial"/>
            </a:endParaRPr>
          </a:p>
        </p:txBody>
      </p:sp>
      <p:sp>
        <p:nvSpPr>
          <p:cNvPr id="327" name="Text 29"/>
          <p:cNvSpPr/>
          <p:nvPr/>
        </p:nvSpPr>
        <p:spPr>
          <a:xfrm>
            <a:off x="457200" y="5669280"/>
            <a:ext cx="68576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CEB888"/>
                </a:solidFill>
                <a:effectLst/>
                <a:uFillTx/>
                <a:latin typeface="Arial"/>
                <a:ea typeface="Arial"/>
              </a:rPr>
              <a:t>We know the next gap precisely, and it is measurable.</a:t>
            </a:r>
            <a:endParaRPr lang="en-U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82F40"/>
        </a:solidFill>
      </p:bgPr>
    </p:bg>
    <p:spTree>
      <p:nvGrpSpPr>
        <p:cNvPr id="1" name=""/>
        <p:cNvGrpSpPr/>
        <p:nvPr/>
      </p:nvGrpSpPr>
      <p:grpSpPr>
        <a:xfrm>
          <a:off x="0" y="0"/>
          <a:ext cx="0" cy="0"/>
          <a:chOff x="0" y="0"/>
          <a:chExt cx="0" cy="0"/>
        </a:xfrm>
      </p:grpSpPr>
      <p:pic>
        <p:nvPicPr>
          <p:cNvPr id="328" name="Image 0" descr="/tmp/claude-1000/-home-bdgr-Agents-Ariadne/eca9f446-3ea1-4c07-8826-cc7003be2e12/scratchpad/assets/fsu-white.png"/>
          <p:cNvPicPr/>
          <p:nvPr/>
        </p:nvPicPr>
        <p:blipFill>
          <a:blip r:embed="rId1"/>
          <a:stretch/>
        </p:blipFill>
        <p:spPr>
          <a:xfrm>
            <a:off x="457200" y="292680"/>
            <a:ext cx="1105920" cy="456840"/>
          </a:xfrm>
          <a:prstGeom prst="rect">
            <a:avLst/>
          </a:prstGeom>
          <a:noFill/>
          <a:ln w="0">
            <a:noFill/>
          </a:ln>
        </p:spPr>
      </p:pic>
      <p:pic>
        <p:nvPicPr>
          <p:cNvPr id="329" name="Image 1" descr="/tmp/claude-1000/-home-bdgr-Agents-Ariadne/eca9f446-3ea1-4c07-8826-cc7003be2e12/scratchpad/assets/reliaquest-on-dark.png"/>
          <p:cNvPicPr/>
          <p:nvPr/>
        </p:nvPicPr>
        <p:blipFill>
          <a:blip r:embed="rId2"/>
          <a:stretch/>
        </p:blipFill>
        <p:spPr>
          <a:xfrm>
            <a:off x="1874520" y="374760"/>
            <a:ext cx="1325520" cy="292320"/>
          </a:xfrm>
          <a:prstGeom prst="rect">
            <a:avLst/>
          </a:prstGeom>
          <a:noFill/>
          <a:ln w="0">
            <a:noFill/>
          </a:ln>
        </p:spPr>
      </p:pic>
      <p:pic>
        <p:nvPicPr>
          <p:cNvPr id="330" name="Image 2" descr="/tmp/claude-1000/-home-bdgr-Agents-Ariadne/eca9f446-3ea1-4c07-8826-cc7003be2e12/scratchpad/assets/ariadne-mark.png"/>
          <p:cNvPicPr/>
          <p:nvPr/>
        </p:nvPicPr>
        <p:blipFill>
          <a:blip r:embed="rId3"/>
          <a:stretch/>
        </p:blipFill>
        <p:spPr>
          <a:xfrm>
            <a:off x="11201400" y="274320"/>
            <a:ext cx="529920" cy="456840"/>
          </a:xfrm>
          <a:prstGeom prst="rect">
            <a:avLst/>
          </a:prstGeom>
          <a:noFill/>
          <a:ln w="0">
            <a:noFill/>
          </a:ln>
        </p:spPr>
      </p:pic>
      <p:sp>
        <p:nvSpPr>
          <p:cNvPr id="331" name="Text 0"/>
          <p:cNvSpPr/>
          <p:nvPr/>
        </p:nvSpPr>
        <p:spPr>
          <a:xfrm>
            <a:off x="10607040" y="6510600"/>
            <a:ext cx="11426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DFD1A7"/>
                </a:solidFill>
                <a:effectLst/>
                <a:uFillTx/>
                <a:latin typeface="Arial"/>
                <a:ea typeface="Arial"/>
              </a:rPr>
              <a:t>12 / 13</a:t>
            </a:r>
            <a:endParaRPr lang="en-US" sz="900" b="0" u="none" strike="noStrike">
              <a:solidFill>
                <a:srgbClr val="FFFFFF"/>
              </a:solidFill>
              <a:effectLst/>
              <a:uFillTx/>
              <a:latin typeface="Arial"/>
            </a:endParaRPr>
          </a:p>
        </p:txBody>
      </p:sp>
      <p:pic>
        <p:nvPicPr>
          <p:cNvPr id="332" name="Image 3" descr="/tmp/claude-1000/-home-bdgr-Agents-Ariadne/eca9f446-3ea1-4c07-8826-cc7003be2e12/scratchpad/assets/closing-illustration.png"/>
          <p:cNvPicPr/>
          <p:nvPr/>
        </p:nvPicPr>
        <p:blipFill>
          <a:blip r:embed="rId4"/>
          <a:stretch/>
        </p:blipFill>
        <p:spPr>
          <a:xfrm>
            <a:off x="5212080" y="1234440"/>
            <a:ext cx="6537600" cy="4900680"/>
          </a:xfrm>
          <a:prstGeom prst="rect">
            <a:avLst/>
          </a:prstGeom>
          <a:noFill/>
          <a:ln w="0">
            <a:noFill/>
          </a:ln>
        </p:spPr>
      </p:pic>
      <p:sp>
        <p:nvSpPr>
          <p:cNvPr id="333" name="Text 1"/>
          <p:cNvSpPr/>
          <p:nvPr/>
        </p:nvSpPr>
        <p:spPr>
          <a:xfrm>
            <a:off x="457200" y="1737360"/>
            <a:ext cx="45716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400" b="1" u="none" strike="noStrike">
                <a:solidFill>
                  <a:srgbClr val="FFFFFF"/>
                </a:solidFill>
                <a:effectLst/>
                <a:uFillTx/>
                <a:latin typeface="Arial"/>
                <a:ea typeface="Arial"/>
              </a:rPr>
              <a:t>Thank you</a:t>
            </a:r>
            <a:endParaRPr lang="en-US" sz="4400" b="0" u="none" strike="noStrike">
              <a:solidFill>
                <a:srgbClr val="FFFFFF"/>
              </a:solidFill>
              <a:effectLst/>
              <a:uFillTx/>
              <a:latin typeface="Arial"/>
            </a:endParaRPr>
          </a:p>
        </p:txBody>
      </p:sp>
      <p:sp>
        <p:nvSpPr>
          <p:cNvPr id="334" name="Text 2"/>
          <p:cNvSpPr/>
          <p:nvPr/>
        </p:nvSpPr>
        <p:spPr>
          <a:xfrm>
            <a:off x="457200" y="2697480"/>
            <a:ext cx="45716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0" u="none" strike="noStrike">
                <a:solidFill>
                  <a:srgbClr val="CEB888"/>
                </a:solidFill>
                <a:effectLst/>
                <a:uFillTx/>
                <a:latin typeface="Arial"/>
                <a:ea typeface="Arial"/>
              </a:rPr>
              <a:t>Questions?</a:t>
            </a:r>
            <a:endParaRPr lang="en-US" sz="2400" b="0" u="none" strike="noStrike">
              <a:solidFill>
                <a:srgbClr val="FFFFFF"/>
              </a:solidFill>
              <a:effectLst/>
              <a:uFillTx/>
              <a:latin typeface="Arial"/>
            </a:endParaRPr>
          </a:p>
        </p:txBody>
      </p:sp>
      <p:sp>
        <p:nvSpPr>
          <p:cNvPr id="335" name="Text 3"/>
          <p:cNvSpPr/>
          <p:nvPr/>
        </p:nvSpPr>
        <p:spPr>
          <a:xfrm>
            <a:off x="457200" y="3840480"/>
            <a:ext cx="45716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FFFFFF"/>
                </a:solidFill>
                <a:effectLst/>
                <a:uFillTx/>
                <a:latin typeface="Arial"/>
                <a:ea typeface="Arial"/>
              </a:rPr>
              <a:t>One question. Answers from many sources.</a:t>
            </a:r>
            <a:endParaRPr lang="en-US" sz="1500" b="0" u="none" strike="noStrike">
              <a:solidFill>
                <a:srgbClr val="FFFFFF"/>
              </a:solidFill>
              <a:effectLst/>
              <a:uFillTx/>
              <a:latin typeface="Arial"/>
            </a:endParaRPr>
          </a:p>
        </p:txBody>
      </p:sp>
      <p:sp>
        <p:nvSpPr>
          <p:cNvPr id="336" name="Text 4"/>
          <p:cNvSpPr/>
          <p:nvPr/>
        </p:nvSpPr>
        <p:spPr>
          <a:xfrm>
            <a:off x="457200" y="4572000"/>
            <a:ext cx="4571640" cy="12798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rgbClr val="FFFFFF"/>
                </a:solidFill>
                <a:effectLst/>
                <a:uFillTx/>
                <a:latin typeface="Arial"/>
                <a:ea typeface="Arial"/>
              </a:rPr>
              <a:t>Olmo S. Zavala Romero</a:t>
            </a:r>
            <a:r>
              <a:rPr lang="en-US" sz="1200" b="0" u="none" strike="noStrike">
                <a:solidFill>
                  <a:srgbClr val="FFFFFF"/>
                </a:solidFill>
                <a:effectLst/>
                <a:uFillTx/>
                <a:latin typeface="Arial"/>
                <a:ea typeface="Arial"/>
              </a:rPr>
              <a:t> · PI</a:t>
            </a:r>
            <a:endParaRPr lang="en-US" sz="1200" b="0" u="none" strike="noStrike">
              <a:solidFill>
                <a:srgbClr val="FFFFFF"/>
              </a:solidFill>
              <a:effectLst/>
              <a:uFillTx/>
              <a:latin typeface="Arial"/>
            </a:endParaRPr>
          </a:p>
          <a:p>
            <a:pPr defTabSz="914400">
              <a:lnSpc>
                <a:spcPct val="100000"/>
              </a:lnSpc>
              <a:tabLst>
                <a:tab pos="0" algn="l"/>
              </a:tabLst>
            </a:pPr>
            <a:r>
              <a:rPr lang="en-US" sz="1200" b="1" u="none" strike="noStrike">
                <a:solidFill>
                  <a:srgbClr val="FFFFFF"/>
                </a:solidFill>
                <a:effectLst/>
                <a:uFillTx/>
                <a:latin typeface="Arial"/>
                <a:ea typeface="Arial"/>
              </a:rPr>
              <a:t>Brendon DGR</a:t>
            </a:r>
            <a:r>
              <a:rPr lang="en-US" sz="1200" b="0" u="none" strike="noStrike">
                <a:solidFill>
                  <a:srgbClr val="FFFFFF"/>
                </a:solidFill>
                <a:effectLst/>
                <a:uFillTx/>
                <a:latin typeface="Arial"/>
                <a:ea typeface="Arial"/>
              </a:rPr>
              <a:t> · technical lead</a:t>
            </a:r>
            <a:endParaRPr lang="en-US" sz="1200" b="0" u="none" strike="noStrike">
              <a:solidFill>
                <a:srgbClr val="FFFFFF"/>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Arial"/>
                <a:ea typeface="Arial"/>
              </a:rPr>
              <a:t>Department of Scientific Computing, Florida State University</a:t>
            </a:r>
            <a:endParaRPr lang="en-US" sz="1200" b="0" u="none" strike="noStrike">
              <a:solidFill>
                <a:srgbClr val="FFFFFF"/>
              </a:solidFill>
              <a:effectLst/>
              <a:uFillTx/>
              <a:latin typeface="Arial"/>
            </a:endParaRPr>
          </a:p>
          <a:p>
            <a:pPr defTabSz="914400">
              <a:lnSpc>
                <a:spcPct val="100000"/>
              </a:lnSpc>
              <a:tabLst>
                <a:tab pos="0" algn="l"/>
              </a:tabLst>
            </a:pPr>
            <a:r>
              <a:rPr lang="en-US" sz="1200" b="0" u="none" strike="noStrike">
                <a:solidFill>
                  <a:srgbClr val="CEB888"/>
                </a:solidFill>
                <a:effectLst/>
                <a:uFillTx/>
                <a:latin typeface="Arial"/>
                <a:ea typeface="Arial"/>
              </a:rPr>
              <a:t>github.com/brendondgr/Ariadne</a:t>
            </a:r>
            <a:endParaRPr lang="en-US" sz="1200" b="0" u="none" strike="noStrike">
              <a:solidFill>
                <a:srgbClr val="FFFFFF"/>
              </a:solidFill>
              <a:effectLst/>
              <a:uFillTx/>
              <a:latin typeface="Arial"/>
            </a:endParaRPr>
          </a:p>
        </p:txBody>
      </p:sp>
      <p:sp>
        <p:nvSpPr>
          <p:cNvPr id="337" name="Text 5"/>
          <p:cNvSpPr/>
          <p:nvPr/>
        </p:nvSpPr>
        <p:spPr>
          <a:xfrm>
            <a:off x="5212080" y="6172200"/>
            <a:ext cx="65376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i="1" u="none" strike="noStrike">
                <a:solidFill>
                  <a:srgbClr val="DFD1A7"/>
                </a:solidFill>
                <a:effectLst/>
                <a:uFillTx/>
                <a:latin typeface="Arial"/>
                <a:ea typeface="Arial"/>
              </a:rPr>
              <a:t>Ariadne's thread guides travelers through the Gremlin and Cypher labyrinths.</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38" name="Image 0" descr="/tmp/claude-1000/-home-bdgr-Agents-Ariadne/eca9f446-3ea1-4c07-8826-cc7003be2e12/scratchpad/assets/fsu-garnet-gold.png"/>
          <p:cNvPicPr/>
          <p:nvPr/>
        </p:nvPicPr>
        <p:blipFill>
          <a:blip r:embed="rId1"/>
          <a:stretch/>
        </p:blipFill>
        <p:spPr>
          <a:xfrm>
            <a:off x="457200" y="292680"/>
            <a:ext cx="1105920" cy="456840"/>
          </a:xfrm>
          <a:prstGeom prst="rect">
            <a:avLst/>
          </a:prstGeom>
          <a:noFill/>
          <a:ln w="0">
            <a:noFill/>
          </a:ln>
        </p:spPr>
      </p:pic>
      <p:pic>
        <p:nvPicPr>
          <p:cNvPr id="339" name="Image 1" descr="/tmp/claude-1000/-home-bdgr-Agents-Ariadne/eca9f446-3ea1-4c07-8826-cc7003be2e12/scratchpad/assets/reliaquest.png"/>
          <p:cNvPicPr/>
          <p:nvPr/>
        </p:nvPicPr>
        <p:blipFill>
          <a:blip r:embed="rId2"/>
          <a:stretch/>
        </p:blipFill>
        <p:spPr>
          <a:xfrm>
            <a:off x="1874520" y="374760"/>
            <a:ext cx="1325520" cy="292320"/>
          </a:xfrm>
          <a:prstGeom prst="rect">
            <a:avLst/>
          </a:prstGeom>
          <a:noFill/>
          <a:ln w="0">
            <a:noFill/>
          </a:ln>
        </p:spPr>
      </p:pic>
      <p:pic>
        <p:nvPicPr>
          <p:cNvPr id="340" name="Image 2" descr="/tmp/claude-1000/-home-bdgr-Agents-Ariadne/eca9f446-3ea1-4c07-8826-cc7003be2e12/scratchpad/assets/ariadne-mark.png"/>
          <p:cNvPicPr/>
          <p:nvPr/>
        </p:nvPicPr>
        <p:blipFill>
          <a:blip r:embed="rId3"/>
          <a:stretch/>
        </p:blipFill>
        <p:spPr>
          <a:xfrm>
            <a:off x="11201400" y="274320"/>
            <a:ext cx="529920" cy="456840"/>
          </a:xfrm>
          <a:prstGeom prst="rect">
            <a:avLst/>
          </a:prstGeom>
          <a:noFill/>
          <a:ln w="0">
            <a:noFill/>
          </a:ln>
        </p:spPr>
      </p:pic>
      <p:sp>
        <p:nvSpPr>
          <p:cNvPr id="341" name="Text 0"/>
          <p:cNvSpPr/>
          <p:nvPr/>
        </p:nvSpPr>
        <p:spPr>
          <a:xfrm>
            <a:off x="10607040" y="6510600"/>
            <a:ext cx="11426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101820"/>
                </a:solidFill>
                <a:effectLst/>
                <a:uFillTx/>
                <a:latin typeface="Arial"/>
                <a:ea typeface="Arial"/>
              </a:rPr>
              <a:t>13 / 13</a:t>
            </a:r>
            <a:endParaRPr lang="en-US" sz="900" b="0" u="none" strike="noStrike">
              <a:solidFill>
                <a:srgbClr val="000000"/>
              </a:solidFill>
              <a:effectLst/>
              <a:uFillTx/>
              <a:latin typeface="Arial"/>
            </a:endParaRPr>
          </a:p>
        </p:txBody>
      </p:sp>
      <p:sp>
        <p:nvSpPr>
          <p:cNvPr id="342" name="Text 1"/>
          <p:cNvSpPr/>
          <p:nvPr/>
        </p:nvSpPr>
        <p:spPr>
          <a:xfrm>
            <a:off x="457200" y="868680"/>
            <a:ext cx="112467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782F40"/>
                </a:solidFill>
                <a:effectLst/>
                <a:uFillTx/>
                <a:latin typeface="Arial"/>
                <a:ea typeface="Arial"/>
              </a:rPr>
              <a:t>Works cited</a:t>
            </a:r>
            <a:endParaRPr lang="en-US" sz="3000" b="0" u="none" strike="noStrike">
              <a:solidFill>
                <a:srgbClr val="000000"/>
              </a:solidFill>
              <a:effectLst/>
              <a:uFillTx/>
              <a:latin typeface="Arial"/>
            </a:endParaRPr>
          </a:p>
        </p:txBody>
      </p:sp>
      <p:sp>
        <p:nvSpPr>
          <p:cNvPr id="343" name="Text 2"/>
          <p:cNvSpPr/>
          <p:nvPr/>
        </p:nvSpPr>
        <p:spPr>
          <a:xfrm>
            <a:off x="457200" y="1691640"/>
            <a:ext cx="5394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782F40"/>
                </a:solidFill>
                <a:effectLst/>
                <a:uFillTx/>
                <a:latin typeface="Arial"/>
                <a:ea typeface="Arial"/>
              </a:rPr>
              <a:t>Data and tools</a:t>
            </a:r>
            <a:endParaRPr lang="en-US" sz="1300" b="0" u="none" strike="noStrike">
              <a:solidFill>
                <a:srgbClr val="000000"/>
              </a:solidFill>
              <a:effectLst/>
              <a:uFillTx/>
              <a:latin typeface="Arial"/>
            </a:endParaRPr>
          </a:p>
        </p:txBody>
      </p:sp>
      <p:sp>
        <p:nvSpPr>
          <p:cNvPr id="344" name="Text 3"/>
          <p:cNvSpPr/>
          <p:nvPr/>
        </p:nvSpPr>
        <p:spPr>
          <a:xfrm>
            <a:off x="457200" y="2057400"/>
            <a:ext cx="5394600" cy="420588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601"/>
              </a:spcAft>
              <a:tabLst>
                <a:tab pos="0" algn="l"/>
              </a:tabLst>
            </a:pPr>
            <a:r>
              <a:rPr lang="en-US" sz="1000" b="0" u="none" strike="noStrike">
                <a:solidFill>
                  <a:srgbClr val="101820"/>
                </a:solidFill>
                <a:effectLst/>
                <a:uFillTx/>
                <a:latin typeface="Arial"/>
                <a:ea typeface="Arial"/>
              </a:rPr>
              <a:t>1.  MITRE ATT&amp;CK®. Enterprise ATT&amp;CK, STIX 2.1 data. https://github.com/mitre-attack/attack-stix-data</a:t>
            </a:r>
            <a:endParaRPr lang="en-US" sz="1000" b="0" u="none" strike="noStrike">
              <a:solidFill>
                <a:srgbClr val="000000"/>
              </a:solidFill>
              <a:effectLst/>
              <a:uFillTx/>
              <a:latin typeface="Arial"/>
            </a:endParaRPr>
          </a:p>
          <a:p>
            <a:pPr defTabSz="914400">
              <a:lnSpc>
                <a:spcPct val="100000"/>
              </a:lnSpc>
              <a:spcAft>
                <a:spcPts val="601"/>
              </a:spcAft>
              <a:tabLst>
                <a:tab pos="0" algn="l"/>
              </a:tabLst>
            </a:pPr>
            <a:r>
              <a:rPr lang="en-US" sz="1000" b="0" u="none" strike="noStrike">
                <a:solidFill>
                  <a:srgbClr val="101820"/>
                </a:solidFill>
                <a:effectLst/>
                <a:uFillTx/>
                <a:latin typeface="Arial"/>
                <a:ea typeface="Arial"/>
              </a:rPr>
              <a:t>2.  MITRE CAPEC™. Common Attack Pattern Enumeration and Classification, version 3.9. https://capec.mitre.org</a:t>
            </a:r>
            <a:endParaRPr lang="en-US" sz="1000" b="0" u="none" strike="noStrike">
              <a:solidFill>
                <a:srgbClr val="000000"/>
              </a:solidFill>
              <a:effectLst/>
              <a:uFillTx/>
              <a:latin typeface="Arial"/>
            </a:endParaRPr>
          </a:p>
          <a:p>
            <a:pPr defTabSz="914400">
              <a:lnSpc>
                <a:spcPct val="100000"/>
              </a:lnSpc>
              <a:spcAft>
                <a:spcPts val="601"/>
              </a:spcAft>
              <a:tabLst>
                <a:tab pos="0" algn="l"/>
              </a:tabLst>
            </a:pPr>
            <a:r>
              <a:rPr lang="en-US" sz="1000" b="0" u="none" strike="noStrike">
                <a:solidFill>
                  <a:srgbClr val="101820"/>
                </a:solidFill>
                <a:effectLst/>
                <a:uFillTx/>
                <a:latin typeface="Arial"/>
                <a:ea typeface="Arial"/>
              </a:rPr>
              <a:t>3.  Neo4j. Cypher Manual. https://neo4j.com/docs/cypher-manual/</a:t>
            </a:r>
            <a:endParaRPr lang="en-US" sz="1000" b="0" u="none" strike="noStrike">
              <a:solidFill>
                <a:srgbClr val="000000"/>
              </a:solidFill>
              <a:effectLst/>
              <a:uFillTx/>
              <a:latin typeface="Arial"/>
            </a:endParaRPr>
          </a:p>
          <a:p>
            <a:pPr defTabSz="914400">
              <a:lnSpc>
                <a:spcPct val="100000"/>
              </a:lnSpc>
              <a:spcAft>
                <a:spcPts val="601"/>
              </a:spcAft>
              <a:tabLst>
                <a:tab pos="0" algn="l"/>
              </a:tabLst>
            </a:pPr>
            <a:r>
              <a:rPr lang="en-US" sz="1000" b="0" u="none" strike="noStrike">
                <a:solidFill>
                  <a:srgbClr val="101820"/>
                </a:solidFill>
                <a:effectLst/>
                <a:uFillTx/>
                <a:latin typeface="Arial"/>
                <a:ea typeface="Arial"/>
              </a:rPr>
              <a:t>4.  Apache TinkerPop. The Gremlin Graph Traversal Language. https://tinkerpop.apache.org/gremlin.html</a:t>
            </a:r>
            <a:endParaRPr lang="en-US" sz="1000" b="0" u="none" strike="noStrike">
              <a:solidFill>
                <a:srgbClr val="000000"/>
              </a:solidFill>
              <a:effectLst/>
              <a:uFillTx/>
              <a:latin typeface="Arial"/>
            </a:endParaRPr>
          </a:p>
          <a:p>
            <a:pPr defTabSz="914400">
              <a:lnSpc>
                <a:spcPct val="100000"/>
              </a:lnSpc>
              <a:spcAft>
                <a:spcPts val="601"/>
              </a:spcAft>
              <a:tabLst>
                <a:tab pos="0" algn="l"/>
              </a:tabLst>
            </a:pPr>
            <a:r>
              <a:rPr lang="en-US" sz="1000" b="0" u="none" strike="noStrike">
                <a:solidFill>
                  <a:srgbClr val="101820"/>
                </a:solidFill>
                <a:effectLst/>
                <a:uFillTx/>
                <a:latin typeface="Arial"/>
                <a:ea typeface="Arial"/>
              </a:rPr>
              <a:t>5.  ISO/IEC 39075:2024. Information technology — Database languages — GQL. https://www.iso.org/standard/76120.html</a:t>
            </a:r>
            <a:endParaRPr lang="en-US" sz="1000" b="0" u="none" strike="noStrike">
              <a:solidFill>
                <a:srgbClr val="000000"/>
              </a:solidFill>
              <a:effectLst/>
              <a:uFillTx/>
              <a:latin typeface="Arial"/>
            </a:endParaRPr>
          </a:p>
          <a:p>
            <a:pPr defTabSz="914400">
              <a:lnSpc>
                <a:spcPct val="100000"/>
              </a:lnSpc>
              <a:spcAft>
                <a:spcPts val="601"/>
              </a:spcAft>
              <a:tabLst>
                <a:tab pos="0" algn="l"/>
              </a:tabLst>
            </a:pPr>
            <a:r>
              <a:rPr lang="en-US" sz="1000" b="0" u="none" strike="noStrike">
                <a:solidFill>
                  <a:srgbClr val="101820"/>
                </a:solidFill>
                <a:effectLst/>
                <a:uFillTx/>
                <a:latin typeface="Arial"/>
                <a:ea typeface="Arial"/>
              </a:rPr>
              <a:t>6.  LangChain. LangGraph. https://github.com/langchain-ai/langgraph</a:t>
            </a:r>
            <a:endParaRPr lang="en-US" sz="1000" b="0" u="none" strike="noStrike">
              <a:solidFill>
                <a:srgbClr val="000000"/>
              </a:solidFill>
              <a:effectLst/>
              <a:uFillTx/>
              <a:latin typeface="Arial"/>
            </a:endParaRPr>
          </a:p>
          <a:p>
            <a:pPr defTabSz="914400">
              <a:lnSpc>
                <a:spcPct val="100000"/>
              </a:lnSpc>
              <a:spcAft>
                <a:spcPts val="601"/>
              </a:spcAft>
              <a:tabLst>
                <a:tab pos="0" algn="l"/>
              </a:tabLst>
            </a:pPr>
            <a:r>
              <a:rPr lang="en-US" sz="1000" b="0" u="none" strike="noStrike">
                <a:solidFill>
                  <a:srgbClr val="101820"/>
                </a:solidFill>
                <a:effectLst/>
                <a:uFillTx/>
                <a:latin typeface="Arial"/>
                <a:ea typeface="Arial"/>
              </a:rPr>
              <a:t>7.  Amazon Web Services. Amazon Neptune documentation. https://docs.aws.amazon.com/neptune/</a:t>
            </a:r>
            <a:endParaRPr lang="en-US" sz="1000" b="0" u="none" strike="noStrike">
              <a:solidFill>
                <a:srgbClr val="000000"/>
              </a:solidFill>
              <a:effectLst/>
              <a:uFillTx/>
              <a:latin typeface="Arial"/>
            </a:endParaRPr>
          </a:p>
          <a:p>
            <a:pPr defTabSz="914400">
              <a:lnSpc>
                <a:spcPct val="100000"/>
              </a:lnSpc>
              <a:spcAft>
                <a:spcPts val="601"/>
              </a:spcAft>
              <a:tabLst>
                <a:tab pos="0" algn="l"/>
              </a:tabLst>
            </a:pPr>
            <a:r>
              <a:rPr lang="en-US" sz="1000" b="0" u="none" strike="noStrike">
                <a:solidFill>
                  <a:srgbClr val="101820"/>
                </a:solidFill>
                <a:effectLst/>
                <a:uFillTx/>
                <a:latin typeface="Arial"/>
                <a:ea typeface="Arial"/>
              </a:rPr>
              <a:t>8.  Google Cloud. Spanner Graph documentation. https://cloud.google.com/spanner/docs/graph</a:t>
            </a:r>
            <a:endParaRPr lang="en-US" sz="1000" b="0" u="none" strike="noStrike">
              <a:solidFill>
                <a:srgbClr val="000000"/>
              </a:solidFill>
              <a:effectLst/>
              <a:uFillTx/>
              <a:latin typeface="Arial"/>
            </a:endParaRPr>
          </a:p>
        </p:txBody>
      </p:sp>
      <p:sp>
        <p:nvSpPr>
          <p:cNvPr id="345" name="Text 4"/>
          <p:cNvSpPr/>
          <p:nvPr/>
        </p:nvSpPr>
        <p:spPr>
          <a:xfrm>
            <a:off x="6309360" y="1691640"/>
            <a:ext cx="54403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782F40"/>
                </a:solidFill>
                <a:effectLst/>
                <a:uFillTx/>
                <a:latin typeface="Arial"/>
                <a:ea typeface="Arial"/>
              </a:rPr>
              <a:t>Prior and related work</a:t>
            </a:r>
            <a:endParaRPr lang="en-US" sz="1300" b="0" u="none" strike="noStrike">
              <a:solidFill>
                <a:srgbClr val="000000"/>
              </a:solidFill>
              <a:effectLst/>
              <a:uFillTx/>
              <a:latin typeface="Arial"/>
            </a:endParaRPr>
          </a:p>
        </p:txBody>
      </p:sp>
      <p:sp>
        <p:nvSpPr>
          <p:cNvPr id="346" name="Text 5"/>
          <p:cNvSpPr/>
          <p:nvPr/>
        </p:nvSpPr>
        <p:spPr>
          <a:xfrm>
            <a:off x="6309360" y="2057400"/>
            <a:ext cx="5440320" cy="420588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601"/>
              </a:spcAft>
              <a:tabLst>
                <a:tab pos="0" algn="l"/>
              </a:tabLst>
            </a:pPr>
            <a:r>
              <a:rPr lang="en-US" sz="1000" b="0" u="none" strike="noStrike">
                <a:solidFill>
                  <a:srgbClr val="101820"/>
                </a:solidFill>
                <a:effectLst/>
                <a:uFillTx/>
                <a:latin typeface="Arial"/>
                <a:ea typeface="Arial"/>
              </a:rPr>
              <a:t>9.  Kurniawan, K., Ardian, R. F., Kiesling, E., &amp; Ekelhart, A. (2025). AgCyRAG: an Agentic Knowledge Graph based RAG Framework for Automated Security Analysis. RAGE-KG @ ISWC 2025, CEUR-WS Vol. 4079, 132–144.</a:t>
            </a:r>
            <a:endParaRPr lang="en-US" sz="1000" b="0" u="none" strike="noStrike">
              <a:solidFill>
                <a:srgbClr val="000000"/>
              </a:solidFill>
              <a:effectLst/>
              <a:uFillTx/>
              <a:latin typeface="Arial"/>
            </a:endParaRPr>
          </a:p>
          <a:p>
            <a:pPr defTabSz="914400">
              <a:lnSpc>
                <a:spcPct val="100000"/>
              </a:lnSpc>
              <a:spcAft>
                <a:spcPts val="601"/>
              </a:spcAft>
              <a:tabLst>
                <a:tab pos="0" algn="l"/>
              </a:tabLst>
            </a:pPr>
            <a:r>
              <a:rPr lang="en-US" sz="1000" b="0" u="none" strike="noStrike">
                <a:solidFill>
                  <a:srgbClr val="101820"/>
                </a:solidFill>
                <a:effectLst/>
                <a:uFillTx/>
                <a:latin typeface="Arial"/>
                <a:ea typeface="Arial"/>
              </a:rPr>
              <a:t>10.  Ozsoy, M. G. (2026). Toward Multi-Database Query Reasoning for Text2Cypher. arXiv:2605.10373.</a:t>
            </a:r>
            <a:endParaRPr lang="en-US" sz="1000" b="0" u="none" strike="noStrike">
              <a:solidFill>
                <a:srgbClr val="000000"/>
              </a:solidFill>
              <a:effectLst/>
              <a:uFillTx/>
              <a:latin typeface="Arial"/>
            </a:endParaRPr>
          </a:p>
          <a:p>
            <a:pPr defTabSz="914400">
              <a:lnSpc>
                <a:spcPct val="100000"/>
              </a:lnSpc>
              <a:spcAft>
                <a:spcPts val="601"/>
              </a:spcAft>
              <a:tabLst>
                <a:tab pos="0" algn="l"/>
              </a:tabLst>
            </a:pPr>
            <a:r>
              <a:rPr lang="en-US" sz="1000" b="0" u="none" strike="noStrike">
                <a:solidFill>
                  <a:srgbClr val="101820"/>
                </a:solidFill>
                <a:effectLst/>
                <a:uFillTx/>
                <a:latin typeface="Arial"/>
                <a:ea typeface="Arial"/>
              </a:rPr>
              <a:t>11.  Szlobodnyik, G. (2026). Feedback-Guided Prompt Injection Defense in Retrieval-Augmented Text-to-Cypher Generation. Analytics, 5(3), 25. https://doi.org/10.3390/analytics5030025</a:t>
            </a:r>
            <a:endParaRPr lang="en-US" sz="1000" b="0" u="none" strike="noStrike">
              <a:solidFill>
                <a:srgbClr val="000000"/>
              </a:solidFill>
              <a:effectLst/>
              <a:uFillTx/>
              <a:latin typeface="Arial"/>
            </a:endParaRPr>
          </a:p>
          <a:p>
            <a:pPr defTabSz="914400">
              <a:lnSpc>
                <a:spcPct val="100000"/>
              </a:lnSpc>
              <a:spcAft>
                <a:spcPts val="601"/>
              </a:spcAft>
              <a:tabLst>
                <a:tab pos="0" algn="l"/>
              </a:tabLst>
            </a:pPr>
            <a:r>
              <a:rPr lang="en-US" sz="1000" b="0" u="none" strike="noStrike">
                <a:solidFill>
                  <a:srgbClr val="101820"/>
                </a:solidFill>
                <a:effectLst/>
                <a:uFillTx/>
                <a:latin typeface="Arial"/>
                <a:ea typeface="Arial"/>
              </a:rPr>
              <a:t>12.  Leung, Belbahri, Sui, Labach, Zhang, Rose, &amp; Cresswell (2026). Classifying and Addressing the Diversity of Errors in Retrieval-Augmented Generation Systems. Proceedings of EACL 2026, 3185–3207.</a:t>
            </a:r>
            <a:endParaRPr lang="en-US" sz="1000" b="0" u="none" strike="noStrike">
              <a:solidFill>
                <a:srgbClr val="000000"/>
              </a:solidFill>
              <a:effectLst/>
              <a:uFillTx/>
              <a:latin typeface="Arial"/>
            </a:endParaRPr>
          </a:p>
          <a:p>
            <a:pPr defTabSz="914400">
              <a:lnSpc>
                <a:spcPct val="100000"/>
              </a:lnSpc>
              <a:spcAft>
                <a:spcPts val="601"/>
              </a:spcAft>
              <a:tabLst>
                <a:tab pos="0" algn="l"/>
              </a:tabLst>
            </a:pPr>
            <a:r>
              <a:rPr lang="en-US" sz="1000" b="0" u="none" strike="noStrike">
                <a:solidFill>
                  <a:srgbClr val="101820"/>
                </a:solidFill>
                <a:effectLst/>
                <a:uFillTx/>
                <a:latin typeface="Arial"/>
                <a:ea typeface="Arial"/>
              </a:rPr>
              <a:t>13.  Zavala Romero, O. S., &amp; DGR, B. (2026). Ariadne: federated agentic access to cybersecurity knowledge graphs. Research record, docs/research/, https://github.com/brendondgr/Ariadne</a:t>
            </a:r>
            <a:endParaRPr lang="en-US" sz="1000" b="0" u="none" strike="noStrike">
              <a:solidFill>
                <a:srgbClr val="000000"/>
              </a:solidFill>
              <a:effectLst/>
              <a:uFillTx/>
              <a:latin typeface="Arial"/>
            </a:endParaRPr>
          </a:p>
        </p:txBody>
      </p:sp>
      <p:sp>
        <p:nvSpPr>
          <p:cNvPr id="347" name="Text 6"/>
          <p:cNvSpPr/>
          <p:nvPr/>
        </p:nvSpPr>
        <p:spPr>
          <a:xfrm>
            <a:off x="457200" y="5943600"/>
            <a:ext cx="112467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00" b="0" i="1" u="none" strike="noStrike">
                <a:solidFill>
                  <a:srgbClr val="101820"/>
                </a:solidFill>
                <a:effectLst/>
                <a:uFillTx/>
                <a:latin typeface="Arial"/>
                <a:ea typeface="Arial"/>
              </a:rPr>
              <a:t>ATT&amp;CK® and CAPEC™ are trademarks of The MITRE Corporation. The ReliaQuest and Florida State University marks belong to their owners. Closing illustration and figures on slides 2–3: Ariadne project, O. Zavala Romero, 2026.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58</TotalTime>
  <Application>LibreOffice/26.2.6.3$Linux_X86_64 LibreOffice_project/620$Build-3</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2026-09-15T23:38:44Z</dcterms:created>
  <dc:creator>Brendon DGR · FSU Scientific Computing</dc:creator>
  <dc:description/>
  <dc:language>en-US</dc:language>
  <cp:lastModifiedBy/>
  <dcterms:modified xsi:type="dcterms:W3CDTF">2026-09-15T22:20:16Z</dcterms:modified>
  <cp:revision>2</cp:revision>
  <dc:subject>PptxGenJS Presentation</dc:subject>
  <dc:title>Ariadne — One question. Answers from many sources.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On-screen Show (16:9)</vt:lpwstr>
  </property>
  <property fmtid="{D5CDD505-2E9C-101B-9397-08002B2CF9AE}" pid="4" name="Slides">
    <vt:i4>13</vt:i4>
  </property>
</Properties>
</file>