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Security knowledge lives in databases that do not speak the same language. Ariadne lets an analyst ask one question across all of them, and shows the record behind every sentence of the answer. I am Brendon, the technical lead; Olmo Zavala Romero is the PI. This is our ReliaQuest Innovation Challenge project from FSU Scientific Computing.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A relational database keeps well-structured records in tables. It is very good at "how many failed logins per account". A knowledge graph stores entities as nodes and their connections as named relationships. It is built for "what connects this account to a threat". In security the second question is the one that matters, and it is a path, not a count.
Sources / notes for the presenter: Figure: relational records vs. a knowledge graph, cybersecurity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Here is the catch. Useful security knowledge is spread across several graphs, and they speak different query languages. MITRE ATT&amp;CK, the catalogue of adversary techniques, we hold in Neo4j and query in Cypher. MITRE CAPEC, the attack-pattern catalogue, sits in a Gremlin server. Cloud graph databases speak GQL. Same question, three grammars. An analyst who knows one cannot ask the others.
Sources / notes for the presenter: Query languages: Cypher (Neo4j), Gremlin (Apache TinkerPop), GQL (ISO/IEC 39075:2024). Example queries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Today you have three options. Write the query by hand: accurate and auditable, but slow, and you need an expert per language. Ask a chatbot: fast, but the query it ran is hidden, and a language model can hallucinate, that is, state something as fact that is not in the data. Or copy everything into one database: one language to learn, but it is expensive, stale the day it lands, and you have rewritten the sources. Each option trades away something an analyst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Ariadne is a different shape. A question comes in. A planner splits it into per-database sub-questions and checks the plan against each database's spec sheet, its source card. One specialist per database reads that card and composes the query in the database's own language: Cypher for ATT&amp;CK, Gremlin for CAPEC. Every query is checked before it runs: read-only, bounded, only the labels and relationships the card declares. Results come back as records with their provenance. A verifier checks every claim against those records. If the evidence does not answer the question, the planner is asked again, up to five rounds. Two rules hold it together: no model ever writes a query, and no claim is made without a record behind it.
Sources / notes for the presenter: Pipeline as shipped in the Ariadne workbench (September 2026). Retrieval loop capped at 5 rounds. Figure: Ariadne framework, O. Zavala Romero, recoloured to the FSU palette.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source card is the key idea. One sheet per database: what it contains, how things connect, which identifiers link it to other databases, what a query may never do, and which snapshot it was built from. The specialist resolves the question's entities against the card, composes the query from five schema-derived primitives, gates it, runs it once, and normalizes the records with provenance. For ATT&amp;CK the card is thirty-nine kilobytes describing a twenty-megabyte graph. That is why adding a database is a sheet, not a project.
Sources / notes for the presenter: Sizes measured on the repository: data/source_cards/attack.json (39,354 bytes) vs. data/graphs/attack/canonical (19,868,879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The verifier is deterministic code, not a model. Four gates: every claim cites records that were retrieved; every identifier in a claim appears in those records; the claim is grounded in the record's content; and a cross-database link must be backed by the join index. What fails is cut from the prose and kept flagged. When the data has nothing, the answer says so and shows the query it ran. That is an honest no, with proof.
Sources / notes for the presenter: Verifier gates: utils/synthesis/verifier.py. Abstention text quoted from a committed evaluation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the workbench, captured this week on the live stack. The question at the top. On the right, the plan and its gate, then each specialist's lane with the validated query in the database's own language. In the middle, the answer: every identifier is a citation you can open. The three controls at the bottom are off by default; that is the fast path, deterministic, a fraction of a second. Verify asks a model for a second opinion on whether the evidence suffices. Prose asks a model to write readable text over the verified claims, and it cannot add a claim. [In the final deck a 30-second clip of this run plays here.]
Sources / notes for the presenter: Live capture of the Ariadne workbench, September 15, 2026, both sources live. A 30-second clip of this run replaces the still in the final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It scales. Three live databases, two query languages, one process, and adding the third changed nothing about the questions. Federating means the sources stay as their publishers shipped them: zero records rewritten, where merging ATT&amp;CK and CAPEC into one store required editing one thousand and eighty-three. And the pre-run gate blocked two hundred and forty of two hundred and forty adversarial queries, after we found and closed fifteen bypasses ourselves. Next on the roadmap: Amazon Neptune and Google Spanner Graph.
Sources / notes for the presenter: Sources: EXP-2026-08-013 (three sources) · EXP-2026-08-017 (federate vs. merge) · EXP-2026-08-016 (safety audit), docs/research/.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ReliaQuest gave us the catalogue of their production identity graph: seventy-two node types, twenty-one relationship types, five identity systems, and zero customer records. The card is the native input, so the schema alone was enough. We generated synthetic records that conform to it, ran it live beside ATT&amp;CK and CAPEC, and declared a bridge: a DC_SYNC relationship in your graph is the technique ATT&amp;CK calls T1003.006, and that technique has mitigations. Where no mapped relationship exists, the system says so instead of guessing. The records are synthetic; the schema is real. [Q&amp;A backup: on a 64-question blind set the schema-derived engine named the right technique on 20 of 24 and refused all 12 that had none; retrieval only, not judged for answer quality.]
Sources / notes for the presenter: Synthetic records conforming to ReliaQuest's real schema; catalogue received 2026-08-21. Sources: EXP-2026-08-011, EXP-2026-08-013 (phase 2), docs/research/.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Here is where it stops today. Ask by identifier and it works. Reword the question and about half survive. Paraphrase the name and about a third, with the rewrite stage we shipped this week. Describe something without naming it: not yet. And answer quality through the workbench's own planner has not been judged yet. We know the next gap precisely, and it is measurable.
Sources / notes for the presenter: Sources: EXP-2026-09-021 (paraphrase robustness) · EXP-2026-09-020 (workbench plan source) · EXP-2026-08-011 (synthetic identity records), docs/research/.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Thank you. One question, answers from many sources.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spoken content. Left on screen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1 / 13</a:t>
            </a:r>
            <a:endParaRPr lang="en-US" sz="900" dirty="0"/>
          </a:p>
        </p:txBody>
      </p:sp>
      <p:pic>
        <p:nvPicPr>
          <p:cNvPr id="6" name="Image 3" descr="/home/bdgr/Agents/Ariadne/docs/showcase/build/assets/ariadne-mark.png">    </p:cNvPr>
          <p:cNvPicPr>
            <a:picLocks noChangeAspect="1"/>
          </p:cNvPicPr>
          <p:nvPr/>
        </p:nvPicPr>
        <p:blipFill>
          <a:blip r:embed="rId4"/>
          <a:stretch>
            <a:fillRect/>
          </a:stretch>
        </p:blipFill>
        <p:spPr>
          <a:xfrm>
            <a:off x="868680" y="1783080"/>
            <a:ext cx="3703320" cy="3200400"/>
          </a:xfrm>
          <a:prstGeom prst="rect">
            <a:avLst/>
          </a:prstGeom>
        </p:spPr>
      </p:pic>
      <p:sp>
        <p:nvSpPr>
          <p:cNvPr id="7" name="Text 1"/>
          <p:cNvSpPr txBox="1"/>
          <p:nvPr/>
        </p:nvSpPr>
        <p:spPr>
          <a:xfrm>
            <a:off x="5212080" y="1600200"/>
            <a:ext cx="6583680" cy="100584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Ariadne</a:t>
            </a:r>
            <a:endParaRPr lang="en-US" sz="6000" dirty="0"/>
          </a:p>
        </p:txBody>
      </p:sp>
      <p:sp>
        <p:nvSpPr>
          <p:cNvPr id="8" name="Text 2"/>
          <p:cNvSpPr txBox="1"/>
          <p:nvPr/>
        </p:nvSpPr>
        <p:spPr>
          <a:xfrm>
            <a:off x="5212080" y="2651760"/>
            <a:ext cx="6583680" cy="502920"/>
          </a:xfrm>
          <a:prstGeom prst="rect">
            <a:avLst/>
          </a:prstGeom>
          <a:noFill/>
          <a:ln/>
        </p:spPr>
        <p:txBody>
          <a:bodyPr wrap="square" lIns="0" tIns="0" rIns="0" bIns="0" rtlCol="0" anchor="ctr"/>
          <a:lstStyle/>
          <a:p>
            <a:pPr indent="0" marL="0">
              <a:buNone/>
            </a:pPr>
            <a:r>
              <a:rPr lang="en-US" sz="2400" dirty="0">
                <a:solidFill>
                  <a:srgbClr val="CEB888"/>
                </a:solidFill>
                <a:latin typeface="Arial" pitchFamily="34" charset="0"/>
                <a:ea typeface="Arial" pitchFamily="34" charset="-122"/>
                <a:cs typeface="Arial" pitchFamily="34" charset="-120"/>
              </a:rPr>
              <a:t>One question. Answers from many sources.</a:t>
            </a:r>
            <a:endParaRPr lang="en-US" sz="2400" dirty="0"/>
          </a:p>
        </p:txBody>
      </p:sp>
      <p:sp>
        <p:nvSpPr>
          <p:cNvPr id="9" name="Text 3"/>
          <p:cNvSpPr txBox="1"/>
          <p:nvPr/>
        </p:nvSpPr>
        <p:spPr>
          <a:xfrm>
            <a:off x="5212080" y="3154680"/>
            <a:ext cx="6583680" cy="411480"/>
          </a:xfrm>
          <a:prstGeom prst="rect">
            <a:avLst/>
          </a:prstGeom>
          <a:noFill/>
          <a:ln/>
        </p:spPr>
        <p:txBody>
          <a:bodyPr wrap="square" lIns="0" tIns="0" rIns="0" bIns="0" rtlCol="0" anchor="ctr"/>
          <a:lstStyle/>
          <a:p>
            <a:pPr indent="0" marL="0">
              <a:buNone/>
            </a:pPr>
            <a:r>
              <a:rPr lang="en-US" sz="1500" i="1" dirty="0">
                <a:solidFill>
                  <a:srgbClr val="DFD1A7"/>
                </a:solidFill>
                <a:latin typeface="Arial" pitchFamily="34" charset="0"/>
                <a:ea typeface="Arial" pitchFamily="34" charset="-122"/>
                <a:cs typeface="Arial" pitchFamily="34" charset="-120"/>
              </a:rPr>
              <a:t>Federated knowledge for cybersecurity</a:t>
            </a:r>
            <a:endParaRPr lang="en-US" sz="1500" dirty="0"/>
          </a:p>
        </p:txBody>
      </p:sp>
      <p:sp>
        <p:nvSpPr>
          <p:cNvPr id="10" name="Text 4"/>
          <p:cNvSpPr txBox="1"/>
          <p:nvPr/>
        </p:nvSpPr>
        <p:spPr>
          <a:xfrm>
            <a:off x="5212080" y="4069080"/>
            <a:ext cx="6583680" cy="91440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Olmo S. Zavala Romero</a:t>
            </a:r>
            <a:pPr indent="0" marL="0">
              <a:buNone/>
            </a:pPr>
            <a:r>
              <a:rPr lang="en-US" sz="1400" dirty="0">
                <a:solidFill>
                  <a:srgbClr val="FFFFFF"/>
                </a:solidFill>
                <a:latin typeface="Arial" pitchFamily="34" charset="0"/>
                <a:ea typeface="Arial" pitchFamily="34" charset="-122"/>
                <a:cs typeface="Arial" pitchFamily="34" charset="-120"/>
              </a:rPr>
              <a:t>  ·  Principal Investigator</a:t>
            </a:r>
            <a:endParaRPr lang="en-US" sz="1400" dirty="0"/>
          </a:p>
          <a:p>
            <a:pPr indent="0" marL="0">
              <a:buNone/>
            </a:pPr>
            <a:r>
              <a:rPr lang="en-US" sz="1400" b="1" dirty="0">
                <a:solidFill>
                  <a:srgbClr val="FFFFFF"/>
                </a:solidFill>
                <a:latin typeface="Arial" pitchFamily="34" charset="0"/>
                <a:ea typeface="Arial" pitchFamily="34" charset="-122"/>
                <a:cs typeface="Arial" pitchFamily="34" charset="-120"/>
              </a:rPr>
              <a:t>Brendon DGR</a:t>
            </a:r>
            <a:pPr indent="0" marL="0">
              <a:buNone/>
            </a:pPr>
            <a:r>
              <a:rPr lang="en-US" sz="1400" dirty="0">
                <a:solidFill>
                  <a:srgbClr val="FFFFFF"/>
                </a:solidFill>
                <a:latin typeface="Arial" pitchFamily="34" charset="0"/>
                <a:ea typeface="Arial" pitchFamily="34" charset="-122"/>
                <a:cs typeface="Arial" pitchFamily="34" charset="-120"/>
              </a:rPr>
              <a:t>  ·  Technical Lead</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Department of Scientific Computing, Florida State University</a:t>
            </a:r>
            <a:endParaRPr lang="en-US" sz="1400" dirty="0"/>
          </a:p>
        </p:txBody>
      </p:sp>
      <p:sp>
        <p:nvSpPr>
          <p:cNvPr id="11" name="Text 5"/>
          <p:cNvSpPr txBox="1"/>
          <p:nvPr/>
        </p:nvSpPr>
        <p:spPr>
          <a:xfrm>
            <a:off x="5212080" y="5166360"/>
            <a:ext cx="6583680" cy="731520"/>
          </a:xfrm>
          <a:prstGeom prst="rect">
            <a:avLst/>
          </a:prstGeom>
          <a:noFill/>
          <a:ln/>
        </p:spPr>
        <p:txBody>
          <a:bodyPr wrap="square" lIns="0" tIns="0" rIns="0" bIns="0" rtlCol="0" anchor="t"/>
          <a:lstStyle/>
          <a:p>
            <a:pPr indent="0" marL="0">
              <a:buNone/>
            </a:pPr>
            <a:r>
              <a:rPr lang="en-US" sz="1300" b="1" dirty="0">
                <a:solidFill>
                  <a:srgbClr val="CEB888"/>
                </a:solidFill>
                <a:latin typeface="Arial" pitchFamily="34" charset="0"/>
                <a:ea typeface="Arial" pitchFamily="34" charset="-122"/>
                <a:cs typeface="Arial" pitchFamily="34" charset="-120"/>
              </a:rPr>
              <a:t>ReliaQuest Innovation Challenge</a:t>
            </a:r>
            <a:endParaRPr lang="en-US" sz="1300" dirty="0"/>
          </a:p>
          <a:p>
            <a:pPr indent="0" marL="0">
              <a:buNone/>
            </a:pPr>
            <a:r>
              <a:rPr lang="en-US" sz="1300" dirty="0">
                <a:solidFill>
                  <a:srgbClr val="CEB888"/>
                </a:solidFill>
                <a:latin typeface="Arial" pitchFamily="34" charset="0"/>
                <a:ea typeface="Arial" pitchFamily="34" charset="-122"/>
                <a:cs typeface="Arial" pitchFamily="34" charset="-120"/>
              </a:rPr>
              <a:t>Challenge Three: Knowledge Graph Integration  ·  October 19,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2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What is a knowledge graph?</a:t>
            </a:r>
            <a:endParaRPr lang="en-US" sz="3000" dirty="0"/>
          </a:p>
        </p:txBody>
      </p:sp>
      <p:pic>
        <p:nvPicPr>
          <p:cNvPr id="7" name="Image 3" descr="/home/bdgr/Agents/Ariadne/docs/showcase/build/assets/rdb_vs_kg_fsu.png">    </p:cNvPr>
          <p:cNvPicPr>
            <a:picLocks noChangeAspect="1"/>
          </p:cNvPicPr>
          <p:nvPr/>
        </p:nvPicPr>
        <p:blipFill>
          <a:blip r:embed="rId4"/>
          <a:stretch>
            <a:fillRect/>
          </a:stretch>
        </p:blipFill>
        <p:spPr>
          <a:xfrm>
            <a:off x="457200" y="1645920"/>
            <a:ext cx="7498080" cy="4215384"/>
          </a:xfrm>
          <a:prstGeom prst="rect">
            <a:avLst/>
          </a:prstGeom>
        </p:spPr>
      </p:pic>
      <p:sp>
        <p:nvSpPr>
          <p:cNvPr id="8" name="Shape 2"/>
          <p:cNvSpPr/>
          <p:nvPr/>
        </p:nvSpPr>
        <p:spPr>
          <a:xfrm>
            <a:off x="8321040" y="2624328"/>
            <a:ext cx="329184" cy="329184"/>
          </a:xfrm>
          <a:prstGeom prst="ellipse">
            <a:avLst/>
          </a:prstGeom>
          <a:solidFill>
            <a:srgbClr val="CEB888"/>
          </a:solidFill>
          <a:ln w="12700">
            <a:solidFill>
              <a:srgbClr val="CEB888"/>
            </a:solidFill>
            <a:prstDash val="solid"/>
          </a:ln>
        </p:spPr>
      </p:sp>
      <p:sp>
        <p:nvSpPr>
          <p:cNvPr id="9" name="Text 3"/>
          <p:cNvSpPr txBox="1"/>
          <p:nvPr/>
        </p:nvSpPr>
        <p:spPr>
          <a:xfrm>
            <a:off x="8321040" y="262432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1</a:t>
            </a:r>
            <a:endParaRPr lang="en-US" sz="1300" dirty="0"/>
          </a:p>
        </p:txBody>
      </p:sp>
      <p:sp>
        <p:nvSpPr>
          <p:cNvPr id="10" name="Text 4"/>
          <p:cNvSpPr txBox="1"/>
          <p:nvPr/>
        </p:nvSpPr>
        <p:spPr>
          <a:xfrm>
            <a:off x="8778240" y="2606040"/>
            <a:ext cx="301752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Entities become nodes</a:t>
            </a:r>
            <a:endParaRPr lang="en-US" sz="1500" dirty="0"/>
          </a:p>
        </p:txBody>
      </p:sp>
      <p:sp>
        <p:nvSpPr>
          <p:cNvPr id="11" name="Text 5"/>
          <p:cNvSpPr txBox="1"/>
          <p:nvPr/>
        </p:nvSpPr>
        <p:spPr>
          <a:xfrm>
            <a:off x="8778240" y="2990088"/>
            <a:ext cx="3017520" cy="54864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an account, a device, an alert, a tactic</a:t>
            </a:r>
            <a:endParaRPr lang="en-US" sz="1200" dirty="0"/>
          </a:p>
        </p:txBody>
      </p:sp>
      <p:sp>
        <p:nvSpPr>
          <p:cNvPr id="12" name="Shape 6"/>
          <p:cNvSpPr/>
          <p:nvPr/>
        </p:nvSpPr>
        <p:spPr>
          <a:xfrm>
            <a:off x="8321040" y="3493008"/>
            <a:ext cx="329184" cy="329184"/>
          </a:xfrm>
          <a:prstGeom prst="ellipse">
            <a:avLst/>
          </a:prstGeom>
          <a:solidFill>
            <a:srgbClr val="CEB888"/>
          </a:solidFill>
          <a:ln w="12700">
            <a:solidFill>
              <a:srgbClr val="CEB888"/>
            </a:solidFill>
            <a:prstDash val="solid"/>
          </a:ln>
        </p:spPr>
      </p:sp>
      <p:sp>
        <p:nvSpPr>
          <p:cNvPr id="13" name="Text 7"/>
          <p:cNvSpPr txBox="1"/>
          <p:nvPr/>
        </p:nvSpPr>
        <p:spPr>
          <a:xfrm>
            <a:off x="8321040" y="349300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2</a:t>
            </a:r>
            <a:endParaRPr lang="en-US" sz="1300" dirty="0"/>
          </a:p>
        </p:txBody>
      </p:sp>
      <p:sp>
        <p:nvSpPr>
          <p:cNvPr id="14" name="Text 8"/>
          <p:cNvSpPr txBox="1"/>
          <p:nvPr/>
        </p:nvSpPr>
        <p:spPr>
          <a:xfrm>
            <a:off x="8778240" y="3474720"/>
            <a:ext cx="301752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Connections are named</a:t>
            </a:r>
            <a:endParaRPr lang="en-US" sz="1500" dirty="0"/>
          </a:p>
        </p:txBody>
      </p:sp>
      <p:sp>
        <p:nvSpPr>
          <p:cNvPr id="15" name="Text 9"/>
          <p:cNvSpPr txBox="1"/>
          <p:nvPr/>
        </p:nvSpPr>
        <p:spPr>
          <a:xfrm>
            <a:off x="8778240" y="3858768"/>
            <a:ext cx="3017520" cy="54864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logged into · connected to · detected on · suggests</a:t>
            </a:r>
            <a:endParaRPr lang="en-US" sz="1200" dirty="0"/>
          </a:p>
        </p:txBody>
      </p:sp>
      <p:sp>
        <p:nvSpPr>
          <p:cNvPr id="16" name="Shape 10"/>
          <p:cNvSpPr/>
          <p:nvPr/>
        </p:nvSpPr>
        <p:spPr>
          <a:xfrm>
            <a:off x="8321040" y="4361688"/>
            <a:ext cx="329184" cy="329184"/>
          </a:xfrm>
          <a:prstGeom prst="ellipse">
            <a:avLst/>
          </a:prstGeom>
          <a:solidFill>
            <a:srgbClr val="CEB888"/>
          </a:solidFill>
          <a:ln w="12700">
            <a:solidFill>
              <a:srgbClr val="CEB888"/>
            </a:solidFill>
            <a:prstDash val="solid"/>
          </a:ln>
        </p:spPr>
      </p:sp>
      <p:sp>
        <p:nvSpPr>
          <p:cNvPr id="17" name="Text 11"/>
          <p:cNvSpPr txBox="1"/>
          <p:nvPr/>
        </p:nvSpPr>
        <p:spPr>
          <a:xfrm>
            <a:off x="8321040" y="436168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3</a:t>
            </a:r>
            <a:endParaRPr lang="en-US" sz="1300" dirty="0"/>
          </a:p>
        </p:txBody>
      </p:sp>
      <p:sp>
        <p:nvSpPr>
          <p:cNvPr id="18" name="Text 12"/>
          <p:cNvSpPr txBox="1"/>
          <p:nvPr/>
        </p:nvSpPr>
        <p:spPr>
          <a:xfrm>
            <a:off x="8778240" y="4343400"/>
            <a:ext cx="301752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Questions become paths</a:t>
            </a:r>
            <a:endParaRPr lang="en-US" sz="1500" dirty="0"/>
          </a:p>
        </p:txBody>
      </p:sp>
      <p:sp>
        <p:nvSpPr>
          <p:cNvPr id="19" name="Text 13"/>
          <p:cNvSpPr txBox="1"/>
          <p:nvPr/>
        </p:nvSpPr>
        <p:spPr>
          <a:xfrm>
            <a:off x="8778240" y="4727448"/>
            <a:ext cx="3017520" cy="54864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follow the links instead of joining tables</a:t>
            </a:r>
            <a:endParaRPr lang="en-US" sz="1200" dirty="0"/>
          </a:p>
        </p:txBody>
      </p:sp>
      <p:sp>
        <p:nvSpPr>
          <p:cNvPr id="20" name="Text 14"/>
          <p:cNvSpPr txBox="1"/>
          <p:nvPr/>
        </p:nvSpPr>
        <p:spPr>
          <a:xfrm>
            <a:off x="457200" y="5989320"/>
            <a:ext cx="749808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A table answers "how many". A graph answers "what connects".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3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Knowledge graphs speak different languages</a:t>
            </a:r>
            <a:endParaRPr lang="en-US" sz="3000" dirty="0"/>
          </a:p>
        </p:txBody>
      </p:sp>
      <p:pic>
        <p:nvPicPr>
          <p:cNvPr id="7" name="Image 3" descr="/home/bdgr/Agents/Ariadne/docs/showcase/build/assets/languages_fsu.png">    </p:cNvPr>
          <p:cNvPicPr>
            <a:picLocks noChangeAspect="1"/>
          </p:cNvPicPr>
          <p:nvPr/>
        </p:nvPicPr>
        <p:blipFill>
          <a:blip r:embed="rId4"/>
          <a:stretch>
            <a:fillRect/>
          </a:stretch>
        </p:blipFill>
        <p:spPr>
          <a:xfrm>
            <a:off x="457200" y="1645920"/>
            <a:ext cx="7863840" cy="4425696"/>
          </a:xfrm>
          <a:prstGeom prst="rect">
            <a:avLst/>
          </a:prstGeom>
        </p:spPr>
      </p:pic>
      <p:sp>
        <p:nvSpPr>
          <p:cNvPr id="8" name="Shape 2"/>
          <p:cNvSpPr/>
          <p:nvPr/>
        </p:nvSpPr>
        <p:spPr>
          <a:xfrm>
            <a:off x="8686800" y="1892808"/>
            <a:ext cx="329184" cy="329184"/>
          </a:xfrm>
          <a:prstGeom prst="ellipse">
            <a:avLst/>
          </a:prstGeom>
          <a:solidFill>
            <a:srgbClr val="CEB888"/>
          </a:solidFill>
          <a:ln w="12700">
            <a:solidFill>
              <a:srgbClr val="CEB888"/>
            </a:solidFill>
            <a:prstDash val="solid"/>
          </a:ln>
        </p:spPr>
      </p:sp>
      <p:sp>
        <p:nvSpPr>
          <p:cNvPr id="9" name="Text 3"/>
          <p:cNvSpPr txBox="1"/>
          <p:nvPr/>
        </p:nvSpPr>
        <p:spPr>
          <a:xfrm>
            <a:off x="8686800" y="189280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1</a:t>
            </a:r>
            <a:endParaRPr lang="en-US" sz="1300" dirty="0"/>
          </a:p>
        </p:txBody>
      </p:sp>
      <p:sp>
        <p:nvSpPr>
          <p:cNvPr id="10" name="Text 4"/>
          <p:cNvSpPr txBox="1"/>
          <p:nvPr/>
        </p:nvSpPr>
        <p:spPr>
          <a:xfrm>
            <a:off x="9144000" y="1874520"/>
            <a:ext cx="2651760" cy="34747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MITRE ATT&amp;CK</a:t>
            </a:r>
            <a:endParaRPr lang="en-US" sz="1500" dirty="0"/>
          </a:p>
        </p:txBody>
      </p:sp>
      <p:sp>
        <p:nvSpPr>
          <p:cNvPr id="11" name="Text 5"/>
          <p:cNvSpPr txBox="1"/>
          <p:nvPr/>
        </p:nvSpPr>
        <p:spPr>
          <a:xfrm>
            <a:off x="9144000" y="2221992"/>
            <a:ext cx="2651760" cy="274320"/>
          </a:xfrm>
          <a:prstGeom prst="rect">
            <a:avLst/>
          </a:prstGeom>
          <a:noFill/>
          <a:ln/>
        </p:spPr>
        <p:txBody>
          <a:bodyPr wrap="square" lIns="0" tIns="0" rIns="0" bIns="0" rtlCol="0" anchor="ctr"/>
          <a:lstStyle/>
          <a:p>
            <a:pPr indent="0" marL="0">
              <a:buNone/>
            </a:pPr>
            <a:r>
              <a:rPr lang="en-US" sz="1100" dirty="0">
                <a:solidFill>
                  <a:srgbClr val="DFD1A7"/>
                </a:solidFill>
                <a:latin typeface="Arial" pitchFamily="34" charset="0"/>
                <a:ea typeface="Arial" pitchFamily="34" charset="-122"/>
                <a:cs typeface="Arial" pitchFamily="34" charset="-120"/>
              </a:rPr>
              <a:t>adversary techniques and mitigations</a:t>
            </a:r>
            <a:endParaRPr lang="en-US" sz="1100" dirty="0"/>
          </a:p>
        </p:txBody>
      </p:sp>
      <p:sp>
        <p:nvSpPr>
          <p:cNvPr id="12" name="Text 6"/>
          <p:cNvSpPr txBox="1"/>
          <p:nvPr/>
        </p:nvSpPr>
        <p:spPr>
          <a:xfrm>
            <a:off x="9144000" y="2478024"/>
            <a:ext cx="2651760" cy="274320"/>
          </a:xfrm>
          <a:prstGeom prst="rect">
            <a:avLst/>
          </a:prstGeom>
          <a:noFill/>
          <a:ln/>
        </p:spPr>
        <p:txBody>
          <a:bodyPr wrap="square" lIns="0" tIns="0" rIns="0" bIns="0" rtlCol="0" anchor="ctr"/>
          <a:lstStyle/>
          <a:p>
            <a:pPr indent="0" marL="0">
              <a:buNone/>
            </a:pPr>
            <a:r>
              <a:rPr lang="en-US" sz="1100" b="1" dirty="0">
                <a:solidFill>
                  <a:srgbClr val="CEB888"/>
                </a:solidFill>
                <a:latin typeface="Arial" pitchFamily="34" charset="0"/>
                <a:ea typeface="Arial" pitchFamily="34" charset="-122"/>
                <a:cs typeface="Arial" pitchFamily="34" charset="-120"/>
              </a:rPr>
              <a:t>Neo4j · speaks Cypher</a:t>
            </a:r>
            <a:endParaRPr lang="en-US" sz="1100" dirty="0"/>
          </a:p>
        </p:txBody>
      </p:sp>
      <p:sp>
        <p:nvSpPr>
          <p:cNvPr id="13" name="Shape 7"/>
          <p:cNvSpPr/>
          <p:nvPr/>
        </p:nvSpPr>
        <p:spPr>
          <a:xfrm>
            <a:off x="8686800" y="2944368"/>
            <a:ext cx="329184" cy="329184"/>
          </a:xfrm>
          <a:prstGeom prst="ellipse">
            <a:avLst/>
          </a:prstGeom>
          <a:solidFill>
            <a:srgbClr val="CEB888"/>
          </a:solidFill>
          <a:ln w="12700">
            <a:solidFill>
              <a:srgbClr val="CEB888"/>
            </a:solidFill>
            <a:prstDash val="solid"/>
          </a:ln>
        </p:spPr>
      </p:sp>
      <p:sp>
        <p:nvSpPr>
          <p:cNvPr id="14" name="Text 8"/>
          <p:cNvSpPr txBox="1"/>
          <p:nvPr/>
        </p:nvSpPr>
        <p:spPr>
          <a:xfrm>
            <a:off x="8686800" y="294436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2</a:t>
            </a:r>
            <a:endParaRPr lang="en-US" sz="1300" dirty="0"/>
          </a:p>
        </p:txBody>
      </p:sp>
      <p:sp>
        <p:nvSpPr>
          <p:cNvPr id="15" name="Text 9"/>
          <p:cNvSpPr txBox="1"/>
          <p:nvPr/>
        </p:nvSpPr>
        <p:spPr>
          <a:xfrm>
            <a:off x="9144000" y="2926080"/>
            <a:ext cx="2651760" cy="34747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MITRE CAPEC</a:t>
            </a:r>
            <a:endParaRPr lang="en-US" sz="1500" dirty="0"/>
          </a:p>
        </p:txBody>
      </p:sp>
      <p:sp>
        <p:nvSpPr>
          <p:cNvPr id="16" name="Text 10"/>
          <p:cNvSpPr txBox="1"/>
          <p:nvPr/>
        </p:nvSpPr>
        <p:spPr>
          <a:xfrm>
            <a:off x="9144000" y="3273552"/>
            <a:ext cx="2651760" cy="274320"/>
          </a:xfrm>
          <a:prstGeom prst="rect">
            <a:avLst/>
          </a:prstGeom>
          <a:noFill/>
          <a:ln/>
        </p:spPr>
        <p:txBody>
          <a:bodyPr wrap="square" lIns="0" tIns="0" rIns="0" bIns="0" rtlCol="0" anchor="ctr"/>
          <a:lstStyle/>
          <a:p>
            <a:pPr indent="0" marL="0">
              <a:buNone/>
            </a:pPr>
            <a:r>
              <a:rPr lang="en-US" sz="1100" dirty="0">
                <a:solidFill>
                  <a:srgbClr val="DFD1A7"/>
                </a:solidFill>
                <a:latin typeface="Arial" pitchFamily="34" charset="0"/>
                <a:ea typeface="Arial" pitchFamily="34" charset="-122"/>
                <a:cs typeface="Arial" pitchFamily="34" charset="-120"/>
              </a:rPr>
              <a:t>attack patterns</a:t>
            </a:r>
            <a:endParaRPr lang="en-US" sz="1100" dirty="0"/>
          </a:p>
        </p:txBody>
      </p:sp>
      <p:sp>
        <p:nvSpPr>
          <p:cNvPr id="17" name="Text 11"/>
          <p:cNvSpPr txBox="1"/>
          <p:nvPr/>
        </p:nvSpPr>
        <p:spPr>
          <a:xfrm>
            <a:off x="9144000" y="3529584"/>
            <a:ext cx="2651760" cy="274320"/>
          </a:xfrm>
          <a:prstGeom prst="rect">
            <a:avLst/>
          </a:prstGeom>
          <a:noFill/>
          <a:ln/>
        </p:spPr>
        <p:txBody>
          <a:bodyPr wrap="square" lIns="0" tIns="0" rIns="0" bIns="0" rtlCol="0" anchor="ctr"/>
          <a:lstStyle/>
          <a:p>
            <a:pPr indent="0" marL="0">
              <a:buNone/>
            </a:pPr>
            <a:r>
              <a:rPr lang="en-US" sz="1100" b="1" dirty="0">
                <a:solidFill>
                  <a:srgbClr val="CEB888"/>
                </a:solidFill>
                <a:latin typeface="Arial" pitchFamily="34" charset="0"/>
                <a:ea typeface="Arial" pitchFamily="34" charset="-122"/>
                <a:cs typeface="Arial" pitchFamily="34" charset="-120"/>
              </a:rPr>
              <a:t>Gremlin Server · speaks Gremlin</a:t>
            </a:r>
            <a:endParaRPr lang="en-US" sz="1100" dirty="0"/>
          </a:p>
        </p:txBody>
      </p:sp>
      <p:sp>
        <p:nvSpPr>
          <p:cNvPr id="18" name="Shape 12"/>
          <p:cNvSpPr/>
          <p:nvPr/>
        </p:nvSpPr>
        <p:spPr>
          <a:xfrm>
            <a:off x="8686800" y="3995928"/>
            <a:ext cx="329184" cy="329184"/>
          </a:xfrm>
          <a:prstGeom prst="ellipse">
            <a:avLst/>
          </a:prstGeom>
          <a:solidFill>
            <a:srgbClr val="CEB888"/>
          </a:solidFill>
          <a:ln w="12700">
            <a:solidFill>
              <a:srgbClr val="CEB888"/>
            </a:solidFill>
            <a:prstDash val="solid"/>
          </a:ln>
        </p:spPr>
      </p:sp>
      <p:sp>
        <p:nvSpPr>
          <p:cNvPr id="19" name="Text 13"/>
          <p:cNvSpPr txBox="1"/>
          <p:nvPr/>
        </p:nvSpPr>
        <p:spPr>
          <a:xfrm>
            <a:off x="8686800" y="399592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3</a:t>
            </a:r>
            <a:endParaRPr lang="en-US" sz="1300" dirty="0"/>
          </a:p>
        </p:txBody>
      </p:sp>
      <p:sp>
        <p:nvSpPr>
          <p:cNvPr id="20" name="Text 14"/>
          <p:cNvSpPr txBox="1"/>
          <p:nvPr/>
        </p:nvSpPr>
        <p:spPr>
          <a:xfrm>
            <a:off x="9144000" y="3977640"/>
            <a:ext cx="2651760" cy="34747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Cloud graph databases</a:t>
            </a:r>
            <a:endParaRPr lang="en-US" sz="1500" dirty="0"/>
          </a:p>
        </p:txBody>
      </p:sp>
      <p:sp>
        <p:nvSpPr>
          <p:cNvPr id="21" name="Text 15"/>
          <p:cNvSpPr txBox="1"/>
          <p:nvPr/>
        </p:nvSpPr>
        <p:spPr>
          <a:xfrm>
            <a:off x="9144000" y="4325112"/>
            <a:ext cx="2651760" cy="274320"/>
          </a:xfrm>
          <a:prstGeom prst="rect">
            <a:avLst/>
          </a:prstGeom>
          <a:noFill/>
          <a:ln/>
        </p:spPr>
        <p:txBody>
          <a:bodyPr wrap="square" lIns="0" tIns="0" rIns="0" bIns="0" rtlCol="0" anchor="ctr"/>
          <a:lstStyle/>
          <a:p>
            <a:pPr indent="0" marL="0">
              <a:buNone/>
            </a:pPr>
            <a:r>
              <a:rPr lang="en-US" sz="1100" dirty="0">
                <a:solidFill>
                  <a:srgbClr val="DFD1A7"/>
                </a:solidFill>
                <a:latin typeface="Arial" pitchFamily="34" charset="0"/>
                <a:ea typeface="Arial" pitchFamily="34" charset="-122"/>
                <a:cs typeface="Arial" pitchFamily="34" charset="-120"/>
              </a:rPr>
              <a:t>Spanner Graph, Amazon Neptune</a:t>
            </a:r>
            <a:endParaRPr lang="en-US" sz="1100" dirty="0"/>
          </a:p>
        </p:txBody>
      </p:sp>
      <p:sp>
        <p:nvSpPr>
          <p:cNvPr id="22" name="Text 16"/>
          <p:cNvSpPr txBox="1"/>
          <p:nvPr/>
        </p:nvSpPr>
        <p:spPr>
          <a:xfrm>
            <a:off x="9144000" y="4581144"/>
            <a:ext cx="2651760" cy="274320"/>
          </a:xfrm>
          <a:prstGeom prst="rect">
            <a:avLst/>
          </a:prstGeom>
          <a:noFill/>
          <a:ln/>
        </p:spPr>
        <p:txBody>
          <a:bodyPr wrap="square" lIns="0" tIns="0" rIns="0" bIns="0" rtlCol="0" anchor="ctr"/>
          <a:lstStyle/>
          <a:p>
            <a:pPr indent="0" marL="0">
              <a:buNone/>
            </a:pPr>
            <a:r>
              <a:rPr lang="en-US" sz="1100" b="1" dirty="0">
                <a:solidFill>
                  <a:srgbClr val="CEB888"/>
                </a:solidFill>
                <a:latin typeface="Arial" pitchFamily="34" charset="0"/>
                <a:ea typeface="Arial" pitchFamily="34" charset="-122"/>
                <a:cs typeface="Arial" pitchFamily="34" charset="-120"/>
              </a:rPr>
              <a:t>speak GQL and openCypher</a:t>
            </a:r>
            <a:endParaRPr lang="en-US" sz="1100" dirty="0"/>
          </a:p>
        </p:txBody>
      </p:sp>
      <p:sp>
        <p:nvSpPr>
          <p:cNvPr id="23" name="Text 17"/>
          <p:cNvSpPr txBox="1"/>
          <p:nvPr/>
        </p:nvSpPr>
        <p:spPr>
          <a:xfrm>
            <a:off x="8686800" y="507492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Same question, three grammars.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4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How people query across graphs today</a:t>
            </a:r>
            <a:endParaRPr lang="en-US" sz="3000" dirty="0"/>
          </a:p>
        </p:txBody>
      </p:sp>
      <p:pic>
        <p:nvPicPr>
          <p:cNvPr id="7" name="Image 3" descr="/home/bdgr/Agents/Ariadne/docs/showcase/build/assets/options_fsu.png">    </p:cNvPr>
          <p:cNvPicPr>
            <a:picLocks noChangeAspect="1"/>
          </p:cNvPicPr>
          <p:nvPr/>
        </p:nvPicPr>
        <p:blipFill>
          <a:blip r:embed="rId4"/>
          <a:stretch>
            <a:fillRect/>
          </a:stretch>
        </p:blipFill>
        <p:spPr>
          <a:xfrm>
            <a:off x="457200" y="1645920"/>
            <a:ext cx="7589520" cy="4270248"/>
          </a:xfrm>
          <a:prstGeom prst="rect">
            <a:avLst/>
          </a:prstGeom>
        </p:spPr>
      </p:pic>
      <p:sp>
        <p:nvSpPr>
          <p:cNvPr id="8" name="Shape 2"/>
          <p:cNvSpPr/>
          <p:nvPr/>
        </p:nvSpPr>
        <p:spPr>
          <a:xfrm>
            <a:off x="8503920" y="1938528"/>
            <a:ext cx="329184" cy="329184"/>
          </a:xfrm>
          <a:prstGeom prst="ellipse">
            <a:avLst/>
          </a:prstGeom>
          <a:solidFill>
            <a:srgbClr val="CEB888"/>
          </a:solidFill>
          <a:ln w="12700">
            <a:solidFill>
              <a:srgbClr val="CEB888"/>
            </a:solidFill>
            <a:prstDash val="solid"/>
          </a:ln>
        </p:spPr>
      </p:sp>
      <p:sp>
        <p:nvSpPr>
          <p:cNvPr id="9" name="Text 3"/>
          <p:cNvSpPr txBox="1"/>
          <p:nvPr/>
        </p:nvSpPr>
        <p:spPr>
          <a:xfrm>
            <a:off x="8503920" y="193852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1</a:t>
            </a:r>
            <a:endParaRPr lang="en-US" sz="1300" dirty="0"/>
          </a:p>
        </p:txBody>
      </p:sp>
      <p:sp>
        <p:nvSpPr>
          <p:cNvPr id="10" name="Text 4"/>
          <p:cNvSpPr txBox="1"/>
          <p:nvPr/>
        </p:nvSpPr>
        <p:spPr>
          <a:xfrm>
            <a:off x="8961120" y="1920240"/>
            <a:ext cx="2834640" cy="347472"/>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Write it by hand</a:t>
            </a:r>
            <a:endParaRPr lang="en-US" sz="1500" dirty="0"/>
          </a:p>
        </p:txBody>
      </p:sp>
      <p:sp>
        <p:nvSpPr>
          <p:cNvPr id="11" name="Text 5"/>
          <p:cNvSpPr txBox="1"/>
          <p:nvPr/>
        </p:nvSpPr>
        <p:spPr>
          <a:xfrm>
            <a:off x="8961120" y="2267712"/>
            <a:ext cx="2834640" cy="59436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accurate, but slow and expert-only</a:t>
            </a:r>
            <a:endParaRPr lang="en-US" sz="1200" dirty="0"/>
          </a:p>
        </p:txBody>
      </p:sp>
      <p:sp>
        <p:nvSpPr>
          <p:cNvPr id="12" name="Shape 6"/>
          <p:cNvSpPr/>
          <p:nvPr/>
        </p:nvSpPr>
        <p:spPr>
          <a:xfrm>
            <a:off x="8503920" y="2944368"/>
            <a:ext cx="329184" cy="329184"/>
          </a:xfrm>
          <a:prstGeom prst="ellipse">
            <a:avLst/>
          </a:prstGeom>
          <a:solidFill>
            <a:srgbClr val="CEB888"/>
          </a:solidFill>
          <a:ln w="12700">
            <a:solidFill>
              <a:srgbClr val="CEB888"/>
            </a:solidFill>
            <a:prstDash val="solid"/>
          </a:ln>
        </p:spPr>
      </p:sp>
      <p:sp>
        <p:nvSpPr>
          <p:cNvPr id="13" name="Text 7"/>
          <p:cNvSpPr txBox="1"/>
          <p:nvPr/>
        </p:nvSpPr>
        <p:spPr>
          <a:xfrm>
            <a:off x="8503920" y="294436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2</a:t>
            </a:r>
            <a:endParaRPr lang="en-US" sz="1300" dirty="0"/>
          </a:p>
        </p:txBody>
      </p:sp>
      <p:sp>
        <p:nvSpPr>
          <p:cNvPr id="14" name="Text 8"/>
          <p:cNvSpPr txBox="1"/>
          <p:nvPr/>
        </p:nvSpPr>
        <p:spPr>
          <a:xfrm>
            <a:off x="8961120" y="2926080"/>
            <a:ext cx="2834640" cy="347472"/>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Ask a chatbot</a:t>
            </a:r>
            <a:endParaRPr lang="en-US" sz="1500" dirty="0"/>
          </a:p>
        </p:txBody>
      </p:sp>
      <p:sp>
        <p:nvSpPr>
          <p:cNvPr id="15" name="Text 9"/>
          <p:cNvSpPr txBox="1"/>
          <p:nvPr/>
        </p:nvSpPr>
        <p:spPr>
          <a:xfrm>
            <a:off x="8961120" y="3273552"/>
            <a:ext cx="2834640" cy="59436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fast, but the query is hidden and can be invented</a:t>
            </a:r>
            <a:endParaRPr lang="en-US" sz="1200" dirty="0"/>
          </a:p>
        </p:txBody>
      </p:sp>
      <p:sp>
        <p:nvSpPr>
          <p:cNvPr id="16" name="Shape 10"/>
          <p:cNvSpPr/>
          <p:nvPr/>
        </p:nvSpPr>
        <p:spPr>
          <a:xfrm>
            <a:off x="8503920" y="3950208"/>
            <a:ext cx="329184" cy="329184"/>
          </a:xfrm>
          <a:prstGeom prst="ellipse">
            <a:avLst/>
          </a:prstGeom>
          <a:solidFill>
            <a:srgbClr val="CEB888"/>
          </a:solidFill>
          <a:ln w="12700">
            <a:solidFill>
              <a:srgbClr val="CEB888"/>
            </a:solidFill>
            <a:prstDash val="solid"/>
          </a:ln>
        </p:spPr>
      </p:sp>
      <p:sp>
        <p:nvSpPr>
          <p:cNvPr id="17" name="Text 11"/>
          <p:cNvSpPr txBox="1"/>
          <p:nvPr/>
        </p:nvSpPr>
        <p:spPr>
          <a:xfrm>
            <a:off x="8503920" y="3950208"/>
            <a:ext cx="329184" cy="329184"/>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3</a:t>
            </a:r>
            <a:endParaRPr lang="en-US" sz="1300" dirty="0"/>
          </a:p>
        </p:txBody>
      </p:sp>
      <p:sp>
        <p:nvSpPr>
          <p:cNvPr id="18" name="Text 12"/>
          <p:cNvSpPr txBox="1"/>
          <p:nvPr/>
        </p:nvSpPr>
        <p:spPr>
          <a:xfrm>
            <a:off x="8961120" y="3931920"/>
            <a:ext cx="2834640" cy="347472"/>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Copy into one database</a:t>
            </a:r>
            <a:endParaRPr lang="en-US" sz="1500" dirty="0"/>
          </a:p>
        </p:txBody>
      </p:sp>
      <p:sp>
        <p:nvSpPr>
          <p:cNvPr id="19" name="Text 13"/>
          <p:cNvSpPr txBox="1"/>
          <p:nvPr/>
        </p:nvSpPr>
        <p:spPr>
          <a:xfrm>
            <a:off x="8961120" y="4279392"/>
            <a:ext cx="2834640" cy="594360"/>
          </a:xfrm>
          <a:prstGeom prst="rect">
            <a:avLst/>
          </a:prstGeom>
          <a:noFill/>
          <a:ln/>
        </p:spPr>
        <p:txBody>
          <a:bodyPr wrap="square" lIns="0" tIns="0" rIns="0" bIns="0" rtlCol="0" anchor="t"/>
          <a:lstStyle/>
          <a:p>
            <a:pPr indent="0" marL="0">
              <a:buNone/>
            </a:pPr>
            <a:r>
              <a:rPr lang="en-US" sz="1200" dirty="0">
                <a:solidFill>
                  <a:srgbClr val="101820"/>
                </a:solidFill>
                <a:latin typeface="Arial" pitchFamily="34" charset="0"/>
                <a:ea typeface="Arial" pitchFamily="34" charset="-122"/>
                <a:cs typeface="Arial" pitchFamily="34" charset="-120"/>
              </a:rPr>
              <a:t>one language, but expensive, stale, and it rewrites the sources</a:t>
            </a:r>
            <a:endParaRPr lang="en-US" sz="1200" dirty="0"/>
          </a:p>
        </p:txBody>
      </p:sp>
      <p:sp>
        <p:nvSpPr>
          <p:cNvPr id="20" name="Text 14"/>
          <p:cNvSpPr txBox="1"/>
          <p:nvPr/>
        </p:nvSpPr>
        <p:spPr>
          <a:xfrm>
            <a:off x="8503920" y="5029200"/>
            <a:ext cx="3291840" cy="731520"/>
          </a:xfrm>
          <a:prstGeom prst="rect">
            <a:avLst/>
          </a:prstGeom>
          <a:noFill/>
          <a:ln/>
        </p:spPr>
        <p:txBody>
          <a:bodyPr wrap="square" lIns="0" tIns="0" rIns="0" bIns="0" rtlCol="0" anchor="t"/>
          <a:lstStyle/>
          <a:p>
            <a:pPr indent="0" marL="0">
              <a:buNone/>
            </a:pPr>
            <a:r>
              <a:rPr lang="en-US" sz="1200" b="1" i="1" dirty="0">
                <a:solidFill>
                  <a:srgbClr val="782F40"/>
                </a:solidFill>
                <a:latin typeface="Arial" pitchFamily="34" charset="0"/>
                <a:ea typeface="Arial" pitchFamily="34" charset="-122"/>
                <a:cs typeface="Arial" pitchFamily="34" charset="-120"/>
              </a:rPr>
              <a:t>Hallucination: </a:t>
            </a:r>
            <a:pPr indent="0" marL="0">
              <a:buNone/>
            </a:pPr>
            <a:r>
              <a:rPr lang="en-US" sz="1200" i="1" dirty="0">
                <a:solidFill>
                  <a:srgbClr val="101820"/>
                </a:solidFill>
                <a:latin typeface="Arial" pitchFamily="34" charset="0"/>
                <a:ea typeface="Arial" pitchFamily="34" charset="-122"/>
                <a:cs typeface="Arial" pitchFamily="34" charset="-120"/>
              </a:rPr>
              <a:t>an AI states as fact something that is not in the data.</a:t>
            </a:r>
            <a:endParaRPr lang="en-US" sz="1200" dirty="0"/>
          </a:p>
        </p:txBody>
      </p:sp>
      <p:sp>
        <p:nvSpPr>
          <p:cNvPr id="21" name="Text 15"/>
          <p:cNvSpPr txBox="1"/>
          <p:nvPr/>
        </p:nvSpPr>
        <p:spPr>
          <a:xfrm>
            <a:off x="457200" y="6035040"/>
            <a:ext cx="758952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Each one trades away accuracy, speed, or visibility.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5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How Ariadne answers one question</a:t>
            </a:r>
            <a:endParaRPr lang="en-US" sz="3000" dirty="0"/>
          </a:p>
        </p:txBody>
      </p:sp>
      <p:pic>
        <p:nvPicPr>
          <p:cNvPr id="7" name="Image 3" descr="/home/bdgr/Agents/Ariadne/docs/showcase/build/assets/framework_fsu.png">    </p:cNvPr>
          <p:cNvPicPr>
            <a:picLocks noChangeAspect="1"/>
          </p:cNvPicPr>
          <p:nvPr/>
        </p:nvPicPr>
        <p:blipFill>
          <a:blip r:embed="rId4"/>
          <a:stretch>
            <a:fillRect/>
          </a:stretch>
        </p:blipFill>
        <p:spPr>
          <a:xfrm>
            <a:off x="457200" y="1645920"/>
            <a:ext cx="7863840" cy="4425696"/>
          </a:xfrm>
          <a:prstGeom prst="rect">
            <a:avLst/>
          </a:prstGeom>
        </p:spPr>
      </p:pic>
      <p:sp>
        <p:nvSpPr>
          <p:cNvPr id="8" name="Text 2"/>
          <p:cNvSpPr txBox="1"/>
          <p:nvPr/>
        </p:nvSpPr>
        <p:spPr>
          <a:xfrm>
            <a:off x="8686800" y="1783080"/>
            <a:ext cx="3108960" cy="365760"/>
          </a:xfrm>
          <a:prstGeom prst="rect">
            <a:avLst/>
          </a:prstGeom>
          <a:noFill/>
          <a:ln/>
        </p:spPr>
        <p:txBody>
          <a:bodyPr wrap="square" lIns="0" tIns="0" rIns="0" bIns="0" rtlCol="0" anchor="ctr"/>
          <a:lstStyle/>
          <a:p>
            <a:pPr indent="0" marL="0">
              <a:buNone/>
            </a:pPr>
            <a:r>
              <a:rPr lang="en-US" sz="1500" b="1" dirty="0">
                <a:solidFill>
                  <a:srgbClr val="CEB888"/>
                </a:solidFill>
                <a:latin typeface="Arial" pitchFamily="34" charset="0"/>
                <a:ea typeface="Arial" pitchFamily="34" charset="-122"/>
                <a:cs typeface="Arial" pitchFamily="34" charset="-120"/>
              </a:rPr>
              <a:t>Two rules</a:t>
            </a:r>
            <a:endParaRPr lang="en-US" sz="1500" dirty="0"/>
          </a:p>
        </p:txBody>
      </p:sp>
      <p:sp>
        <p:nvSpPr>
          <p:cNvPr id="9" name="Shape 3"/>
          <p:cNvSpPr/>
          <p:nvPr/>
        </p:nvSpPr>
        <p:spPr>
          <a:xfrm>
            <a:off x="8686800" y="2240280"/>
            <a:ext cx="3108960" cy="777240"/>
          </a:xfrm>
          <a:prstGeom prst="roundRect">
            <a:avLst>
              <a:gd name="adj" fmla="val 9412"/>
            </a:avLst>
          </a:prstGeom>
          <a:solidFill>
            <a:srgbClr val="572932"/>
          </a:solidFill>
          <a:ln w="12700">
            <a:solidFill>
              <a:srgbClr val="CEB888"/>
            </a:solidFill>
            <a:prstDash val="solid"/>
          </a:ln>
        </p:spPr>
      </p:sp>
      <p:sp>
        <p:nvSpPr>
          <p:cNvPr id="10" name="Text 4"/>
          <p:cNvSpPr txBox="1"/>
          <p:nvPr/>
        </p:nvSpPr>
        <p:spPr>
          <a:xfrm>
            <a:off x="8869680" y="2240280"/>
            <a:ext cx="2743200" cy="777240"/>
          </a:xfrm>
          <a:prstGeom prst="rect">
            <a:avLst/>
          </a:prstGeom>
          <a:noFill/>
          <a:ln/>
        </p:spPr>
        <p:txBody>
          <a:bodyPr wrap="square" lIns="0" tIns="0" rIns="0" bIns="0" rtlCol="0" anchor="ctr"/>
          <a:lstStyle/>
          <a:p>
            <a:pPr algn="l" indent="0" marL="0">
              <a:buNone/>
            </a:pPr>
            <a:r>
              <a:rPr lang="en-US" sz="1300" b="1" dirty="0">
                <a:solidFill>
                  <a:srgbClr val="CEB888"/>
                </a:solidFill>
                <a:latin typeface="Arial" pitchFamily="34" charset="0"/>
                <a:ea typeface="Arial" pitchFamily="34" charset="-122"/>
                <a:cs typeface="Arial" pitchFamily="34" charset="-120"/>
              </a:rPr>
              <a:t>1   </a:t>
            </a:r>
            <a:pPr algn="l" indent="0" marL="0">
              <a:buNone/>
            </a:pPr>
            <a:r>
              <a:rPr lang="en-US" sz="1300" b="1" dirty="0">
                <a:solidFill>
                  <a:srgbClr val="FFFFFF"/>
                </a:solidFill>
                <a:latin typeface="Arial" pitchFamily="34" charset="0"/>
                <a:ea typeface="Arial" pitchFamily="34" charset="-122"/>
                <a:cs typeface="Arial" pitchFamily="34" charset="-120"/>
              </a:rPr>
              <a:t>No model ever writes a query.</a:t>
            </a:r>
            <a:endParaRPr lang="en-US" sz="1300" dirty="0"/>
          </a:p>
        </p:txBody>
      </p:sp>
      <p:sp>
        <p:nvSpPr>
          <p:cNvPr id="11" name="Shape 5"/>
          <p:cNvSpPr/>
          <p:nvPr/>
        </p:nvSpPr>
        <p:spPr>
          <a:xfrm>
            <a:off x="8686800" y="3154680"/>
            <a:ext cx="3108960" cy="777240"/>
          </a:xfrm>
          <a:prstGeom prst="roundRect">
            <a:avLst>
              <a:gd name="adj" fmla="val 9412"/>
            </a:avLst>
          </a:prstGeom>
          <a:solidFill>
            <a:srgbClr val="572932"/>
          </a:solidFill>
          <a:ln w="12700">
            <a:solidFill>
              <a:srgbClr val="CEB888"/>
            </a:solidFill>
            <a:prstDash val="solid"/>
          </a:ln>
        </p:spPr>
      </p:sp>
      <p:sp>
        <p:nvSpPr>
          <p:cNvPr id="12" name="Text 6"/>
          <p:cNvSpPr txBox="1"/>
          <p:nvPr/>
        </p:nvSpPr>
        <p:spPr>
          <a:xfrm>
            <a:off x="8869680" y="3154680"/>
            <a:ext cx="2743200" cy="777240"/>
          </a:xfrm>
          <a:prstGeom prst="rect">
            <a:avLst/>
          </a:prstGeom>
          <a:noFill/>
          <a:ln/>
        </p:spPr>
        <p:txBody>
          <a:bodyPr wrap="square" lIns="0" tIns="0" rIns="0" bIns="0" rtlCol="0" anchor="ctr"/>
          <a:lstStyle/>
          <a:p>
            <a:pPr algn="l" indent="0" marL="0">
              <a:buNone/>
            </a:pPr>
            <a:r>
              <a:rPr lang="en-US" sz="1300" b="1" dirty="0">
                <a:solidFill>
                  <a:srgbClr val="CEB888"/>
                </a:solidFill>
                <a:latin typeface="Arial" pitchFamily="34" charset="0"/>
                <a:ea typeface="Arial" pitchFamily="34" charset="-122"/>
                <a:cs typeface="Arial" pitchFamily="34" charset="-120"/>
              </a:rPr>
              <a:t>2   </a:t>
            </a:r>
            <a:pPr algn="l" indent="0" marL="0">
              <a:buNone/>
            </a:pPr>
            <a:r>
              <a:rPr lang="en-US" sz="1300" b="1" dirty="0">
                <a:solidFill>
                  <a:srgbClr val="FFFFFF"/>
                </a:solidFill>
                <a:latin typeface="Arial" pitchFamily="34" charset="0"/>
                <a:ea typeface="Arial" pitchFamily="34" charset="-122"/>
                <a:cs typeface="Arial" pitchFamily="34" charset="-120"/>
              </a:rPr>
              <a:t>No claim without a record behind it.</a:t>
            </a:r>
            <a:endParaRPr lang="en-US" sz="1300" dirty="0"/>
          </a:p>
        </p:txBody>
      </p:sp>
      <p:sp>
        <p:nvSpPr>
          <p:cNvPr id="13" name="Text 7"/>
          <p:cNvSpPr txBox="1"/>
          <p:nvPr/>
        </p:nvSpPr>
        <p:spPr>
          <a:xfrm>
            <a:off x="8686800" y="4206240"/>
            <a:ext cx="3108960" cy="91440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One specialist per database. Each reads its source card and composes the query in that database's own language.</a:t>
            </a:r>
            <a:endParaRPr lang="en-US" sz="1200" dirty="0"/>
          </a:p>
        </p:txBody>
      </p:sp>
      <p:sp>
        <p:nvSpPr>
          <p:cNvPr id="14" name="Text 8"/>
          <p:cNvSpPr txBox="1"/>
          <p:nvPr/>
        </p:nvSpPr>
        <p:spPr>
          <a:xfrm>
            <a:off x="8686800" y="5166360"/>
            <a:ext cx="3108960" cy="73152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Evidence insufficient? The verifier sends the planner back, up to 5 rounds.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6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The source card: one sheet per database</a:t>
            </a:r>
            <a:endParaRPr lang="en-US" sz="3000" dirty="0"/>
          </a:p>
        </p:txBody>
      </p:sp>
      <p:sp>
        <p:nvSpPr>
          <p:cNvPr id="7" name="Shape 2"/>
          <p:cNvSpPr/>
          <p:nvPr/>
        </p:nvSpPr>
        <p:spPr>
          <a:xfrm>
            <a:off x="457200" y="1691640"/>
            <a:ext cx="5394960" cy="4526280"/>
          </a:xfrm>
          <a:prstGeom prst="roundRect">
            <a:avLst>
              <a:gd name="adj" fmla="val 2424"/>
            </a:avLst>
          </a:prstGeom>
          <a:solidFill>
            <a:srgbClr val="DFD1A7"/>
          </a:solidFill>
          <a:ln w="12700">
            <a:solidFill>
              <a:srgbClr val="DFD1A7"/>
            </a:solidFill>
            <a:prstDash val="solid"/>
          </a:ln>
        </p:spPr>
      </p:sp>
      <p:sp>
        <p:nvSpPr>
          <p:cNvPr id="8" name="Text 3"/>
          <p:cNvSpPr txBox="1"/>
          <p:nvPr/>
        </p:nvSpPr>
        <p:spPr>
          <a:xfrm>
            <a:off x="731520" y="1874520"/>
            <a:ext cx="4846320" cy="365760"/>
          </a:xfrm>
          <a:prstGeom prst="rect">
            <a:avLst/>
          </a:prstGeom>
          <a:noFill/>
          <a:ln/>
        </p:spPr>
        <p:txBody>
          <a:bodyPr wrap="square" lIns="0" tIns="0" rIns="0" bIns="0" rtlCol="0" anchor="ctr"/>
          <a:lstStyle/>
          <a:p>
            <a:pPr indent="0" marL="0">
              <a:buNone/>
            </a:pPr>
            <a:r>
              <a:rPr lang="en-US" sz="1400" b="1" dirty="0">
                <a:solidFill>
                  <a:srgbClr val="782F40"/>
                </a:solidFill>
                <a:latin typeface="Courier New" pitchFamily="34" charset="0"/>
                <a:ea typeface="Courier New" pitchFamily="34" charset="-122"/>
                <a:cs typeface="Courier New" pitchFamily="34" charset="-120"/>
              </a:rPr>
              <a:t>attack.json</a:t>
            </a:r>
            <a:pPr indent="0" marL="0">
              <a:buNone/>
            </a:pPr>
            <a:r>
              <a:rPr lang="en-US" sz="1100" dirty="0">
                <a:solidFill>
                  <a:srgbClr val="782F40"/>
                </a:solidFill>
                <a:latin typeface="Arial" pitchFamily="34" charset="0"/>
                <a:ea typeface="Arial" pitchFamily="34" charset="-122"/>
                <a:cs typeface="Arial" pitchFamily="34" charset="-120"/>
              </a:rPr>
              <a:t>   the ATT&amp;CK source card</a:t>
            </a:r>
            <a:endParaRPr lang="en-US" sz="1400" dirty="0"/>
          </a:p>
        </p:txBody>
      </p:sp>
      <p:sp>
        <p:nvSpPr>
          <p:cNvPr id="9" name="Shape 4"/>
          <p:cNvSpPr/>
          <p:nvPr/>
        </p:nvSpPr>
        <p:spPr>
          <a:xfrm>
            <a:off x="777240" y="2450592"/>
            <a:ext cx="164592" cy="164592"/>
          </a:xfrm>
          <a:prstGeom prst="ellipse">
            <a:avLst/>
          </a:prstGeom>
          <a:solidFill>
            <a:srgbClr val="782F40"/>
          </a:solidFill>
          <a:ln w="12700">
            <a:solidFill>
              <a:srgbClr val="782F40"/>
            </a:solidFill>
            <a:prstDash val="solid"/>
          </a:ln>
        </p:spPr>
      </p:sp>
      <p:sp>
        <p:nvSpPr>
          <p:cNvPr id="10" name="Text 5"/>
          <p:cNvSpPr txBox="1"/>
          <p:nvPr/>
        </p:nvSpPr>
        <p:spPr>
          <a:xfrm>
            <a:off x="1097280" y="2377440"/>
            <a:ext cx="448056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Entities and properties</a:t>
            </a:r>
            <a:endParaRPr lang="en-US" sz="1300" dirty="0"/>
          </a:p>
        </p:txBody>
      </p:sp>
      <p:sp>
        <p:nvSpPr>
          <p:cNvPr id="11" name="Text 6"/>
          <p:cNvSpPr txBox="1"/>
          <p:nvPr/>
        </p:nvSpPr>
        <p:spPr>
          <a:xfrm>
            <a:off x="1097280" y="2651760"/>
            <a:ext cx="4480560" cy="34747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what the graph contains</a:t>
            </a:r>
            <a:endParaRPr lang="en-US" sz="1100" dirty="0"/>
          </a:p>
        </p:txBody>
      </p:sp>
      <p:sp>
        <p:nvSpPr>
          <p:cNvPr id="12" name="Shape 7"/>
          <p:cNvSpPr/>
          <p:nvPr/>
        </p:nvSpPr>
        <p:spPr>
          <a:xfrm>
            <a:off x="777240" y="3108960"/>
            <a:ext cx="164592" cy="164592"/>
          </a:xfrm>
          <a:prstGeom prst="ellipse">
            <a:avLst/>
          </a:prstGeom>
          <a:solidFill>
            <a:srgbClr val="782F40"/>
          </a:solidFill>
          <a:ln w="12700">
            <a:solidFill>
              <a:srgbClr val="782F40"/>
            </a:solidFill>
            <a:prstDash val="solid"/>
          </a:ln>
        </p:spPr>
      </p:sp>
      <p:sp>
        <p:nvSpPr>
          <p:cNvPr id="13" name="Text 8"/>
          <p:cNvSpPr txBox="1"/>
          <p:nvPr/>
        </p:nvSpPr>
        <p:spPr>
          <a:xfrm>
            <a:off x="1097280" y="3035808"/>
            <a:ext cx="448056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Relationships</a:t>
            </a:r>
            <a:endParaRPr lang="en-US" sz="1300" dirty="0"/>
          </a:p>
        </p:txBody>
      </p:sp>
      <p:sp>
        <p:nvSpPr>
          <p:cNvPr id="14" name="Text 9"/>
          <p:cNvSpPr txBox="1"/>
          <p:nvPr/>
        </p:nvSpPr>
        <p:spPr>
          <a:xfrm>
            <a:off x="1097280" y="3310128"/>
            <a:ext cx="4480560" cy="34747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how entities connect</a:t>
            </a:r>
            <a:endParaRPr lang="en-US" sz="1100" dirty="0"/>
          </a:p>
        </p:txBody>
      </p:sp>
      <p:sp>
        <p:nvSpPr>
          <p:cNvPr id="15" name="Shape 10"/>
          <p:cNvSpPr/>
          <p:nvPr/>
        </p:nvSpPr>
        <p:spPr>
          <a:xfrm>
            <a:off x="777240" y="3767328"/>
            <a:ext cx="164592" cy="164592"/>
          </a:xfrm>
          <a:prstGeom prst="ellipse">
            <a:avLst/>
          </a:prstGeom>
          <a:solidFill>
            <a:srgbClr val="782F40"/>
          </a:solidFill>
          <a:ln w="12700">
            <a:solidFill>
              <a:srgbClr val="782F40"/>
            </a:solidFill>
            <a:prstDash val="solid"/>
          </a:ln>
        </p:spPr>
      </p:sp>
      <p:sp>
        <p:nvSpPr>
          <p:cNvPr id="16" name="Text 11"/>
          <p:cNvSpPr txBox="1"/>
          <p:nvPr/>
        </p:nvSpPr>
        <p:spPr>
          <a:xfrm>
            <a:off x="1097280" y="3694176"/>
            <a:ext cx="448056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Join keys</a:t>
            </a:r>
            <a:endParaRPr lang="en-US" sz="1300" dirty="0"/>
          </a:p>
        </p:txBody>
      </p:sp>
      <p:sp>
        <p:nvSpPr>
          <p:cNvPr id="17" name="Text 12"/>
          <p:cNvSpPr txBox="1"/>
          <p:nvPr/>
        </p:nvSpPr>
        <p:spPr>
          <a:xfrm>
            <a:off x="1097280" y="3968496"/>
            <a:ext cx="4480560" cy="34747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how records link across databases</a:t>
            </a:r>
            <a:endParaRPr lang="en-US" sz="1100" dirty="0"/>
          </a:p>
        </p:txBody>
      </p:sp>
      <p:sp>
        <p:nvSpPr>
          <p:cNvPr id="18" name="Shape 13"/>
          <p:cNvSpPr/>
          <p:nvPr/>
        </p:nvSpPr>
        <p:spPr>
          <a:xfrm>
            <a:off x="777240" y="4425696"/>
            <a:ext cx="164592" cy="164592"/>
          </a:xfrm>
          <a:prstGeom prst="ellipse">
            <a:avLst/>
          </a:prstGeom>
          <a:solidFill>
            <a:srgbClr val="782F40"/>
          </a:solidFill>
          <a:ln w="12700">
            <a:solidFill>
              <a:srgbClr val="782F40"/>
            </a:solidFill>
            <a:prstDash val="solid"/>
          </a:ln>
        </p:spPr>
      </p:sp>
      <p:sp>
        <p:nvSpPr>
          <p:cNvPr id="19" name="Text 14"/>
          <p:cNvSpPr txBox="1"/>
          <p:nvPr/>
        </p:nvSpPr>
        <p:spPr>
          <a:xfrm>
            <a:off x="1097280" y="4352544"/>
            <a:ext cx="448056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Query limits</a:t>
            </a:r>
            <a:endParaRPr lang="en-US" sz="1300" dirty="0"/>
          </a:p>
        </p:txBody>
      </p:sp>
      <p:sp>
        <p:nvSpPr>
          <p:cNvPr id="20" name="Text 15"/>
          <p:cNvSpPr txBox="1"/>
          <p:nvPr/>
        </p:nvSpPr>
        <p:spPr>
          <a:xfrm>
            <a:off x="1097280" y="4626864"/>
            <a:ext cx="4480560" cy="34747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read-only · depth · rows · timeout</a:t>
            </a:r>
            <a:endParaRPr lang="en-US" sz="1100" dirty="0"/>
          </a:p>
        </p:txBody>
      </p:sp>
      <p:sp>
        <p:nvSpPr>
          <p:cNvPr id="21" name="Shape 16"/>
          <p:cNvSpPr/>
          <p:nvPr/>
        </p:nvSpPr>
        <p:spPr>
          <a:xfrm>
            <a:off x="777240" y="5084064"/>
            <a:ext cx="164592" cy="164592"/>
          </a:xfrm>
          <a:prstGeom prst="ellipse">
            <a:avLst/>
          </a:prstGeom>
          <a:solidFill>
            <a:srgbClr val="782F40"/>
          </a:solidFill>
          <a:ln w="12700">
            <a:solidFill>
              <a:srgbClr val="782F40"/>
            </a:solidFill>
            <a:prstDash val="solid"/>
          </a:ln>
        </p:spPr>
      </p:sp>
      <p:sp>
        <p:nvSpPr>
          <p:cNvPr id="22" name="Text 17"/>
          <p:cNvSpPr txBox="1"/>
          <p:nvPr/>
        </p:nvSpPr>
        <p:spPr>
          <a:xfrm>
            <a:off x="1097280" y="5010912"/>
            <a:ext cx="448056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Provenance</a:t>
            </a:r>
            <a:endParaRPr lang="en-US" sz="1300" dirty="0"/>
          </a:p>
        </p:txBody>
      </p:sp>
      <p:sp>
        <p:nvSpPr>
          <p:cNvPr id="23" name="Text 18"/>
          <p:cNvSpPr txBox="1"/>
          <p:nvPr/>
        </p:nvSpPr>
        <p:spPr>
          <a:xfrm>
            <a:off x="1097280" y="5285232"/>
            <a:ext cx="4480560" cy="34747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which snapshot, pinned by hash</a:t>
            </a:r>
            <a:endParaRPr lang="en-US" sz="1100" dirty="0"/>
          </a:p>
        </p:txBody>
      </p:sp>
      <p:sp>
        <p:nvSpPr>
          <p:cNvPr id="24" name="Text 19"/>
          <p:cNvSpPr txBox="1"/>
          <p:nvPr/>
        </p:nvSpPr>
        <p:spPr>
          <a:xfrm>
            <a:off x="731520" y="5760720"/>
            <a:ext cx="4846320" cy="365760"/>
          </a:xfrm>
          <a:prstGeom prst="rect">
            <a:avLst/>
          </a:prstGeom>
          <a:noFill/>
          <a:ln/>
        </p:spPr>
        <p:txBody>
          <a:bodyPr wrap="square" lIns="0" tIns="0" rIns="0" bIns="0" rtlCol="0" anchor="ctr"/>
          <a:lstStyle/>
          <a:p>
            <a:pPr indent="0" marL="0">
              <a:buNone/>
            </a:pPr>
            <a:r>
              <a:rPr lang="en-US" sz="1150" b="1" dirty="0">
                <a:solidFill>
                  <a:srgbClr val="782F40"/>
                </a:solidFill>
                <a:latin typeface="Arial" pitchFamily="34" charset="0"/>
                <a:ea typeface="Arial" pitchFamily="34" charset="-122"/>
                <a:cs typeface="Arial" pitchFamily="34" charset="-120"/>
              </a:rPr>
              <a:t>39 KB of card describes a 19.9 MB graph.</a:t>
            </a:r>
            <a:endParaRPr lang="en-US" sz="1150" dirty="0"/>
          </a:p>
        </p:txBody>
      </p:sp>
      <p:sp>
        <p:nvSpPr>
          <p:cNvPr id="25" name="Text 20"/>
          <p:cNvSpPr txBox="1"/>
          <p:nvPr/>
        </p:nvSpPr>
        <p:spPr>
          <a:xfrm>
            <a:off x="6309360" y="1737360"/>
            <a:ext cx="5440680" cy="365760"/>
          </a:xfrm>
          <a:prstGeom prst="rect">
            <a:avLst/>
          </a:prstGeom>
          <a:noFill/>
          <a:ln/>
        </p:spPr>
        <p:txBody>
          <a:bodyPr wrap="square" lIns="0" tIns="0" rIns="0" bIns="0" rtlCol="0" anchor="ctr"/>
          <a:lstStyle/>
          <a:p>
            <a:pPr indent="0" marL="0">
              <a:buNone/>
            </a:pPr>
            <a:r>
              <a:rPr lang="en-US" sz="1600" b="1" dirty="0">
                <a:solidFill>
                  <a:srgbClr val="782F40"/>
                </a:solidFill>
                <a:latin typeface="Arial" pitchFamily="34" charset="0"/>
                <a:ea typeface="Arial" pitchFamily="34" charset="-122"/>
                <a:cs typeface="Arial" pitchFamily="34" charset="-120"/>
              </a:rPr>
              <a:t>What the specialist does with it</a:t>
            </a:r>
            <a:endParaRPr lang="en-US" sz="1600" dirty="0"/>
          </a:p>
        </p:txBody>
      </p:sp>
      <p:sp>
        <p:nvSpPr>
          <p:cNvPr id="26" name="Shape 21"/>
          <p:cNvSpPr/>
          <p:nvPr/>
        </p:nvSpPr>
        <p:spPr>
          <a:xfrm>
            <a:off x="6309360" y="2377440"/>
            <a:ext cx="365760" cy="365760"/>
          </a:xfrm>
          <a:prstGeom prst="ellipse">
            <a:avLst/>
          </a:prstGeom>
          <a:solidFill>
            <a:srgbClr val="CEB888"/>
          </a:solidFill>
          <a:ln w="12700">
            <a:solidFill>
              <a:srgbClr val="CEB888"/>
            </a:solidFill>
            <a:prstDash val="solid"/>
          </a:ln>
        </p:spPr>
      </p:sp>
      <p:sp>
        <p:nvSpPr>
          <p:cNvPr id="27" name="Text 22"/>
          <p:cNvSpPr txBox="1"/>
          <p:nvPr/>
        </p:nvSpPr>
        <p:spPr>
          <a:xfrm>
            <a:off x="6309360" y="2377440"/>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1</a:t>
            </a:r>
            <a:endParaRPr lang="en-US" sz="1300" dirty="0"/>
          </a:p>
        </p:txBody>
      </p:sp>
      <p:sp>
        <p:nvSpPr>
          <p:cNvPr id="28" name="Text 23"/>
          <p:cNvSpPr txBox="1"/>
          <p:nvPr/>
        </p:nvSpPr>
        <p:spPr>
          <a:xfrm>
            <a:off x="6812280" y="2377440"/>
            <a:ext cx="4937760" cy="365760"/>
          </a:xfrm>
          <a:prstGeom prst="rect">
            <a:avLst/>
          </a:prstGeom>
          <a:noFill/>
          <a:ln/>
        </p:spPr>
        <p:txBody>
          <a:bodyPr wrap="square" lIns="0" tIns="0" rIns="0" bIns="0" rtlCol="0" anchor="t"/>
          <a:lstStyle/>
          <a:p>
            <a:pPr indent="0" marL="0">
              <a:buNone/>
            </a:pPr>
            <a:r>
              <a:rPr lang="en-US" sz="1300" b="1" dirty="0">
                <a:solidFill>
                  <a:srgbClr val="782F40"/>
                </a:solidFill>
                <a:latin typeface="Arial" pitchFamily="34" charset="0"/>
                <a:ea typeface="Arial" pitchFamily="34" charset="-122"/>
                <a:cs typeface="Arial" pitchFamily="34" charset="-120"/>
              </a:rPr>
              <a:t>Resolve  </a:t>
            </a:r>
            <a:pPr indent="0" marL="0">
              <a:buNone/>
            </a:pPr>
            <a:r>
              <a:rPr lang="en-US" sz="1300" dirty="0">
                <a:solidFill>
                  <a:srgbClr val="101820"/>
                </a:solidFill>
                <a:latin typeface="Arial" pitchFamily="34" charset="0"/>
                <a:ea typeface="Arial" pitchFamily="34" charset="-122"/>
                <a:cs typeface="Arial" pitchFamily="34" charset="-120"/>
              </a:rPr>
              <a:t>the question's entities against the card</a:t>
            </a:r>
            <a:endParaRPr lang="en-US" sz="1300" dirty="0"/>
          </a:p>
        </p:txBody>
      </p:sp>
      <p:sp>
        <p:nvSpPr>
          <p:cNvPr id="29" name="Shape 24"/>
          <p:cNvSpPr/>
          <p:nvPr/>
        </p:nvSpPr>
        <p:spPr>
          <a:xfrm>
            <a:off x="6309360" y="2944368"/>
            <a:ext cx="365760" cy="365760"/>
          </a:xfrm>
          <a:prstGeom prst="ellipse">
            <a:avLst/>
          </a:prstGeom>
          <a:solidFill>
            <a:srgbClr val="CEB888"/>
          </a:solidFill>
          <a:ln w="12700">
            <a:solidFill>
              <a:srgbClr val="CEB888"/>
            </a:solidFill>
            <a:prstDash val="solid"/>
          </a:ln>
        </p:spPr>
      </p:sp>
      <p:sp>
        <p:nvSpPr>
          <p:cNvPr id="30" name="Text 25"/>
          <p:cNvSpPr txBox="1"/>
          <p:nvPr/>
        </p:nvSpPr>
        <p:spPr>
          <a:xfrm>
            <a:off x="6309360" y="2944368"/>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2</a:t>
            </a:r>
            <a:endParaRPr lang="en-US" sz="1300" dirty="0"/>
          </a:p>
        </p:txBody>
      </p:sp>
      <p:sp>
        <p:nvSpPr>
          <p:cNvPr id="31" name="Text 26"/>
          <p:cNvSpPr txBox="1"/>
          <p:nvPr/>
        </p:nvSpPr>
        <p:spPr>
          <a:xfrm>
            <a:off x="6812280" y="2944368"/>
            <a:ext cx="4937760" cy="365760"/>
          </a:xfrm>
          <a:prstGeom prst="rect">
            <a:avLst/>
          </a:prstGeom>
          <a:noFill/>
          <a:ln/>
        </p:spPr>
        <p:txBody>
          <a:bodyPr wrap="square" lIns="0" tIns="0" rIns="0" bIns="0" rtlCol="0" anchor="t"/>
          <a:lstStyle/>
          <a:p>
            <a:pPr indent="0" marL="0">
              <a:buNone/>
            </a:pPr>
            <a:r>
              <a:rPr lang="en-US" sz="1300" b="1" dirty="0">
                <a:solidFill>
                  <a:srgbClr val="782F40"/>
                </a:solidFill>
                <a:latin typeface="Arial" pitchFamily="34" charset="0"/>
                <a:ea typeface="Arial" pitchFamily="34" charset="-122"/>
                <a:cs typeface="Arial" pitchFamily="34" charset="-120"/>
              </a:rPr>
              <a:t>Compose  </a:t>
            </a:r>
            <a:pPr indent="0" marL="0">
              <a:buNone/>
            </a:pPr>
            <a:r>
              <a:rPr lang="en-US" sz="1300" dirty="0">
                <a:solidFill>
                  <a:srgbClr val="101820"/>
                </a:solidFill>
                <a:latin typeface="Arial" pitchFamily="34" charset="0"/>
                <a:ea typeface="Arial" pitchFamily="34" charset="-122"/>
                <a:cs typeface="Arial" pitchFamily="34" charset="-120"/>
              </a:rPr>
              <a:t>the query from five schema-derived primitives</a:t>
            </a:r>
            <a:endParaRPr lang="en-US" sz="1300" dirty="0"/>
          </a:p>
        </p:txBody>
      </p:sp>
      <p:sp>
        <p:nvSpPr>
          <p:cNvPr id="32" name="Shape 27"/>
          <p:cNvSpPr/>
          <p:nvPr/>
        </p:nvSpPr>
        <p:spPr>
          <a:xfrm>
            <a:off x="6309360" y="3511296"/>
            <a:ext cx="365760" cy="365760"/>
          </a:xfrm>
          <a:prstGeom prst="ellipse">
            <a:avLst/>
          </a:prstGeom>
          <a:solidFill>
            <a:srgbClr val="CEB888"/>
          </a:solidFill>
          <a:ln w="12700">
            <a:solidFill>
              <a:srgbClr val="CEB888"/>
            </a:solidFill>
            <a:prstDash val="solid"/>
          </a:ln>
        </p:spPr>
      </p:sp>
      <p:sp>
        <p:nvSpPr>
          <p:cNvPr id="33" name="Text 28"/>
          <p:cNvSpPr txBox="1"/>
          <p:nvPr/>
        </p:nvSpPr>
        <p:spPr>
          <a:xfrm>
            <a:off x="6309360" y="3511296"/>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3</a:t>
            </a:r>
            <a:endParaRPr lang="en-US" sz="1300" dirty="0"/>
          </a:p>
        </p:txBody>
      </p:sp>
      <p:sp>
        <p:nvSpPr>
          <p:cNvPr id="34" name="Text 29"/>
          <p:cNvSpPr txBox="1"/>
          <p:nvPr/>
        </p:nvSpPr>
        <p:spPr>
          <a:xfrm>
            <a:off x="6812280" y="3511296"/>
            <a:ext cx="4937760" cy="365760"/>
          </a:xfrm>
          <a:prstGeom prst="rect">
            <a:avLst/>
          </a:prstGeom>
          <a:noFill/>
          <a:ln/>
        </p:spPr>
        <p:txBody>
          <a:bodyPr wrap="square" lIns="0" tIns="0" rIns="0" bIns="0" rtlCol="0" anchor="t"/>
          <a:lstStyle/>
          <a:p>
            <a:pPr indent="0" marL="0">
              <a:buNone/>
            </a:pPr>
            <a:r>
              <a:rPr lang="en-US" sz="1300" b="1" dirty="0">
                <a:solidFill>
                  <a:srgbClr val="782F40"/>
                </a:solidFill>
                <a:latin typeface="Arial" pitchFamily="34" charset="0"/>
                <a:ea typeface="Arial" pitchFamily="34" charset="-122"/>
                <a:cs typeface="Arial" pitchFamily="34" charset="-120"/>
              </a:rPr>
              <a:t>Gate  </a:t>
            </a:r>
            <a:pPr indent="0" marL="0">
              <a:buNone/>
            </a:pPr>
            <a:r>
              <a:rPr lang="en-US" sz="1300" dirty="0">
                <a:solidFill>
                  <a:srgbClr val="101820"/>
                </a:solidFill>
                <a:latin typeface="Arial" pitchFamily="34" charset="0"/>
                <a:ea typeface="Arial" pitchFamily="34" charset="-122"/>
                <a:cs typeface="Arial" pitchFamily="34" charset="-120"/>
              </a:rPr>
              <a:t>it: read-only, allowed labels, bounded depth and rows</a:t>
            </a:r>
            <a:endParaRPr lang="en-US" sz="1300" dirty="0"/>
          </a:p>
        </p:txBody>
      </p:sp>
      <p:sp>
        <p:nvSpPr>
          <p:cNvPr id="35" name="Shape 30"/>
          <p:cNvSpPr/>
          <p:nvPr/>
        </p:nvSpPr>
        <p:spPr>
          <a:xfrm>
            <a:off x="6309360" y="4078224"/>
            <a:ext cx="365760" cy="365760"/>
          </a:xfrm>
          <a:prstGeom prst="ellipse">
            <a:avLst/>
          </a:prstGeom>
          <a:solidFill>
            <a:srgbClr val="CEB888"/>
          </a:solidFill>
          <a:ln w="12700">
            <a:solidFill>
              <a:srgbClr val="CEB888"/>
            </a:solidFill>
            <a:prstDash val="solid"/>
          </a:ln>
        </p:spPr>
      </p:sp>
      <p:sp>
        <p:nvSpPr>
          <p:cNvPr id="36" name="Text 31"/>
          <p:cNvSpPr txBox="1"/>
          <p:nvPr/>
        </p:nvSpPr>
        <p:spPr>
          <a:xfrm>
            <a:off x="6309360" y="4078224"/>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4</a:t>
            </a:r>
            <a:endParaRPr lang="en-US" sz="1300" dirty="0"/>
          </a:p>
        </p:txBody>
      </p:sp>
      <p:sp>
        <p:nvSpPr>
          <p:cNvPr id="37" name="Text 32"/>
          <p:cNvSpPr txBox="1"/>
          <p:nvPr/>
        </p:nvSpPr>
        <p:spPr>
          <a:xfrm>
            <a:off x="6812280" y="4078224"/>
            <a:ext cx="4937760" cy="365760"/>
          </a:xfrm>
          <a:prstGeom prst="rect">
            <a:avLst/>
          </a:prstGeom>
          <a:noFill/>
          <a:ln/>
        </p:spPr>
        <p:txBody>
          <a:bodyPr wrap="square" lIns="0" tIns="0" rIns="0" bIns="0" rtlCol="0" anchor="t"/>
          <a:lstStyle/>
          <a:p>
            <a:pPr indent="0" marL="0">
              <a:buNone/>
            </a:pPr>
            <a:r>
              <a:rPr lang="en-US" sz="1300" b="1" dirty="0">
                <a:solidFill>
                  <a:srgbClr val="782F40"/>
                </a:solidFill>
                <a:latin typeface="Arial" pitchFamily="34" charset="0"/>
                <a:ea typeface="Arial" pitchFamily="34" charset="-122"/>
                <a:cs typeface="Arial" pitchFamily="34" charset="-120"/>
              </a:rPr>
              <a:t>Execute  </a:t>
            </a:r>
            <a:pPr indent="0" marL="0">
              <a:buNone/>
            </a:pPr>
            <a:r>
              <a:rPr lang="en-US" sz="1300" dirty="0">
                <a:solidFill>
                  <a:srgbClr val="101820"/>
                </a:solidFill>
                <a:latin typeface="Arial" pitchFamily="34" charset="0"/>
                <a:ea typeface="Arial" pitchFamily="34" charset="-122"/>
                <a:cs typeface="Arial" pitchFamily="34" charset="-120"/>
              </a:rPr>
              <a:t>once, under a timeout</a:t>
            </a:r>
            <a:endParaRPr lang="en-US" sz="1300" dirty="0"/>
          </a:p>
        </p:txBody>
      </p:sp>
      <p:sp>
        <p:nvSpPr>
          <p:cNvPr id="38" name="Shape 33"/>
          <p:cNvSpPr/>
          <p:nvPr/>
        </p:nvSpPr>
        <p:spPr>
          <a:xfrm>
            <a:off x="6309360" y="4645152"/>
            <a:ext cx="365760" cy="365760"/>
          </a:xfrm>
          <a:prstGeom prst="ellipse">
            <a:avLst/>
          </a:prstGeom>
          <a:solidFill>
            <a:srgbClr val="CEB888"/>
          </a:solidFill>
          <a:ln w="12700">
            <a:solidFill>
              <a:srgbClr val="CEB888"/>
            </a:solidFill>
            <a:prstDash val="solid"/>
          </a:ln>
        </p:spPr>
      </p:sp>
      <p:sp>
        <p:nvSpPr>
          <p:cNvPr id="39" name="Text 34"/>
          <p:cNvSpPr txBox="1"/>
          <p:nvPr/>
        </p:nvSpPr>
        <p:spPr>
          <a:xfrm>
            <a:off x="6309360" y="4645152"/>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5</a:t>
            </a:r>
            <a:endParaRPr lang="en-US" sz="1300" dirty="0"/>
          </a:p>
        </p:txBody>
      </p:sp>
      <p:sp>
        <p:nvSpPr>
          <p:cNvPr id="40" name="Text 35"/>
          <p:cNvSpPr txBox="1"/>
          <p:nvPr/>
        </p:nvSpPr>
        <p:spPr>
          <a:xfrm>
            <a:off x="6812280" y="4645152"/>
            <a:ext cx="4937760" cy="365760"/>
          </a:xfrm>
          <a:prstGeom prst="rect">
            <a:avLst/>
          </a:prstGeom>
          <a:noFill/>
          <a:ln/>
        </p:spPr>
        <p:txBody>
          <a:bodyPr wrap="square" lIns="0" tIns="0" rIns="0" bIns="0" rtlCol="0" anchor="t"/>
          <a:lstStyle/>
          <a:p>
            <a:pPr indent="0" marL="0">
              <a:buNone/>
            </a:pPr>
            <a:r>
              <a:rPr lang="en-US" sz="1300" b="1" dirty="0">
                <a:solidFill>
                  <a:srgbClr val="782F40"/>
                </a:solidFill>
                <a:latin typeface="Arial" pitchFamily="34" charset="0"/>
                <a:ea typeface="Arial" pitchFamily="34" charset="-122"/>
                <a:cs typeface="Arial" pitchFamily="34" charset="-120"/>
              </a:rPr>
              <a:t>Normalize  </a:t>
            </a:r>
            <a:pPr indent="0" marL="0">
              <a:buNone/>
            </a:pPr>
            <a:r>
              <a:rPr lang="en-US" sz="1300" dirty="0">
                <a:solidFill>
                  <a:srgbClr val="101820"/>
                </a:solidFill>
                <a:latin typeface="Arial" pitchFamily="34" charset="0"/>
                <a:ea typeface="Arial" pitchFamily="34" charset="-122"/>
                <a:cs typeface="Arial" pitchFamily="34" charset="-120"/>
              </a:rPr>
              <a:t>every record with its provenance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7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verifier: every claim carries its record</a:t>
            </a:r>
            <a:endParaRPr lang="en-US" sz="3000" dirty="0"/>
          </a:p>
        </p:txBody>
      </p:sp>
      <p:sp>
        <p:nvSpPr>
          <p:cNvPr id="7" name="Shape 2"/>
          <p:cNvSpPr/>
          <p:nvPr/>
        </p:nvSpPr>
        <p:spPr>
          <a:xfrm>
            <a:off x="457200" y="1783080"/>
            <a:ext cx="384048" cy="384048"/>
          </a:xfrm>
          <a:prstGeom prst="ellipse">
            <a:avLst/>
          </a:prstGeom>
          <a:solidFill>
            <a:srgbClr val="CEB888"/>
          </a:solidFill>
          <a:ln w="12700">
            <a:solidFill>
              <a:srgbClr val="CEB888"/>
            </a:solidFill>
            <a:prstDash val="solid"/>
          </a:ln>
        </p:spPr>
      </p:sp>
      <p:sp>
        <p:nvSpPr>
          <p:cNvPr id="8" name="Text 3"/>
          <p:cNvSpPr txBox="1"/>
          <p:nvPr/>
        </p:nvSpPr>
        <p:spPr>
          <a:xfrm>
            <a:off x="457200" y="1783080"/>
            <a:ext cx="384048" cy="384048"/>
          </a:xfrm>
          <a:prstGeom prst="rect">
            <a:avLst/>
          </a:prstGeom>
          <a:noFill/>
          <a:ln/>
        </p:spPr>
        <p:txBody>
          <a:bodyPr wrap="square" lIns="0" tIns="0" rIns="0" bIns="0" rtlCol="0" anchor="ctr"/>
          <a:lstStyle/>
          <a:p>
            <a:pPr algn="ctr" indent="0" marL="0">
              <a:buNone/>
            </a:pPr>
            <a:r>
              <a:rPr lang="en-US" sz="1400" b="1" dirty="0">
                <a:solidFill>
                  <a:srgbClr val="101820"/>
                </a:solidFill>
                <a:latin typeface="Arial" pitchFamily="34" charset="0"/>
                <a:ea typeface="Arial" pitchFamily="34" charset="-122"/>
                <a:cs typeface="Arial" pitchFamily="34" charset="-120"/>
              </a:rPr>
              <a:t>✓</a:t>
            </a:r>
            <a:endParaRPr lang="en-US" sz="1400" dirty="0"/>
          </a:p>
        </p:txBody>
      </p:sp>
      <p:sp>
        <p:nvSpPr>
          <p:cNvPr id="9" name="Text 4"/>
          <p:cNvSpPr txBox="1"/>
          <p:nvPr/>
        </p:nvSpPr>
        <p:spPr>
          <a:xfrm>
            <a:off x="1005840" y="1764792"/>
            <a:ext cx="5120640"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Cited</a:t>
            </a:r>
            <a:endParaRPr lang="en-US" sz="1600" dirty="0"/>
          </a:p>
        </p:txBody>
      </p:sp>
      <p:sp>
        <p:nvSpPr>
          <p:cNvPr id="10" name="Text 5"/>
          <p:cNvSpPr txBox="1"/>
          <p:nvPr/>
        </p:nvSpPr>
        <p:spPr>
          <a:xfrm>
            <a:off x="1005840" y="2093976"/>
            <a:ext cx="5120640" cy="4572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every claim points at retrieved records</a:t>
            </a:r>
            <a:endParaRPr lang="en-US" sz="1200" dirty="0"/>
          </a:p>
        </p:txBody>
      </p:sp>
      <p:sp>
        <p:nvSpPr>
          <p:cNvPr id="11" name="Shape 6"/>
          <p:cNvSpPr/>
          <p:nvPr/>
        </p:nvSpPr>
        <p:spPr>
          <a:xfrm>
            <a:off x="457200" y="2560320"/>
            <a:ext cx="384048" cy="384048"/>
          </a:xfrm>
          <a:prstGeom prst="ellipse">
            <a:avLst/>
          </a:prstGeom>
          <a:solidFill>
            <a:srgbClr val="CEB888"/>
          </a:solidFill>
          <a:ln w="12700">
            <a:solidFill>
              <a:srgbClr val="CEB888"/>
            </a:solidFill>
            <a:prstDash val="solid"/>
          </a:ln>
        </p:spPr>
      </p:sp>
      <p:sp>
        <p:nvSpPr>
          <p:cNvPr id="12" name="Text 7"/>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101820"/>
                </a:solidFill>
                <a:latin typeface="Arial" pitchFamily="34" charset="0"/>
                <a:ea typeface="Arial" pitchFamily="34" charset="-122"/>
                <a:cs typeface="Arial" pitchFamily="34" charset="-120"/>
              </a:rPr>
              <a:t>✓</a:t>
            </a:r>
            <a:endParaRPr lang="en-US" sz="1400" dirty="0"/>
          </a:p>
        </p:txBody>
      </p:sp>
      <p:sp>
        <p:nvSpPr>
          <p:cNvPr id="13" name="Text 8"/>
          <p:cNvSpPr txBox="1"/>
          <p:nvPr/>
        </p:nvSpPr>
        <p:spPr>
          <a:xfrm>
            <a:off x="1005840" y="2542032"/>
            <a:ext cx="5120640"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Resolvable</a:t>
            </a:r>
            <a:endParaRPr lang="en-US" sz="1600" dirty="0"/>
          </a:p>
        </p:txBody>
      </p:sp>
      <p:sp>
        <p:nvSpPr>
          <p:cNvPr id="14" name="Text 9"/>
          <p:cNvSpPr txBox="1"/>
          <p:nvPr/>
        </p:nvSpPr>
        <p:spPr>
          <a:xfrm>
            <a:off x="1005840" y="2871216"/>
            <a:ext cx="5120640" cy="4572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every identifier appears in those records</a:t>
            </a:r>
            <a:endParaRPr lang="en-US" sz="1200" dirty="0"/>
          </a:p>
        </p:txBody>
      </p:sp>
      <p:sp>
        <p:nvSpPr>
          <p:cNvPr id="15" name="Shape 10"/>
          <p:cNvSpPr/>
          <p:nvPr/>
        </p:nvSpPr>
        <p:spPr>
          <a:xfrm>
            <a:off x="457200" y="3337560"/>
            <a:ext cx="384048" cy="384048"/>
          </a:xfrm>
          <a:prstGeom prst="ellipse">
            <a:avLst/>
          </a:prstGeom>
          <a:solidFill>
            <a:srgbClr val="CEB888"/>
          </a:solidFill>
          <a:ln w="12700">
            <a:solidFill>
              <a:srgbClr val="CEB888"/>
            </a:solidFill>
            <a:prstDash val="solid"/>
          </a:ln>
        </p:spPr>
      </p:sp>
      <p:sp>
        <p:nvSpPr>
          <p:cNvPr id="16" name="Text 11"/>
          <p:cNvSpPr txBox="1"/>
          <p:nvPr/>
        </p:nvSpPr>
        <p:spPr>
          <a:xfrm>
            <a:off x="457200" y="3337560"/>
            <a:ext cx="384048" cy="384048"/>
          </a:xfrm>
          <a:prstGeom prst="rect">
            <a:avLst/>
          </a:prstGeom>
          <a:noFill/>
          <a:ln/>
        </p:spPr>
        <p:txBody>
          <a:bodyPr wrap="square" lIns="0" tIns="0" rIns="0" bIns="0" rtlCol="0" anchor="ctr"/>
          <a:lstStyle/>
          <a:p>
            <a:pPr algn="ctr" indent="0" marL="0">
              <a:buNone/>
            </a:pPr>
            <a:r>
              <a:rPr lang="en-US" sz="1400" b="1" dirty="0">
                <a:solidFill>
                  <a:srgbClr val="101820"/>
                </a:solidFill>
                <a:latin typeface="Arial" pitchFamily="34" charset="0"/>
                <a:ea typeface="Arial" pitchFamily="34" charset="-122"/>
                <a:cs typeface="Arial" pitchFamily="34" charset="-120"/>
              </a:rPr>
              <a:t>✓</a:t>
            </a:r>
            <a:endParaRPr lang="en-US" sz="1400" dirty="0"/>
          </a:p>
        </p:txBody>
      </p:sp>
      <p:sp>
        <p:nvSpPr>
          <p:cNvPr id="17" name="Text 12"/>
          <p:cNvSpPr txBox="1"/>
          <p:nvPr/>
        </p:nvSpPr>
        <p:spPr>
          <a:xfrm>
            <a:off x="1005840" y="3319272"/>
            <a:ext cx="5120640"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Grounded</a:t>
            </a:r>
            <a:endParaRPr lang="en-US" sz="1600" dirty="0"/>
          </a:p>
        </p:txBody>
      </p:sp>
      <p:sp>
        <p:nvSpPr>
          <p:cNvPr id="18" name="Text 13"/>
          <p:cNvSpPr txBox="1"/>
          <p:nvPr/>
        </p:nvSpPr>
        <p:spPr>
          <a:xfrm>
            <a:off x="1005840" y="3648456"/>
            <a:ext cx="5120640" cy="4572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what the claim says is in the record</a:t>
            </a:r>
            <a:endParaRPr lang="en-US" sz="1200" dirty="0"/>
          </a:p>
        </p:txBody>
      </p:sp>
      <p:sp>
        <p:nvSpPr>
          <p:cNvPr id="19" name="Shape 14"/>
          <p:cNvSpPr/>
          <p:nvPr/>
        </p:nvSpPr>
        <p:spPr>
          <a:xfrm>
            <a:off x="457200" y="4114800"/>
            <a:ext cx="384048" cy="384048"/>
          </a:xfrm>
          <a:prstGeom prst="ellipse">
            <a:avLst/>
          </a:prstGeom>
          <a:solidFill>
            <a:srgbClr val="CEB888"/>
          </a:solidFill>
          <a:ln w="12700">
            <a:solidFill>
              <a:srgbClr val="CEB888"/>
            </a:solidFill>
            <a:prstDash val="solid"/>
          </a:ln>
        </p:spPr>
      </p:sp>
      <p:sp>
        <p:nvSpPr>
          <p:cNvPr id="20" name="Text 15"/>
          <p:cNvSpPr txBox="1"/>
          <p:nvPr/>
        </p:nvSpPr>
        <p:spPr>
          <a:xfrm>
            <a:off x="457200" y="4114800"/>
            <a:ext cx="384048" cy="384048"/>
          </a:xfrm>
          <a:prstGeom prst="rect">
            <a:avLst/>
          </a:prstGeom>
          <a:noFill/>
          <a:ln/>
        </p:spPr>
        <p:txBody>
          <a:bodyPr wrap="square" lIns="0" tIns="0" rIns="0" bIns="0" rtlCol="0" anchor="ctr"/>
          <a:lstStyle/>
          <a:p>
            <a:pPr algn="ctr" indent="0" marL="0">
              <a:buNone/>
            </a:pPr>
            <a:r>
              <a:rPr lang="en-US" sz="1400" b="1" dirty="0">
                <a:solidFill>
                  <a:srgbClr val="101820"/>
                </a:solidFill>
                <a:latin typeface="Arial" pitchFamily="34" charset="0"/>
                <a:ea typeface="Arial" pitchFamily="34" charset="-122"/>
                <a:cs typeface="Arial" pitchFamily="34" charset="-120"/>
              </a:rPr>
              <a:t>✓</a:t>
            </a:r>
            <a:endParaRPr lang="en-US" sz="1400" dirty="0"/>
          </a:p>
        </p:txBody>
      </p:sp>
      <p:sp>
        <p:nvSpPr>
          <p:cNvPr id="21" name="Text 16"/>
          <p:cNvSpPr txBox="1"/>
          <p:nvPr/>
        </p:nvSpPr>
        <p:spPr>
          <a:xfrm>
            <a:off x="1005840" y="4096512"/>
            <a:ext cx="5120640"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Correlated</a:t>
            </a:r>
            <a:endParaRPr lang="en-US" sz="1600" dirty="0"/>
          </a:p>
        </p:txBody>
      </p:sp>
      <p:sp>
        <p:nvSpPr>
          <p:cNvPr id="22" name="Text 17"/>
          <p:cNvSpPr txBox="1"/>
          <p:nvPr/>
        </p:nvSpPr>
        <p:spPr>
          <a:xfrm>
            <a:off x="1005840" y="4425696"/>
            <a:ext cx="5120640" cy="4572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cross-database links are backed by the join index</a:t>
            </a:r>
            <a:endParaRPr lang="en-US" sz="1200" dirty="0"/>
          </a:p>
        </p:txBody>
      </p:sp>
      <p:sp>
        <p:nvSpPr>
          <p:cNvPr id="23" name="Text 18"/>
          <p:cNvSpPr txBox="1"/>
          <p:nvPr/>
        </p:nvSpPr>
        <p:spPr>
          <a:xfrm>
            <a:off x="457200" y="5029200"/>
            <a:ext cx="5669280" cy="731520"/>
          </a:xfrm>
          <a:prstGeom prst="rect">
            <a:avLst/>
          </a:prstGeom>
          <a:noFill/>
          <a:ln/>
        </p:spPr>
        <p:txBody>
          <a:bodyPr wrap="square" lIns="0" tIns="0" rIns="0" bIns="0" rtlCol="0" anchor="t"/>
          <a:lstStyle/>
          <a:p>
            <a:pPr indent="0" marL="0">
              <a:buNone/>
            </a:pPr>
            <a:r>
              <a:rPr lang="en-US" sz="1300" b="1" dirty="0">
                <a:solidFill>
                  <a:srgbClr val="CEB888"/>
                </a:solidFill>
                <a:latin typeface="Arial" pitchFamily="34" charset="0"/>
                <a:ea typeface="Arial" pitchFamily="34" charset="-122"/>
                <a:cs typeface="Arial" pitchFamily="34" charset="-120"/>
              </a:rPr>
              <a:t>What fails is cut and flagged. Deterministic code, not a model.</a:t>
            </a:r>
            <a:endParaRPr lang="en-US" sz="1300" dirty="0"/>
          </a:p>
        </p:txBody>
      </p:sp>
      <p:sp>
        <p:nvSpPr>
          <p:cNvPr id="24" name="Shape 19"/>
          <p:cNvSpPr/>
          <p:nvPr/>
        </p:nvSpPr>
        <p:spPr>
          <a:xfrm>
            <a:off x="6675120" y="1783080"/>
            <a:ext cx="5074920" cy="2834640"/>
          </a:xfrm>
          <a:prstGeom prst="roundRect">
            <a:avLst>
              <a:gd name="adj" fmla="val 3871"/>
            </a:avLst>
          </a:prstGeom>
          <a:solidFill>
            <a:srgbClr val="572932"/>
          </a:solidFill>
          <a:ln w="12700">
            <a:solidFill>
              <a:srgbClr val="CEB888"/>
            </a:solidFill>
            <a:prstDash val="solid"/>
          </a:ln>
        </p:spPr>
      </p:sp>
      <p:sp>
        <p:nvSpPr>
          <p:cNvPr id="25" name="Text 20"/>
          <p:cNvSpPr txBox="1"/>
          <p:nvPr/>
        </p:nvSpPr>
        <p:spPr>
          <a:xfrm>
            <a:off x="6949440" y="1965960"/>
            <a:ext cx="4572000" cy="365760"/>
          </a:xfrm>
          <a:prstGeom prst="rect">
            <a:avLst/>
          </a:prstGeom>
          <a:noFill/>
          <a:ln/>
        </p:spPr>
        <p:txBody>
          <a:bodyPr wrap="square" lIns="0" tIns="0" rIns="0" bIns="0" rtlCol="0" anchor="ctr"/>
          <a:lstStyle/>
          <a:p>
            <a:pPr indent="0" marL="0">
              <a:buNone/>
            </a:pPr>
            <a:r>
              <a:rPr lang="en-US" sz="1500" b="1" dirty="0">
                <a:solidFill>
                  <a:srgbClr val="CEB888"/>
                </a:solidFill>
                <a:latin typeface="Arial" pitchFamily="34" charset="0"/>
                <a:ea typeface="Arial" pitchFamily="34" charset="-122"/>
                <a:cs typeface="Arial" pitchFamily="34" charset="-120"/>
              </a:rPr>
              <a:t>When the data has nothing</a:t>
            </a:r>
            <a:endParaRPr lang="en-US" sz="1500" dirty="0"/>
          </a:p>
        </p:txBody>
      </p:sp>
      <p:sp>
        <p:nvSpPr>
          <p:cNvPr id="26" name="Text 21"/>
          <p:cNvSpPr txBox="1"/>
          <p:nvPr/>
        </p:nvSpPr>
        <p:spPr>
          <a:xfrm>
            <a:off x="6949440" y="2423160"/>
            <a:ext cx="4572000" cy="868680"/>
          </a:xfrm>
          <a:prstGeom prst="rect">
            <a:avLst/>
          </a:prstGeom>
          <a:noFill/>
          <a:ln/>
        </p:spPr>
        <p:txBody>
          <a:bodyPr wrap="square" lIns="0" tIns="0" rIns="0" bIns="0" rtlCol="0" anchor="t"/>
          <a:lstStyle/>
          <a:p>
            <a:pPr indent="0" marL="0">
              <a:buNone/>
            </a:pPr>
            <a:r>
              <a:rPr lang="en-US" sz="1300" i="1" dirty="0">
                <a:solidFill>
                  <a:srgbClr val="FFFFFF"/>
                </a:solidFill>
                <a:latin typeface="Arial" pitchFamily="34" charset="0"/>
                <a:ea typeface="Arial" pitchFamily="34" charset="-122"/>
                <a:cs typeface="Arial" pitchFamily="34" charset="-120"/>
              </a:rPr>
              <a:t>"The capec source doesn't establish this. The executed query ran cleanly and returned no matching records."</a:t>
            </a:r>
            <a:endParaRPr lang="en-US" sz="1300" dirty="0"/>
          </a:p>
        </p:txBody>
      </p:sp>
      <p:sp>
        <p:nvSpPr>
          <p:cNvPr id="27" name="Text 22"/>
          <p:cNvSpPr txBox="1"/>
          <p:nvPr/>
        </p:nvSpPr>
        <p:spPr>
          <a:xfrm>
            <a:off x="6949440" y="3383280"/>
            <a:ext cx="4572000" cy="548640"/>
          </a:xfrm>
          <a:prstGeom prst="rect">
            <a:avLst/>
          </a:prstGeom>
          <a:noFill/>
          <a:ln/>
        </p:spPr>
        <p:txBody>
          <a:bodyPr wrap="square" lIns="0" tIns="0" rIns="0" bIns="0" rtlCol="0" anchor="t"/>
          <a:lstStyle/>
          <a:p>
            <a:pPr indent="0" marL="0">
              <a:buNone/>
            </a:pPr>
            <a:r>
              <a:rPr lang="en-US" sz="950" dirty="0">
                <a:solidFill>
                  <a:srgbClr val="DFD1A7"/>
                </a:solidFill>
                <a:latin typeface="Courier New" pitchFamily="34" charset="0"/>
                <a:ea typeface="Courier New" pitchFamily="34" charset="-122"/>
                <a:cs typeface="Courier New" pitchFamily="34" charset="-120"/>
              </a:rPr>
              <a:t>g.V().hasLabel("AttackPattern").has("id", within(ids))</a:t>
            </a:r>
            <a:endParaRPr lang="en-US" sz="950" dirty="0"/>
          </a:p>
          <a:p>
            <a:pPr indent="0" marL="0">
              <a:buNone/>
            </a:pPr>
            <a:r>
              <a:rPr lang="en-US" sz="950" dirty="0">
                <a:solidFill>
                  <a:srgbClr val="DFD1A7"/>
                </a:solidFill>
                <a:latin typeface="Courier New" pitchFamily="34" charset="0"/>
                <a:ea typeface="Courier New" pitchFamily="34" charset="-122"/>
                <a:cs typeface="Courier New" pitchFamily="34" charset="-120"/>
              </a:rPr>
              <a:t> .out("MAPS_TO").hasLabel("TaxonomyEntry") …</a:t>
            </a:r>
            <a:endParaRPr lang="en-US" sz="950" dirty="0"/>
          </a:p>
        </p:txBody>
      </p:sp>
      <p:sp>
        <p:nvSpPr>
          <p:cNvPr id="28" name="Text 23"/>
          <p:cNvSpPr txBox="1"/>
          <p:nvPr/>
        </p:nvSpPr>
        <p:spPr>
          <a:xfrm>
            <a:off x="6949440" y="4069080"/>
            <a:ext cx="4572000" cy="365760"/>
          </a:xfrm>
          <a:prstGeom prst="rect">
            <a:avLst/>
          </a:prstGeom>
          <a:noFill/>
          <a:ln/>
        </p:spPr>
        <p:txBody>
          <a:bodyPr wrap="square" lIns="0" tIns="0" rIns="0" bIns="0" rtlCol="0" anchor="ctr"/>
          <a:lstStyle/>
          <a:p>
            <a:pPr indent="0" marL="0">
              <a:buNone/>
            </a:pPr>
            <a:r>
              <a:rPr lang="en-US" sz="1200" b="1" dirty="0">
                <a:solidFill>
                  <a:srgbClr val="CEB888"/>
                </a:solidFill>
                <a:latin typeface="Arial" pitchFamily="34" charset="0"/>
                <a:ea typeface="Arial" pitchFamily="34" charset="-122"/>
                <a:cs typeface="Arial" pitchFamily="34" charset="-120"/>
              </a:rPr>
              <a:t>0 claims made  ·  0 invented mappings  ·  the query is the proof</a:t>
            </a:r>
            <a:endParaRPr lang="en-US" sz="1200" dirty="0"/>
          </a:p>
        </p:txBody>
      </p:sp>
      <p:sp>
        <p:nvSpPr>
          <p:cNvPr id="29" name="Text 24"/>
          <p:cNvSpPr txBox="1"/>
          <p:nvPr/>
        </p:nvSpPr>
        <p:spPr>
          <a:xfrm>
            <a:off x="6675120" y="4846320"/>
            <a:ext cx="507492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An honest no, with the receipt.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8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The workbench: ask, watch it run, open the receipts</a:t>
            </a:r>
            <a:endParaRPr lang="en-US" sz="3000" dirty="0"/>
          </a:p>
        </p:txBody>
      </p:sp>
      <p:pic>
        <p:nvPicPr>
          <p:cNvPr id="7" name="Image 3" descr="/home/bdgr/Agents/Ariadne/docs/showcase/build/assets/workbench-answer.png">    </p:cNvPr>
          <p:cNvPicPr>
            <a:picLocks noChangeAspect="1"/>
          </p:cNvPicPr>
          <p:nvPr/>
        </p:nvPicPr>
        <p:blipFill>
          <a:blip r:embed="rId4"/>
          <a:stretch>
            <a:fillRect/>
          </a:stretch>
        </p:blipFill>
        <p:spPr>
          <a:xfrm>
            <a:off x="457200" y="1600200"/>
            <a:ext cx="7589520" cy="4645152"/>
          </a:xfrm>
          <a:prstGeom prst="rect">
            <a:avLst/>
          </a:prstGeom>
        </p:spPr>
      </p:pic>
      <p:sp>
        <p:nvSpPr>
          <p:cNvPr id="8" name="Shape 2"/>
          <p:cNvSpPr/>
          <p:nvPr/>
        </p:nvSpPr>
        <p:spPr>
          <a:xfrm>
            <a:off x="2540660" y="2257654"/>
            <a:ext cx="310896" cy="310896"/>
          </a:xfrm>
          <a:prstGeom prst="ellipse">
            <a:avLst/>
          </a:prstGeom>
          <a:solidFill>
            <a:srgbClr val="CEB888"/>
          </a:solidFill>
          <a:ln w="12700">
            <a:solidFill>
              <a:srgbClr val="CEB888"/>
            </a:solidFill>
            <a:prstDash val="solid"/>
          </a:ln>
        </p:spPr>
      </p:sp>
      <p:sp>
        <p:nvSpPr>
          <p:cNvPr id="9" name="Text 3"/>
          <p:cNvSpPr txBox="1"/>
          <p:nvPr/>
        </p:nvSpPr>
        <p:spPr>
          <a:xfrm>
            <a:off x="2540660" y="2257654"/>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1</a:t>
            </a:r>
            <a:endParaRPr lang="en-US" sz="1200" dirty="0"/>
          </a:p>
        </p:txBody>
      </p:sp>
      <p:sp>
        <p:nvSpPr>
          <p:cNvPr id="10" name="Shape 4"/>
          <p:cNvSpPr/>
          <p:nvPr/>
        </p:nvSpPr>
        <p:spPr>
          <a:xfrm>
            <a:off x="6373368" y="2977652"/>
            <a:ext cx="310896" cy="310896"/>
          </a:xfrm>
          <a:prstGeom prst="ellipse">
            <a:avLst/>
          </a:prstGeom>
          <a:solidFill>
            <a:srgbClr val="CEB888"/>
          </a:solidFill>
          <a:ln w="12700">
            <a:solidFill>
              <a:srgbClr val="CEB888"/>
            </a:solidFill>
            <a:prstDash val="solid"/>
          </a:ln>
        </p:spPr>
      </p:sp>
      <p:sp>
        <p:nvSpPr>
          <p:cNvPr id="11" name="Text 5"/>
          <p:cNvSpPr txBox="1"/>
          <p:nvPr/>
        </p:nvSpPr>
        <p:spPr>
          <a:xfrm>
            <a:off x="6373368" y="2977652"/>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2</a:t>
            </a:r>
            <a:endParaRPr lang="en-US" sz="1200" dirty="0"/>
          </a:p>
        </p:txBody>
      </p:sp>
      <p:sp>
        <p:nvSpPr>
          <p:cNvPr id="12" name="Shape 6"/>
          <p:cNvSpPr/>
          <p:nvPr/>
        </p:nvSpPr>
        <p:spPr>
          <a:xfrm>
            <a:off x="6031840" y="4324746"/>
            <a:ext cx="310896" cy="310896"/>
          </a:xfrm>
          <a:prstGeom prst="ellipse">
            <a:avLst/>
          </a:prstGeom>
          <a:solidFill>
            <a:srgbClr val="CEB888"/>
          </a:solidFill>
          <a:ln w="12700">
            <a:solidFill>
              <a:srgbClr val="CEB888"/>
            </a:solidFill>
            <a:prstDash val="solid"/>
          </a:ln>
        </p:spPr>
      </p:sp>
      <p:sp>
        <p:nvSpPr>
          <p:cNvPr id="13" name="Text 7"/>
          <p:cNvSpPr txBox="1"/>
          <p:nvPr/>
        </p:nvSpPr>
        <p:spPr>
          <a:xfrm>
            <a:off x="6031840" y="4324746"/>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3</a:t>
            </a:r>
            <a:endParaRPr lang="en-US" sz="1200" dirty="0"/>
          </a:p>
        </p:txBody>
      </p:sp>
      <p:sp>
        <p:nvSpPr>
          <p:cNvPr id="14" name="Shape 8"/>
          <p:cNvSpPr/>
          <p:nvPr/>
        </p:nvSpPr>
        <p:spPr>
          <a:xfrm>
            <a:off x="1857604" y="3442167"/>
            <a:ext cx="310896" cy="310896"/>
          </a:xfrm>
          <a:prstGeom prst="ellipse">
            <a:avLst/>
          </a:prstGeom>
          <a:solidFill>
            <a:srgbClr val="CEB888"/>
          </a:solidFill>
          <a:ln w="12700">
            <a:solidFill>
              <a:srgbClr val="CEB888"/>
            </a:solidFill>
            <a:prstDash val="solid"/>
          </a:ln>
        </p:spPr>
      </p:sp>
      <p:sp>
        <p:nvSpPr>
          <p:cNvPr id="15" name="Text 9"/>
          <p:cNvSpPr txBox="1"/>
          <p:nvPr/>
        </p:nvSpPr>
        <p:spPr>
          <a:xfrm>
            <a:off x="1857604" y="3442167"/>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4</a:t>
            </a:r>
            <a:endParaRPr lang="en-US" sz="1200" dirty="0"/>
          </a:p>
        </p:txBody>
      </p:sp>
      <p:sp>
        <p:nvSpPr>
          <p:cNvPr id="16" name="Shape 10"/>
          <p:cNvSpPr/>
          <p:nvPr/>
        </p:nvSpPr>
        <p:spPr>
          <a:xfrm>
            <a:off x="1910730" y="5880872"/>
            <a:ext cx="310896" cy="310896"/>
          </a:xfrm>
          <a:prstGeom prst="ellipse">
            <a:avLst/>
          </a:prstGeom>
          <a:solidFill>
            <a:srgbClr val="CEB888"/>
          </a:solidFill>
          <a:ln w="12700">
            <a:solidFill>
              <a:srgbClr val="CEB888"/>
            </a:solidFill>
            <a:prstDash val="solid"/>
          </a:ln>
        </p:spPr>
      </p:sp>
      <p:sp>
        <p:nvSpPr>
          <p:cNvPr id="17" name="Text 11"/>
          <p:cNvSpPr txBox="1"/>
          <p:nvPr/>
        </p:nvSpPr>
        <p:spPr>
          <a:xfrm>
            <a:off x="1910730" y="5880872"/>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5</a:t>
            </a:r>
            <a:endParaRPr lang="en-US" sz="1200" dirty="0"/>
          </a:p>
        </p:txBody>
      </p:sp>
      <p:sp>
        <p:nvSpPr>
          <p:cNvPr id="18" name="Shape 12"/>
          <p:cNvSpPr/>
          <p:nvPr/>
        </p:nvSpPr>
        <p:spPr>
          <a:xfrm>
            <a:off x="8321040" y="1691640"/>
            <a:ext cx="310896" cy="310896"/>
          </a:xfrm>
          <a:prstGeom prst="ellipse">
            <a:avLst/>
          </a:prstGeom>
          <a:solidFill>
            <a:srgbClr val="CEB888"/>
          </a:solidFill>
          <a:ln w="12700">
            <a:solidFill>
              <a:srgbClr val="CEB888"/>
            </a:solidFill>
            <a:prstDash val="solid"/>
          </a:ln>
        </p:spPr>
      </p:sp>
      <p:sp>
        <p:nvSpPr>
          <p:cNvPr id="19" name="Text 13"/>
          <p:cNvSpPr txBox="1"/>
          <p:nvPr/>
        </p:nvSpPr>
        <p:spPr>
          <a:xfrm>
            <a:off x="8321040" y="1691640"/>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1</a:t>
            </a:r>
            <a:endParaRPr lang="en-US" sz="1200" dirty="0"/>
          </a:p>
        </p:txBody>
      </p:sp>
      <p:sp>
        <p:nvSpPr>
          <p:cNvPr id="20" name="Text 14"/>
          <p:cNvSpPr txBox="1"/>
          <p:nvPr/>
        </p:nvSpPr>
        <p:spPr>
          <a:xfrm>
            <a:off x="8732520" y="1664208"/>
            <a:ext cx="301752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The question</a:t>
            </a:r>
            <a:endParaRPr lang="en-US" sz="1300" dirty="0"/>
          </a:p>
        </p:txBody>
      </p:sp>
      <p:sp>
        <p:nvSpPr>
          <p:cNvPr id="21" name="Text 15"/>
          <p:cNvSpPr txBox="1"/>
          <p:nvPr/>
        </p:nvSpPr>
        <p:spPr>
          <a:xfrm>
            <a:off x="8732520" y="1947672"/>
            <a:ext cx="3017520" cy="62179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plain English</a:t>
            </a:r>
            <a:endParaRPr lang="en-US" sz="1100" dirty="0"/>
          </a:p>
        </p:txBody>
      </p:sp>
      <p:sp>
        <p:nvSpPr>
          <p:cNvPr id="22" name="Shape 16"/>
          <p:cNvSpPr/>
          <p:nvPr/>
        </p:nvSpPr>
        <p:spPr>
          <a:xfrm>
            <a:off x="8321040" y="2514600"/>
            <a:ext cx="310896" cy="310896"/>
          </a:xfrm>
          <a:prstGeom prst="ellipse">
            <a:avLst/>
          </a:prstGeom>
          <a:solidFill>
            <a:srgbClr val="CEB888"/>
          </a:solidFill>
          <a:ln w="12700">
            <a:solidFill>
              <a:srgbClr val="CEB888"/>
            </a:solidFill>
            <a:prstDash val="solid"/>
          </a:ln>
        </p:spPr>
      </p:sp>
      <p:sp>
        <p:nvSpPr>
          <p:cNvPr id="23" name="Text 17"/>
          <p:cNvSpPr txBox="1"/>
          <p:nvPr/>
        </p:nvSpPr>
        <p:spPr>
          <a:xfrm>
            <a:off x="8321040" y="2514600"/>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2</a:t>
            </a:r>
            <a:endParaRPr lang="en-US" sz="1200" dirty="0"/>
          </a:p>
        </p:txBody>
      </p:sp>
      <p:sp>
        <p:nvSpPr>
          <p:cNvPr id="24" name="Text 18"/>
          <p:cNvSpPr txBox="1"/>
          <p:nvPr/>
        </p:nvSpPr>
        <p:spPr>
          <a:xfrm>
            <a:off x="8732520" y="2487168"/>
            <a:ext cx="301752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The plan and its gate</a:t>
            </a:r>
            <a:endParaRPr lang="en-US" sz="1300" dirty="0"/>
          </a:p>
        </p:txBody>
      </p:sp>
      <p:sp>
        <p:nvSpPr>
          <p:cNvPr id="25" name="Text 19"/>
          <p:cNvSpPr txBox="1"/>
          <p:nvPr/>
        </p:nvSpPr>
        <p:spPr>
          <a:xfrm>
            <a:off x="8732520" y="2770632"/>
            <a:ext cx="3017520" cy="62179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which sources, which sub-questions</a:t>
            </a:r>
            <a:endParaRPr lang="en-US" sz="1100" dirty="0"/>
          </a:p>
        </p:txBody>
      </p:sp>
      <p:sp>
        <p:nvSpPr>
          <p:cNvPr id="26" name="Shape 20"/>
          <p:cNvSpPr/>
          <p:nvPr/>
        </p:nvSpPr>
        <p:spPr>
          <a:xfrm>
            <a:off x="8321040" y="3337560"/>
            <a:ext cx="310896" cy="310896"/>
          </a:xfrm>
          <a:prstGeom prst="ellipse">
            <a:avLst/>
          </a:prstGeom>
          <a:solidFill>
            <a:srgbClr val="CEB888"/>
          </a:solidFill>
          <a:ln w="12700">
            <a:solidFill>
              <a:srgbClr val="CEB888"/>
            </a:solidFill>
            <a:prstDash val="solid"/>
          </a:ln>
        </p:spPr>
      </p:sp>
      <p:sp>
        <p:nvSpPr>
          <p:cNvPr id="27" name="Text 21"/>
          <p:cNvSpPr txBox="1"/>
          <p:nvPr/>
        </p:nvSpPr>
        <p:spPr>
          <a:xfrm>
            <a:off x="8321040" y="3337560"/>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3</a:t>
            </a:r>
            <a:endParaRPr lang="en-US" sz="1200" dirty="0"/>
          </a:p>
        </p:txBody>
      </p:sp>
      <p:sp>
        <p:nvSpPr>
          <p:cNvPr id="28" name="Text 22"/>
          <p:cNvSpPr txBox="1"/>
          <p:nvPr/>
        </p:nvSpPr>
        <p:spPr>
          <a:xfrm>
            <a:off x="8732520" y="3310128"/>
            <a:ext cx="301752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One lane per database</a:t>
            </a:r>
            <a:endParaRPr lang="en-US" sz="1300" dirty="0"/>
          </a:p>
        </p:txBody>
      </p:sp>
      <p:sp>
        <p:nvSpPr>
          <p:cNvPr id="29" name="Text 23"/>
          <p:cNvSpPr txBox="1"/>
          <p:nvPr/>
        </p:nvSpPr>
        <p:spPr>
          <a:xfrm>
            <a:off x="8732520" y="3593592"/>
            <a:ext cx="3017520" cy="62179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the validated query, in its own language</a:t>
            </a:r>
            <a:endParaRPr lang="en-US" sz="1100" dirty="0"/>
          </a:p>
        </p:txBody>
      </p:sp>
      <p:sp>
        <p:nvSpPr>
          <p:cNvPr id="30" name="Shape 24"/>
          <p:cNvSpPr/>
          <p:nvPr/>
        </p:nvSpPr>
        <p:spPr>
          <a:xfrm>
            <a:off x="8321040" y="4160520"/>
            <a:ext cx="310896" cy="310896"/>
          </a:xfrm>
          <a:prstGeom prst="ellipse">
            <a:avLst/>
          </a:prstGeom>
          <a:solidFill>
            <a:srgbClr val="CEB888"/>
          </a:solidFill>
          <a:ln w="12700">
            <a:solidFill>
              <a:srgbClr val="CEB888"/>
            </a:solidFill>
            <a:prstDash val="solid"/>
          </a:ln>
        </p:spPr>
      </p:sp>
      <p:sp>
        <p:nvSpPr>
          <p:cNvPr id="31" name="Text 25"/>
          <p:cNvSpPr txBox="1"/>
          <p:nvPr/>
        </p:nvSpPr>
        <p:spPr>
          <a:xfrm>
            <a:off x="8321040" y="4160520"/>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4</a:t>
            </a:r>
            <a:endParaRPr lang="en-US" sz="1200" dirty="0"/>
          </a:p>
        </p:txBody>
      </p:sp>
      <p:sp>
        <p:nvSpPr>
          <p:cNvPr id="32" name="Text 26"/>
          <p:cNvSpPr txBox="1"/>
          <p:nvPr/>
        </p:nvSpPr>
        <p:spPr>
          <a:xfrm>
            <a:off x="8732520" y="4133088"/>
            <a:ext cx="301752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The answer</a:t>
            </a:r>
            <a:endParaRPr lang="en-US" sz="1300" dirty="0"/>
          </a:p>
        </p:txBody>
      </p:sp>
      <p:sp>
        <p:nvSpPr>
          <p:cNvPr id="33" name="Text 27"/>
          <p:cNvSpPr txBox="1"/>
          <p:nvPr/>
        </p:nvSpPr>
        <p:spPr>
          <a:xfrm>
            <a:off x="8732520" y="4416552"/>
            <a:ext cx="3017520" cy="62179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every identifier is a citation</a:t>
            </a:r>
            <a:endParaRPr lang="en-US" sz="1100" dirty="0"/>
          </a:p>
        </p:txBody>
      </p:sp>
      <p:sp>
        <p:nvSpPr>
          <p:cNvPr id="34" name="Shape 28"/>
          <p:cNvSpPr/>
          <p:nvPr/>
        </p:nvSpPr>
        <p:spPr>
          <a:xfrm>
            <a:off x="8321040" y="4983480"/>
            <a:ext cx="310896" cy="310896"/>
          </a:xfrm>
          <a:prstGeom prst="ellipse">
            <a:avLst/>
          </a:prstGeom>
          <a:solidFill>
            <a:srgbClr val="CEB888"/>
          </a:solidFill>
          <a:ln w="12700">
            <a:solidFill>
              <a:srgbClr val="CEB888"/>
            </a:solidFill>
            <a:prstDash val="solid"/>
          </a:ln>
        </p:spPr>
      </p:sp>
      <p:sp>
        <p:nvSpPr>
          <p:cNvPr id="35" name="Text 29"/>
          <p:cNvSpPr txBox="1"/>
          <p:nvPr/>
        </p:nvSpPr>
        <p:spPr>
          <a:xfrm>
            <a:off x="8321040" y="4983480"/>
            <a:ext cx="310896" cy="310896"/>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5</a:t>
            </a:r>
            <a:endParaRPr lang="en-US" sz="1200" dirty="0"/>
          </a:p>
        </p:txBody>
      </p:sp>
      <p:sp>
        <p:nvSpPr>
          <p:cNvPr id="36" name="Text 30"/>
          <p:cNvSpPr txBox="1"/>
          <p:nvPr/>
        </p:nvSpPr>
        <p:spPr>
          <a:xfrm>
            <a:off x="8732520" y="4956048"/>
            <a:ext cx="3017520" cy="292608"/>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Three controls, off by default</a:t>
            </a:r>
            <a:endParaRPr lang="en-US" sz="1300" dirty="0"/>
          </a:p>
        </p:txBody>
      </p:sp>
      <p:sp>
        <p:nvSpPr>
          <p:cNvPr id="37" name="Text 31"/>
          <p:cNvSpPr txBox="1"/>
          <p:nvPr/>
        </p:nvSpPr>
        <p:spPr>
          <a:xfrm>
            <a:off x="8732520" y="5239512"/>
            <a:ext cx="3017520" cy="621792"/>
          </a:xfrm>
          <a:prstGeom prst="rect">
            <a:avLst/>
          </a:prstGeom>
          <a:noFill/>
          <a:ln/>
        </p:spPr>
        <p:txBody>
          <a:bodyPr wrap="square" lIns="0" tIns="0" rIns="0" bIns="0" rtlCol="0" anchor="t"/>
          <a:lstStyle/>
          <a:p>
            <a:pPr indent="0" marL="0">
              <a:buNone/>
            </a:pPr>
            <a:r>
              <a:rPr lang="en-US" sz="1100" dirty="0">
                <a:solidFill>
                  <a:srgbClr val="101820"/>
                </a:solidFill>
                <a:latin typeface="Arial" pitchFamily="34" charset="0"/>
                <a:ea typeface="Arial" pitchFamily="34" charset="-122"/>
                <a:cs typeface="Arial" pitchFamily="34" charset="-120"/>
              </a:rPr>
              <a:t>Verify · Prose · Thinking: model help, per question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9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It scales across databases</a:t>
            </a:r>
            <a:endParaRPr lang="en-US" sz="3000" dirty="0"/>
          </a:p>
        </p:txBody>
      </p:sp>
      <p:sp>
        <p:nvSpPr>
          <p:cNvPr id="7" name="Shape 2"/>
          <p:cNvSpPr/>
          <p:nvPr/>
        </p:nvSpPr>
        <p:spPr>
          <a:xfrm>
            <a:off x="457200" y="1783080"/>
            <a:ext cx="3566160" cy="2743200"/>
          </a:xfrm>
          <a:prstGeom prst="roundRect">
            <a:avLst>
              <a:gd name="adj" fmla="val 4000"/>
            </a:avLst>
          </a:prstGeom>
          <a:solidFill>
            <a:srgbClr val="572932"/>
          </a:solidFill>
          <a:ln w="12700">
            <a:solidFill>
              <a:srgbClr val="572932"/>
            </a:solidFill>
            <a:prstDash val="solid"/>
          </a:ln>
        </p:spPr>
      </p:sp>
      <p:sp>
        <p:nvSpPr>
          <p:cNvPr id="8" name="Text 3"/>
          <p:cNvSpPr txBox="1"/>
          <p:nvPr/>
        </p:nvSpPr>
        <p:spPr>
          <a:xfrm>
            <a:off x="731520" y="2011680"/>
            <a:ext cx="3017520" cy="868680"/>
          </a:xfrm>
          <a:prstGeom prst="rect">
            <a:avLst/>
          </a:prstGeom>
          <a:noFill/>
          <a:ln/>
        </p:spPr>
        <p:txBody>
          <a:bodyPr wrap="square" lIns="0" tIns="0" rIns="0" bIns="0" rtlCol="0" anchor="ctr"/>
          <a:lstStyle/>
          <a:p>
            <a:pPr indent="0" marL="0">
              <a:buNone/>
            </a:pPr>
            <a:r>
              <a:rPr lang="en-US" sz="4400" b="1" dirty="0">
                <a:solidFill>
                  <a:srgbClr val="CEB888"/>
                </a:solidFill>
                <a:latin typeface="Arial" pitchFamily="34" charset="0"/>
                <a:ea typeface="Arial" pitchFamily="34" charset="-122"/>
                <a:cs typeface="Arial" pitchFamily="34" charset="-120"/>
              </a:rPr>
              <a:t>3 · 2 · 1</a:t>
            </a:r>
            <a:endParaRPr lang="en-US" sz="4400" dirty="0"/>
          </a:p>
        </p:txBody>
      </p:sp>
      <p:sp>
        <p:nvSpPr>
          <p:cNvPr id="9" name="Text 4"/>
          <p:cNvSpPr txBox="1"/>
          <p:nvPr/>
        </p:nvSpPr>
        <p:spPr>
          <a:xfrm>
            <a:off x="731520" y="2926080"/>
            <a:ext cx="3017520" cy="5943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databases · query languages · one process</a:t>
            </a:r>
            <a:endParaRPr lang="en-US" sz="1300" dirty="0"/>
          </a:p>
        </p:txBody>
      </p:sp>
      <p:sp>
        <p:nvSpPr>
          <p:cNvPr id="10" name="Text 5"/>
          <p:cNvSpPr txBox="1"/>
          <p:nvPr/>
        </p:nvSpPr>
        <p:spPr>
          <a:xfrm>
            <a:off x="731520" y="3566160"/>
            <a:ext cx="3017520" cy="13716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Adding the third changed nothing about the questions.</a:t>
            </a:r>
            <a:endParaRPr lang="en-US" sz="1200" dirty="0"/>
          </a:p>
        </p:txBody>
      </p:sp>
      <p:sp>
        <p:nvSpPr>
          <p:cNvPr id="11" name="Shape 6"/>
          <p:cNvSpPr/>
          <p:nvPr/>
        </p:nvSpPr>
        <p:spPr>
          <a:xfrm>
            <a:off x="4297680" y="1783080"/>
            <a:ext cx="3566160" cy="2743200"/>
          </a:xfrm>
          <a:prstGeom prst="roundRect">
            <a:avLst>
              <a:gd name="adj" fmla="val 4000"/>
            </a:avLst>
          </a:prstGeom>
          <a:solidFill>
            <a:srgbClr val="572932"/>
          </a:solidFill>
          <a:ln w="12700">
            <a:solidFill>
              <a:srgbClr val="572932"/>
            </a:solidFill>
            <a:prstDash val="solid"/>
          </a:ln>
        </p:spPr>
      </p:sp>
      <p:sp>
        <p:nvSpPr>
          <p:cNvPr id="12" name="Text 7"/>
          <p:cNvSpPr txBox="1"/>
          <p:nvPr/>
        </p:nvSpPr>
        <p:spPr>
          <a:xfrm>
            <a:off x="4572000" y="2011680"/>
            <a:ext cx="3017520" cy="868680"/>
          </a:xfrm>
          <a:prstGeom prst="rect">
            <a:avLst/>
          </a:prstGeom>
          <a:noFill/>
          <a:ln/>
        </p:spPr>
        <p:txBody>
          <a:bodyPr wrap="square" lIns="0" tIns="0" rIns="0" bIns="0" rtlCol="0" anchor="ctr"/>
          <a:lstStyle/>
          <a:p>
            <a:pPr indent="0" marL="0">
              <a:buNone/>
            </a:pPr>
            <a:r>
              <a:rPr lang="en-US" sz="4400" b="1" dirty="0">
                <a:solidFill>
                  <a:srgbClr val="CEB888"/>
                </a:solidFill>
                <a:latin typeface="Arial" pitchFamily="34" charset="0"/>
                <a:ea typeface="Arial" pitchFamily="34" charset="-122"/>
                <a:cs typeface="Arial" pitchFamily="34" charset="-120"/>
              </a:rPr>
              <a:t>0 vs 1,083</a:t>
            </a:r>
            <a:endParaRPr lang="en-US" sz="4400" dirty="0"/>
          </a:p>
        </p:txBody>
      </p:sp>
      <p:sp>
        <p:nvSpPr>
          <p:cNvPr id="13" name="Text 8"/>
          <p:cNvSpPr txBox="1"/>
          <p:nvPr/>
        </p:nvSpPr>
        <p:spPr>
          <a:xfrm>
            <a:off x="4572000" y="2926080"/>
            <a:ext cx="3017520" cy="5943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records rewritten: federating vs merging</a:t>
            </a:r>
            <a:endParaRPr lang="en-US" sz="1300" dirty="0"/>
          </a:p>
        </p:txBody>
      </p:sp>
      <p:sp>
        <p:nvSpPr>
          <p:cNvPr id="14" name="Text 9"/>
          <p:cNvSpPr txBox="1"/>
          <p:nvPr/>
        </p:nvSpPr>
        <p:spPr>
          <a:xfrm>
            <a:off x="4572000" y="3566160"/>
            <a:ext cx="3017520" cy="13716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Merging ATT&amp;CK and CAPEC into one store rewrote 1,083 records. Federating rewrote none.</a:t>
            </a:r>
            <a:endParaRPr lang="en-US" sz="1200" dirty="0"/>
          </a:p>
        </p:txBody>
      </p:sp>
      <p:sp>
        <p:nvSpPr>
          <p:cNvPr id="15" name="Shape 10"/>
          <p:cNvSpPr/>
          <p:nvPr/>
        </p:nvSpPr>
        <p:spPr>
          <a:xfrm>
            <a:off x="8138160" y="1783080"/>
            <a:ext cx="3566160" cy="2743200"/>
          </a:xfrm>
          <a:prstGeom prst="roundRect">
            <a:avLst>
              <a:gd name="adj" fmla="val 4000"/>
            </a:avLst>
          </a:prstGeom>
          <a:solidFill>
            <a:srgbClr val="572932"/>
          </a:solidFill>
          <a:ln w="12700">
            <a:solidFill>
              <a:srgbClr val="572932"/>
            </a:solidFill>
            <a:prstDash val="solid"/>
          </a:ln>
        </p:spPr>
      </p:sp>
      <p:sp>
        <p:nvSpPr>
          <p:cNvPr id="16" name="Text 11"/>
          <p:cNvSpPr txBox="1"/>
          <p:nvPr/>
        </p:nvSpPr>
        <p:spPr>
          <a:xfrm>
            <a:off x="8412480" y="2011680"/>
            <a:ext cx="3017520" cy="868680"/>
          </a:xfrm>
          <a:prstGeom prst="rect">
            <a:avLst/>
          </a:prstGeom>
          <a:noFill/>
          <a:ln/>
        </p:spPr>
        <p:txBody>
          <a:bodyPr wrap="square" lIns="0" tIns="0" rIns="0" bIns="0" rtlCol="0" anchor="ctr"/>
          <a:lstStyle/>
          <a:p>
            <a:pPr indent="0" marL="0">
              <a:buNone/>
            </a:pPr>
            <a:r>
              <a:rPr lang="en-US" sz="4400" b="1" dirty="0">
                <a:solidFill>
                  <a:srgbClr val="CEB888"/>
                </a:solidFill>
                <a:latin typeface="Arial" pitchFamily="34" charset="0"/>
                <a:ea typeface="Arial" pitchFamily="34" charset="-122"/>
                <a:cs typeface="Arial" pitchFamily="34" charset="-120"/>
              </a:rPr>
              <a:t>240 / 240</a:t>
            </a:r>
            <a:endParaRPr lang="en-US" sz="4400" dirty="0"/>
          </a:p>
        </p:txBody>
      </p:sp>
      <p:sp>
        <p:nvSpPr>
          <p:cNvPr id="17" name="Text 12"/>
          <p:cNvSpPr txBox="1"/>
          <p:nvPr/>
        </p:nvSpPr>
        <p:spPr>
          <a:xfrm>
            <a:off x="8412480" y="2926080"/>
            <a:ext cx="3017520" cy="5943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adversarial queries blocked before execution</a:t>
            </a:r>
            <a:endParaRPr lang="en-US" sz="1300" dirty="0"/>
          </a:p>
        </p:txBody>
      </p:sp>
      <p:sp>
        <p:nvSpPr>
          <p:cNvPr id="18" name="Text 13"/>
          <p:cNvSpPr txBox="1"/>
          <p:nvPr/>
        </p:nvSpPr>
        <p:spPr>
          <a:xfrm>
            <a:off x="8412480" y="3566160"/>
            <a:ext cx="3017520" cy="1371600"/>
          </a:xfrm>
          <a:prstGeom prst="rect">
            <a:avLst/>
          </a:prstGeom>
          <a:noFill/>
          <a:ln/>
        </p:spPr>
        <p:txBody>
          <a:bodyPr wrap="square" lIns="0" tIns="0" rIns="0" bIns="0" rtlCol="0" anchor="t"/>
          <a:lstStyle/>
          <a:p>
            <a:pPr indent="0" marL="0">
              <a:buNone/>
            </a:pPr>
            <a:r>
              <a:rPr lang="en-US" sz="1200" dirty="0">
                <a:solidFill>
                  <a:srgbClr val="DFD1A7"/>
                </a:solidFill>
                <a:latin typeface="Arial" pitchFamily="34" charset="0"/>
                <a:ea typeface="Arial" pitchFamily="34" charset="-122"/>
                <a:cs typeface="Arial" pitchFamily="34" charset="-120"/>
              </a:rPr>
              <a:t>After we found and closed 15 bypasses ourselves.</a:t>
            </a:r>
            <a:endParaRPr lang="en-US" sz="1200" dirty="0"/>
          </a:p>
        </p:txBody>
      </p:sp>
      <p:sp>
        <p:nvSpPr>
          <p:cNvPr id="19" name="Text 14"/>
          <p:cNvSpPr txBox="1"/>
          <p:nvPr/>
        </p:nvSpPr>
        <p:spPr>
          <a:xfrm>
            <a:off x="457200" y="4892040"/>
            <a:ext cx="1124712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Adding a database is a source card, not a project.</a:t>
            </a:r>
            <a:endParaRPr lang="en-US" sz="1800" dirty="0"/>
          </a:p>
        </p:txBody>
      </p:sp>
      <p:sp>
        <p:nvSpPr>
          <p:cNvPr id="20" name="Text 15"/>
          <p:cNvSpPr txBox="1"/>
          <p:nvPr/>
        </p:nvSpPr>
        <p:spPr>
          <a:xfrm>
            <a:off x="457200" y="5349240"/>
            <a:ext cx="11247120" cy="457200"/>
          </a:xfrm>
          <a:prstGeom prst="rect">
            <a:avLst/>
          </a:prstGeom>
          <a:noFill/>
          <a:ln/>
        </p:spPr>
        <p:txBody>
          <a:bodyPr wrap="square" lIns="0" tIns="0" rIns="0" bIns="0" rtlCol="0" anchor="ctr"/>
          <a:lstStyle/>
          <a:p>
            <a:pPr indent="0" marL="0">
              <a:buNone/>
            </a:pPr>
            <a:r>
              <a:rPr lang="en-US" sz="1300" dirty="0">
                <a:solidFill>
                  <a:srgbClr val="CEB888"/>
                </a:solidFill>
                <a:latin typeface="Arial" pitchFamily="34" charset="0"/>
                <a:ea typeface="Arial" pitchFamily="34" charset="-122"/>
                <a:cs typeface="Arial" pitchFamily="34" charset="-120"/>
              </a:rPr>
              <a:t>Next: Amazon Neptune and Google Spanner Graph.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10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It already runs on ReliaQuest's own schema</a:t>
            </a:r>
            <a:endParaRPr lang="en-US" sz="3000" dirty="0"/>
          </a:p>
        </p:txBody>
      </p:sp>
      <p:sp>
        <p:nvSpPr>
          <p:cNvPr id="7" name="Text 2"/>
          <p:cNvSpPr txBox="1"/>
          <p:nvPr/>
        </p:nvSpPr>
        <p:spPr>
          <a:xfrm>
            <a:off x="457200" y="1691640"/>
            <a:ext cx="338328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What ReliaQuest sent</a:t>
            </a:r>
            <a:endParaRPr lang="en-US" sz="1500" dirty="0"/>
          </a:p>
        </p:txBody>
      </p:sp>
      <p:sp>
        <p:nvSpPr>
          <p:cNvPr id="8" name="Shape 3"/>
          <p:cNvSpPr/>
          <p:nvPr/>
        </p:nvSpPr>
        <p:spPr>
          <a:xfrm>
            <a:off x="457200" y="2194560"/>
            <a:ext cx="1600200" cy="1417320"/>
          </a:xfrm>
          <a:prstGeom prst="roundRect">
            <a:avLst>
              <a:gd name="adj" fmla="val 6452"/>
            </a:avLst>
          </a:prstGeom>
          <a:solidFill>
            <a:srgbClr val="DFD1A7"/>
          </a:solidFill>
          <a:ln w="12700">
            <a:solidFill>
              <a:srgbClr val="DFD1A7"/>
            </a:solidFill>
            <a:prstDash val="solid"/>
          </a:ln>
        </p:spPr>
      </p:sp>
      <p:sp>
        <p:nvSpPr>
          <p:cNvPr id="9" name="Text 4"/>
          <p:cNvSpPr txBox="1"/>
          <p:nvPr/>
        </p:nvSpPr>
        <p:spPr>
          <a:xfrm>
            <a:off x="594360" y="2286000"/>
            <a:ext cx="1325880" cy="640080"/>
          </a:xfrm>
          <a:prstGeom prst="rect">
            <a:avLst/>
          </a:prstGeom>
          <a:noFill/>
          <a:ln/>
        </p:spPr>
        <p:txBody>
          <a:bodyPr wrap="square" lIns="0" tIns="0" rIns="0" bIns="0" rtlCol="0" anchor="ctr"/>
          <a:lstStyle/>
          <a:p>
            <a:pPr indent="0" marL="0">
              <a:buNone/>
            </a:pPr>
            <a:r>
              <a:rPr lang="en-US" sz="3400" b="1" dirty="0">
                <a:solidFill>
                  <a:srgbClr val="782F40"/>
                </a:solidFill>
                <a:latin typeface="Arial" pitchFamily="34" charset="0"/>
                <a:ea typeface="Arial" pitchFamily="34" charset="-122"/>
                <a:cs typeface="Arial" pitchFamily="34" charset="-120"/>
              </a:rPr>
              <a:t>72</a:t>
            </a:r>
            <a:endParaRPr lang="en-US" sz="3400" dirty="0"/>
          </a:p>
        </p:txBody>
      </p:sp>
      <p:sp>
        <p:nvSpPr>
          <p:cNvPr id="10" name="Text 5"/>
          <p:cNvSpPr txBox="1"/>
          <p:nvPr/>
        </p:nvSpPr>
        <p:spPr>
          <a:xfrm>
            <a:off x="594360" y="2926080"/>
            <a:ext cx="1325880" cy="640080"/>
          </a:xfrm>
          <a:prstGeom prst="rect">
            <a:avLst/>
          </a:prstGeom>
          <a:noFill/>
          <a:ln/>
        </p:spPr>
        <p:txBody>
          <a:bodyPr wrap="square" lIns="0" tIns="0" rIns="0" bIns="0" rtlCol="0" anchor="t"/>
          <a:lstStyle/>
          <a:p>
            <a:pPr indent="0" marL="0">
              <a:buNone/>
            </a:pPr>
            <a:r>
              <a:rPr lang="en-US" sz="1050" dirty="0">
                <a:solidFill>
                  <a:srgbClr val="101820"/>
                </a:solidFill>
                <a:latin typeface="Arial" pitchFamily="34" charset="0"/>
                <a:ea typeface="Arial" pitchFamily="34" charset="-122"/>
                <a:cs typeface="Arial" pitchFamily="34" charset="-120"/>
              </a:rPr>
              <a:t>node types</a:t>
            </a:r>
            <a:endParaRPr lang="en-US" sz="1050" dirty="0"/>
          </a:p>
        </p:txBody>
      </p:sp>
      <p:sp>
        <p:nvSpPr>
          <p:cNvPr id="11" name="Shape 6"/>
          <p:cNvSpPr/>
          <p:nvPr/>
        </p:nvSpPr>
        <p:spPr>
          <a:xfrm>
            <a:off x="2194560" y="2194560"/>
            <a:ext cx="1600200" cy="1417320"/>
          </a:xfrm>
          <a:prstGeom prst="roundRect">
            <a:avLst>
              <a:gd name="adj" fmla="val 6452"/>
            </a:avLst>
          </a:prstGeom>
          <a:solidFill>
            <a:srgbClr val="DFD1A7"/>
          </a:solidFill>
          <a:ln w="12700">
            <a:solidFill>
              <a:srgbClr val="DFD1A7"/>
            </a:solidFill>
            <a:prstDash val="solid"/>
          </a:ln>
        </p:spPr>
      </p:sp>
      <p:sp>
        <p:nvSpPr>
          <p:cNvPr id="12" name="Text 7"/>
          <p:cNvSpPr txBox="1"/>
          <p:nvPr/>
        </p:nvSpPr>
        <p:spPr>
          <a:xfrm>
            <a:off x="2331720" y="2286000"/>
            <a:ext cx="1325880" cy="640080"/>
          </a:xfrm>
          <a:prstGeom prst="rect">
            <a:avLst/>
          </a:prstGeom>
          <a:noFill/>
          <a:ln/>
        </p:spPr>
        <p:txBody>
          <a:bodyPr wrap="square" lIns="0" tIns="0" rIns="0" bIns="0" rtlCol="0" anchor="ctr"/>
          <a:lstStyle/>
          <a:p>
            <a:pPr indent="0" marL="0">
              <a:buNone/>
            </a:pPr>
            <a:r>
              <a:rPr lang="en-US" sz="3400" b="1" dirty="0">
                <a:solidFill>
                  <a:srgbClr val="782F40"/>
                </a:solidFill>
                <a:latin typeface="Arial" pitchFamily="34" charset="0"/>
                <a:ea typeface="Arial" pitchFamily="34" charset="-122"/>
                <a:cs typeface="Arial" pitchFamily="34" charset="-120"/>
              </a:rPr>
              <a:t>21</a:t>
            </a:r>
            <a:endParaRPr lang="en-US" sz="3400" dirty="0"/>
          </a:p>
        </p:txBody>
      </p:sp>
      <p:sp>
        <p:nvSpPr>
          <p:cNvPr id="13" name="Text 8"/>
          <p:cNvSpPr txBox="1"/>
          <p:nvPr/>
        </p:nvSpPr>
        <p:spPr>
          <a:xfrm>
            <a:off x="2331720" y="2926080"/>
            <a:ext cx="1325880" cy="640080"/>
          </a:xfrm>
          <a:prstGeom prst="rect">
            <a:avLst/>
          </a:prstGeom>
          <a:noFill/>
          <a:ln/>
        </p:spPr>
        <p:txBody>
          <a:bodyPr wrap="square" lIns="0" tIns="0" rIns="0" bIns="0" rtlCol="0" anchor="t"/>
          <a:lstStyle/>
          <a:p>
            <a:pPr indent="0" marL="0">
              <a:buNone/>
            </a:pPr>
            <a:r>
              <a:rPr lang="en-US" sz="1050" dirty="0">
                <a:solidFill>
                  <a:srgbClr val="101820"/>
                </a:solidFill>
                <a:latin typeface="Arial" pitchFamily="34" charset="0"/>
                <a:ea typeface="Arial" pitchFamily="34" charset="-122"/>
                <a:cs typeface="Arial" pitchFamily="34" charset="-120"/>
              </a:rPr>
              <a:t>relationship types</a:t>
            </a:r>
            <a:endParaRPr lang="en-US" sz="1050" dirty="0"/>
          </a:p>
        </p:txBody>
      </p:sp>
      <p:sp>
        <p:nvSpPr>
          <p:cNvPr id="14" name="Shape 9"/>
          <p:cNvSpPr/>
          <p:nvPr/>
        </p:nvSpPr>
        <p:spPr>
          <a:xfrm>
            <a:off x="457200" y="3794760"/>
            <a:ext cx="1600200" cy="1417320"/>
          </a:xfrm>
          <a:prstGeom prst="roundRect">
            <a:avLst>
              <a:gd name="adj" fmla="val 6452"/>
            </a:avLst>
          </a:prstGeom>
          <a:solidFill>
            <a:srgbClr val="DFD1A7"/>
          </a:solidFill>
          <a:ln w="12700">
            <a:solidFill>
              <a:srgbClr val="DFD1A7"/>
            </a:solidFill>
            <a:prstDash val="solid"/>
          </a:ln>
        </p:spPr>
      </p:sp>
      <p:sp>
        <p:nvSpPr>
          <p:cNvPr id="15" name="Text 10"/>
          <p:cNvSpPr txBox="1"/>
          <p:nvPr/>
        </p:nvSpPr>
        <p:spPr>
          <a:xfrm>
            <a:off x="594360" y="3886200"/>
            <a:ext cx="1325880" cy="640080"/>
          </a:xfrm>
          <a:prstGeom prst="rect">
            <a:avLst/>
          </a:prstGeom>
          <a:noFill/>
          <a:ln/>
        </p:spPr>
        <p:txBody>
          <a:bodyPr wrap="square" lIns="0" tIns="0" rIns="0" bIns="0" rtlCol="0" anchor="ctr"/>
          <a:lstStyle/>
          <a:p>
            <a:pPr indent="0" marL="0">
              <a:buNone/>
            </a:pPr>
            <a:r>
              <a:rPr lang="en-US" sz="3400" b="1" dirty="0">
                <a:solidFill>
                  <a:srgbClr val="782F40"/>
                </a:solidFill>
                <a:latin typeface="Arial" pitchFamily="34" charset="0"/>
                <a:ea typeface="Arial" pitchFamily="34" charset="-122"/>
                <a:cs typeface="Arial" pitchFamily="34" charset="-120"/>
              </a:rPr>
              <a:t>5</a:t>
            </a:r>
            <a:endParaRPr lang="en-US" sz="3400" dirty="0"/>
          </a:p>
        </p:txBody>
      </p:sp>
      <p:sp>
        <p:nvSpPr>
          <p:cNvPr id="16" name="Text 11"/>
          <p:cNvSpPr txBox="1"/>
          <p:nvPr/>
        </p:nvSpPr>
        <p:spPr>
          <a:xfrm>
            <a:off x="594360" y="4526280"/>
            <a:ext cx="1325880" cy="640080"/>
          </a:xfrm>
          <a:prstGeom prst="rect">
            <a:avLst/>
          </a:prstGeom>
          <a:noFill/>
          <a:ln/>
        </p:spPr>
        <p:txBody>
          <a:bodyPr wrap="square" lIns="0" tIns="0" rIns="0" bIns="0" rtlCol="0" anchor="t"/>
          <a:lstStyle/>
          <a:p>
            <a:pPr indent="0" marL="0">
              <a:buNone/>
            </a:pPr>
            <a:r>
              <a:rPr lang="en-US" sz="1050" dirty="0">
                <a:solidFill>
                  <a:srgbClr val="101820"/>
                </a:solidFill>
                <a:latin typeface="Arial" pitchFamily="34" charset="0"/>
                <a:ea typeface="Arial" pitchFamily="34" charset="-122"/>
                <a:cs typeface="Arial" pitchFamily="34" charset="-120"/>
              </a:rPr>
              <a:t>identity systems: AD · Entra · Okta · AWS · GCP</a:t>
            </a:r>
            <a:endParaRPr lang="en-US" sz="1050" dirty="0"/>
          </a:p>
        </p:txBody>
      </p:sp>
      <p:sp>
        <p:nvSpPr>
          <p:cNvPr id="17" name="Shape 12"/>
          <p:cNvSpPr/>
          <p:nvPr/>
        </p:nvSpPr>
        <p:spPr>
          <a:xfrm>
            <a:off x="2194560" y="3794760"/>
            <a:ext cx="1600200" cy="1417320"/>
          </a:xfrm>
          <a:prstGeom prst="roundRect">
            <a:avLst>
              <a:gd name="adj" fmla="val 6452"/>
            </a:avLst>
          </a:prstGeom>
          <a:solidFill>
            <a:srgbClr val="DFD1A7"/>
          </a:solidFill>
          <a:ln w="12700">
            <a:solidFill>
              <a:srgbClr val="DFD1A7"/>
            </a:solidFill>
            <a:prstDash val="solid"/>
          </a:ln>
        </p:spPr>
      </p:sp>
      <p:sp>
        <p:nvSpPr>
          <p:cNvPr id="18" name="Text 13"/>
          <p:cNvSpPr txBox="1"/>
          <p:nvPr/>
        </p:nvSpPr>
        <p:spPr>
          <a:xfrm>
            <a:off x="2331720" y="3886200"/>
            <a:ext cx="1325880" cy="640080"/>
          </a:xfrm>
          <a:prstGeom prst="rect">
            <a:avLst/>
          </a:prstGeom>
          <a:noFill/>
          <a:ln/>
        </p:spPr>
        <p:txBody>
          <a:bodyPr wrap="square" lIns="0" tIns="0" rIns="0" bIns="0" rtlCol="0" anchor="ctr"/>
          <a:lstStyle/>
          <a:p>
            <a:pPr indent="0" marL="0">
              <a:buNone/>
            </a:pPr>
            <a:r>
              <a:rPr lang="en-US" sz="3400" b="1" dirty="0">
                <a:solidFill>
                  <a:srgbClr val="782F40"/>
                </a:solidFill>
                <a:latin typeface="Arial" pitchFamily="34" charset="0"/>
                <a:ea typeface="Arial" pitchFamily="34" charset="-122"/>
                <a:cs typeface="Arial" pitchFamily="34" charset="-120"/>
              </a:rPr>
              <a:t>0</a:t>
            </a:r>
            <a:endParaRPr lang="en-US" sz="3400" dirty="0"/>
          </a:p>
        </p:txBody>
      </p:sp>
      <p:sp>
        <p:nvSpPr>
          <p:cNvPr id="19" name="Text 14"/>
          <p:cNvSpPr txBox="1"/>
          <p:nvPr/>
        </p:nvSpPr>
        <p:spPr>
          <a:xfrm>
            <a:off x="2331720" y="4526280"/>
            <a:ext cx="1325880" cy="640080"/>
          </a:xfrm>
          <a:prstGeom prst="rect">
            <a:avLst/>
          </a:prstGeom>
          <a:noFill/>
          <a:ln/>
        </p:spPr>
        <p:txBody>
          <a:bodyPr wrap="square" lIns="0" tIns="0" rIns="0" bIns="0" rtlCol="0" anchor="t"/>
          <a:lstStyle/>
          <a:p>
            <a:pPr indent="0" marL="0">
              <a:buNone/>
            </a:pPr>
            <a:r>
              <a:rPr lang="en-US" sz="1050" dirty="0">
                <a:solidFill>
                  <a:srgbClr val="101820"/>
                </a:solidFill>
                <a:latin typeface="Arial" pitchFamily="34" charset="0"/>
                <a:ea typeface="Arial" pitchFamily="34" charset="-122"/>
                <a:cs typeface="Arial" pitchFamily="34" charset="-120"/>
              </a:rPr>
              <a:t>customer records needed</a:t>
            </a:r>
            <a:endParaRPr lang="en-US" sz="1050" dirty="0"/>
          </a:p>
        </p:txBody>
      </p:sp>
      <p:sp>
        <p:nvSpPr>
          <p:cNvPr id="20" name="Text 15"/>
          <p:cNvSpPr txBox="1"/>
          <p:nvPr/>
        </p:nvSpPr>
        <p:spPr>
          <a:xfrm>
            <a:off x="4206240" y="1691640"/>
            <a:ext cx="374904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The bridge to ATT&amp;CK</a:t>
            </a:r>
            <a:endParaRPr lang="en-US" sz="1500" dirty="0"/>
          </a:p>
        </p:txBody>
      </p:sp>
      <p:sp>
        <p:nvSpPr>
          <p:cNvPr id="21" name="Shape 16"/>
          <p:cNvSpPr/>
          <p:nvPr/>
        </p:nvSpPr>
        <p:spPr>
          <a:xfrm>
            <a:off x="4206240" y="2194560"/>
            <a:ext cx="3749040" cy="914400"/>
          </a:xfrm>
          <a:prstGeom prst="roundRect">
            <a:avLst>
              <a:gd name="adj" fmla="val 8000"/>
            </a:avLst>
          </a:prstGeom>
          <a:solidFill>
            <a:srgbClr val="782F40"/>
          </a:solidFill>
          <a:ln w="12700">
            <a:solidFill>
              <a:srgbClr val="782F40"/>
            </a:solidFill>
            <a:prstDash val="solid"/>
          </a:ln>
        </p:spPr>
      </p:sp>
      <p:sp>
        <p:nvSpPr>
          <p:cNvPr id="22" name="Text 17"/>
          <p:cNvSpPr txBox="1"/>
          <p:nvPr/>
        </p:nvSpPr>
        <p:spPr>
          <a:xfrm>
            <a:off x="4279392" y="2194560"/>
            <a:ext cx="3602736" cy="914400"/>
          </a:xfrm>
          <a:prstGeom prst="rect">
            <a:avLst/>
          </a:prstGeom>
          <a:noFill/>
          <a:ln/>
        </p:spPr>
        <p:txBody>
          <a:bodyPr wrap="square" lIns="0" tIns="0" rIns="0" bIns="0" rtlCol="0" anchor="ctr"/>
          <a:lstStyle/>
          <a:p>
            <a:pPr algn="ctr" indent="0" marL="0">
              <a:buNone/>
            </a:pPr>
            <a:r>
              <a:rPr lang="en-US" sz="1000" dirty="0">
                <a:solidFill>
                  <a:srgbClr val="CEB888"/>
                </a:solidFill>
                <a:latin typeface="Arial" pitchFamily="34" charset="0"/>
                <a:ea typeface="Arial" pitchFamily="34" charset="-122"/>
                <a:cs typeface="Arial" pitchFamily="34" charset="-120"/>
              </a:rPr>
              <a:t>Your identity graph</a:t>
            </a:r>
            <a:endParaRPr lang="en-US" sz="1200" dirty="0"/>
          </a:p>
          <a:p>
            <a:pPr algn="ctr" indent="0" marL="0">
              <a:buNone/>
            </a:pPr>
            <a:r>
              <a:rPr lang="en-US" sz="1200" b="1" dirty="0">
                <a:solidFill>
                  <a:srgbClr val="FFFFFF"/>
                </a:solidFill>
                <a:latin typeface="Courier New" pitchFamily="34" charset="0"/>
                <a:ea typeface="Courier New" pitchFamily="34" charset="-122"/>
                <a:cs typeface="Courier New" pitchFamily="34" charset="-120"/>
              </a:rPr>
              <a:t>Domain Admins  —DC_SYNC→  Domain</a:t>
            </a:r>
            <a:endParaRPr lang="en-US" sz="1200" dirty="0"/>
          </a:p>
        </p:txBody>
      </p:sp>
      <p:sp>
        <p:nvSpPr>
          <p:cNvPr id="23" name="Shape 18"/>
          <p:cNvSpPr/>
          <p:nvPr/>
        </p:nvSpPr>
        <p:spPr>
          <a:xfrm>
            <a:off x="6080760" y="3108960"/>
            <a:ext cx="0" cy="411480"/>
          </a:xfrm>
          <a:prstGeom prst="line">
            <a:avLst/>
          </a:prstGeom>
          <a:noFill/>
          <a:ln w="25400">
            <a:solidFill>
              <a:srgbClr val="CEB888"/>
            </a:solidFill>
            <a:prstDash val="solid"/>
            <a:tailEnd type="triangle"/>
          </a:ln>
        </p:spPr>
      </p:sp>
      <p:sp>
        <p:nvSpPr>
          <p:cNvPr id="24" name="Text 19"/>
          <p:cNvSpPr txBox="1"/>
          <p:nvPr/>
        </p:nvSpPr>
        <p:spPr>
          <a:xfrm>
            <a:off x="6263640" y="3127248"/>
            <a:ext cx="1737360" cy="365760"/>
          </a:xfrm>
          <a:prstGeom prst="rect">
            <a:avLst/>
          </a:prstGeom>
          <a:noFill/>
          <a:ln/>
        </p:spPr>
        <p:txBody>
          <a:bodyPr wrap="square" lIns="0" tIns="0" rIns="0" bIns="0" rtlCol="0" anchor="ctr"/>
          <a:lstStyle/>
          <a:p>
            <a:pPr indent="0" marL="0">
              <a:buNone/>
            </a:pPr>
            <a:r>
              <a:rPr lang="en-US" sz="1100" i="1" dirty="0">
                <a:solidFill>
                  <a:srgbClr val="101820"/>
                </a:solidFill>
                <a:latin typeface="Arial" pitchFamily="34" charset="0"/>
                <a:ea typeface="Arial" pitchFamily="34" charset="-122"/>
                <a:cs typeface="Arial" pitchFamily="34" charset="-120"/>
              </a:rPr>
              <a:t>is the technique</a:t>
            </a:r>
            <a:endParaRPr lang="en-US" sz="1100" dirty="0"/>
          </a:p>
        </p:txBody>
      </p:sp>
      <p:sp>
        <p:nvSpPr>
          <p:cNvPr id="25" name="Shape 20"/>
          <p:cNvSpPr/>
          <p:nvPr/>
        </p:nvSpPr>
        <p:spPr>
          <a:xfrm>
            <a:off x="4206240" y="3520440"/>
            <a:ext cx="3749040" cy="914400"/>
          </a:xfrm>
          <a:prstGeom prst="roundRect">
            <a:avLst>
              <a:gd name="adj" fmla="val 8000"/>
            </a:avLst>
          </a:prstGeom>
          <a:solidFill>
            <a:srgbClr val="782F40"/>
          </a:solidFill>
          <a:ln w="12700">
            <a:solidFill>
              <a:srgbClr val="782F40"/>
            </a:solidFill>
            <a:prstDash val="solid"/>
          </a:ln>
        </p:spPr>
      </p:sp>
      <p:sp>
        <p:nvSpPr>
          <p:cNvPr id="26" name="Text 21"/>
          <p:cNvSpPr txBox="1"/>
          <p:nvPr/>
        </p:nvSpPr>
        <p:spPr>
          <a:xfrm>
            <a:off x="4279392" y="3520440"/>
            <a:ext cx="3602736" cy="914400"/>
          </a:xfrm>
          <a:prstGeom prst="rect">
            <a:avLst/>
          </a:prstGeom>
          <a:noFill/>
          <a:ln/>
        </p:spPr>
        <p:txBody>
          <a:bodyPr wrap="square" lIns="0" tIns="0" rIns="0" bIns="0" rtlCol="0" anchor="ctr"/>
          <a:lstStyle/>
          <a:p>
            <a:pPr algn="ctr" indent="0" marL="0">
              <a:buNone/>
            </a:pPr>
            <a:r>
              <a:rPr lang="en-US" sz="1000" dirty="0">
                <a:solidFill>
                  <a:srgbClr val="CEB888"/>
                </a:solidFill>
                <a:latin typeface="Arial" pitchFamily="34" charset="0"/>
                <a:ea typeface="Arial" pitchFamily="34" charset="-122"/>
                <a:cs typeface="Arial" pitchFamily="34" charset="-120"/>
              </a:rPr>
              <a:t>MITRE ATT&amp;CK</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T1003.006  OS Credential Dumping: DCSync</a:t>
            </a:r>
            <a:endParaRPr lang="en-US" sz="1200" dirty="0"/>
          </a:p>
        </p:txBody>
      </p:sp>
      <p:sp>
        <p:nvSpPr>
          <p:cNvPr id="27" name="Shape 22"/>
          <p:cNvSpPr/>
          <p:nvPr/>
        </p:nvSpPr>
        <p:spPr>
          <a:xfrm>
            <a:off x="6080760" y="4434840"/>
            <a:ext cx="0" cy="411480"/>
          </a:xfrm>
          <a:prstGeom prst="line">
            <a:avLst/>
          </a:prstGeom>
          <a:noFill/>
          <a:ln w="25400">
            <a:solidFill>
              <a:srgbClr val="CEB888"/>
            </a:solidFill>
            <a:prstDash val="solid"/>
            <a:tailEnd type="triangle"/>
          </a:ln>
        </p:spPr>
      </p:sp>
      <p:sp>
        <p:nvSpPr>
          <p:cNvPr id="28" name="Text 23"/>
          <p:cNvSpPr txBox="1"/>
          <p:nvPr/>
        </p:nvSpPr>
        <p:spPr>
          <a:xfrm>
            <a:off x="6263640" y="4453128"/>
            <a:ext cx="1737360" cy="365760"/>
          </a:xfrm>
          <a:prstGeom prst="rect">
            <a:avLst/>
          </a:prstGeom>
          <a:noFill/>
          <a:ln/>
        </p:spPr>
        <p:txBody>
          <a:bodyPr wrap="square" lIns="0" tIns="0" rIns="0" bIns="0" rtlCol="0" anchor="ctr"/>
          <a:lstStyle/>
          <a:p>
            <a:pPr indent="0" marL="0">
              <a:buNone/>
            </a:pPr>
            <a:r>
              <a:rPr lang="en-US" sz="1100" i="1" dirty="0">
                <a:solidFill>
                  <a:srgbClr val="101820"/>
                </a:solidFill>
                <a:latin typeface="Arial" pitchFamily="34" charset="0"/>
                <a:ea typeface="Arial" pitchFamily="34" charset="-122"/>
                <a:cs typeface="Arial" pitchFamily="34" charset="-120"/>
              </a:rPr>
              <a:t>which is mitigated by</a:t>
            </a:r>
            <a:endParaRPr lang="en-US" sz="1100" dirty="0"/>
          </a:p>
        </p:txBody>
      </p:sp>
      <p:sp>
        <p:nvSpPr>
          <p:cNvPr id="29" name="Shape 24"/>
          <p:cNvSpPr/>
          <p:nvPr/>
        </p:nvSpPr>
        <p:spPr>
          <a:xfrm>
            <a:off x="4206240" y="4846320"/>
            <a:ext cx="3749040" cy="914400"/>
          </a:xfrm>
          <a:prstGeom prst="roundRect">
            <a:avLst>
              <a:gd name="adj" fmla="val 8000"/>
            </a:avLst>
          </a:prstGeom>
          <a:solidFill>
            <a:srgbClr val="782F40"/>
          </a:solidFill>
          <a:ln w="12700">
            <a:solidFill>
              <a:srgbClr val="782F40"/>
            </a:solidFill>
            <a:prstDash val="solid"/>
          </a:ln>
        </p:spPr>
      </p:sp>
      <p:sp>
        <p:nvSpPr>
          <p:cNvPr id="30" name="Text 25"/>
          <p:cNvSpPr txBox="1"/>
          <p:nvPr/>
        </p:nvSpPr>
        <p:spPr>
          <a:xfrm>
            <a:off x="4279392" y="4846320"/>
            <a:ext cx="3602736" cy="914400"/>
          </a:xfrm>
          <a:prstGeom prst="rect">
            <a:avLst/>
          </a:prstGeom>
          <a:noFill/>
          <a:ln/>
        </p:spPr>
        <p:txBody>
          <a:bodyPr wrap="square" lIns="0" tIns="0" rIns="0" bIns="0" rtlCol="0" anchor="ctr"/>
          <a:lstStyle/>
          <a:p>
            <a:pPr algn="ctr" indent="0" marL="0">
              <a:buNone/>
            </a:pPr>
            <a:r>
              <a:rPr lang="en-US" sz="1000" dirty="0">
                <a:solidFill>
                  <a:srgbClr val="CEB888"/>
                </a:solidFill>
                <a:latin typeface="Arial" pitchFamily="34" charset="0"/>
                <a:ea typeface="Arial" pitchFamily="34" charset="-122"/>
                <a:cs typeface="Arial" pitchFamily="34" charset="-120"/>
              </a:rPr>
              <a:t>ATT&amp;CK mitigations</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M1015 Active Directory Configuration · M1026 Privileged Account Management · M1027 Password Policies</a:t>
            </a:r>
            <a:endParaRPr lang="en-US" sz="1100" dirty="0"/>
          </a:p>
        </p:txBody>
      </p:sp>
      <p:sp>
        <p:nvSpPr>
          <p:cNvPr id="31" name="Text 26"/>
          <p:cNvSpPr txBox="1"/>
          <p:nvPr/>
        </p:nvSpPr>
        <p:spPr>
          <a:xfrm>
            <a:off x="4206240" y="5852160"/>
            <a:ext cx="3749040" cy="548640"/>
          </a:xfrm>
          <a:prstGeom prst="rect">
            <a:avLst/>
          </a:prstGeom>
          <a:noFill/>
          <a:ln/>
        </p:spPr>
        <p:txBody>
          <a:bodyPr wrap="square" lIns="0" tIns="0" rIns="0" bIns="0" rtlCol="0" anchor="t"/>
          <a:lstStyle/>
          <a:p>
            <a:pPr indent="0" marL="0">
              <a:buNone/>
            </a:pPr>
            <a:r>
              <a:rPr lang="en-US" sz="1050" dirty="0">
                <a:solidFill>
                  <a:srgbClr val="101820"/>
                </a:solidFill>
                <a:latin typeface="Arial" pitchFamily="34" charset="0"/>
                <a:ea typeface="Arial" pitchFamily="34" charset="-122"/>
                <a:cs typeface="Arial" pitchFamily="34" charset="-120"/>
              </a:rPr>
              <a:t>13 of 21 relationship types map to a technique; the other 8 are declared not to.</a:t>
            </a:r>
            <a:endParaRPr lang="en-US" sz="1050" dirty="0"/>
          </a:p>
        </p:txBody>
      </p:sp>
      <p:sp>
        <p:nvSpPr>
          <p:cNvPr id="32" name="Text 27"/>
          <p:cNvSpPr txBox="1"/>
          <p:nvPr/>
        </p:nvSpPr>
        <p:spPr>
          <a:xfrm>
            <a:off x="8321040" y="1691640"/>
            <a:ext cx="3429000" cy="365760"/>
          </a:xfrm>
          <a:prstGeom prst="rect">
            <a:avLst/>
          </a:prstGeom>
          <a:noFill/>
          <a:ln/>
        </p:spPr>
        <p:txBody>
          <a:bodyPr wrap="square" lIns="0" tIns="0" rIns="0" bIns="0" rtlCol="0" anchor="ctr"/>
          <a:lstStyle/>
          <a:p>
            <a:pPr indent="0" marL="0">
              <a:buNone/>
            </a:pPr>
            <a:r>
              <a:rPr lang="en-US" sz="1500" b="1" dirty="0">
                <a:solidFill>
                  <a:srgbClr val="782F40"/>
                </a:solidFill>
                <a:latin typeface="Arial" pitchFamily="34" charset="0"/>
                <a:ea typeface="Arial" pitchFamily="34" charset="-122"/>
                <a:cs typeface="Arial" pitchFamily="34" charset="-120"/>
              </a:rPr>
              <a:t>What happened</a:t>
            </a:r>
            <a:endParaRPr lang="en-US" sz="1500" dirty="0"/>
          </a:p>
        </p:txBody>
      </p:sp>
      <p:sp>
        <p:nvSpPr>
          <p:cNvPr id="33" name="Text 28"/>
          <p:cNvSpPr txBox="1"/>
          <p:nvPr/>
        </p:nvSpPr>
        <p:spPr>
          <a:xfrm>
            <a:off x="8321040" y="2148840"/>
            <a:ext cx="3429000" cy="32918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820"/>
                </a:solidFill>
                <a:latin typeface="Arial" pitchFamily="34" charset="0"/>
                <a:ea typeface="Arial" pitchFamily="34" charset="-122"/>
                <a:cs typeface="Arial" pitchFamily="34" charset="-120"/>
              </a:rPr>
              <a:t>The schema alone was enough. Records are synthetic; the schema is real.</a:t>
            </a:r>
            <a:endParaRPr lang="en-US" sz="1200" dirty="0"/>
          </a:p>
          <a:p>
            <a:pPr marL="342900" indent="-342900">
              <a:spcAft>
                <a:spcPts val="800"/>
              </a:spcAft>
              <a:buSzPct val="100000"/>
              <a:buChar char="•"/>
            </a:pPr>
            <a:r>
              <a:rPr lang="en-US" sz="1200" dirty="0">
                <a:solidFill>
                  <a:srgbClr val="101820"/>
                </a:solidFill>
                <a:latin typeface="Arial" pitchFamily="34" charset="0"/>
                <a:ea typeface="Arial" pitchFamily="34" charset="-122"/>
                <a:cs typeface="Arial" pitchFamily="34" charset="-120"/>
              </a:rPr>
              <a:t>Ran live beside ATT&amp;CK and CAPEC. Nothing else changed.</a:t>
            </a:r>
            <a:endParaRPr lang="en-US" sz="1200" dirty="0"/>
          </a:p>
          <a:p>
            <a:pPr marL="342900" indent="-342900">
              <a:spcAft>
                <a:spcPts val="800"/>
              </a:spcAft>
              <a:buSzPct val="100000"/>
              <a:buChar char="•"/>
            </a:pPr>
            <a:r>
              <a:rPr lang="en-US" sz="1200" dirty="0">
                <a:solidFill>
                  <a:srgbClr val="101820"/>
                </a:solidFill>
                <a:latin typeface="Arial" pitchFamily="34" charset="0"/>
                <a:ea typeface="Arial" pitchFamily="34" charset="-122"/>
                <a:cs typeface="Arial" pitchFamily="34" charset="-120"/>
              </a:rPr>
              <a:t>A relationship in your graph resolves to a technique, then to its mitigations.</a:t>
            </a:r>
            <a:endParaRPr lang="en-US" sz="1200" dirty="0"/>
          </a:p>
          <a:p>
            <a:pPr marL="342900" indent="-342900">
              <a:spcAft>
                <a:spcPts val="800"/>
              </a:spcAft>
              <a:buSzPct val="100000"/>
              <a:buChar char="•"/>
            </a:pPr>
            <a:r>
              <a:rPr lang="en-US" sz="1200" dirty="0">
                <a:solidFill>
                  <a:srgbClr val="101820"/>
                </a:solidFill>
                <a:latin typeface="Arial" pitchFamily="34" charset="0"/>
                <a:ea typeface="Arial" pitchFamily="34" charset="-122"/>
                <a:cs typeface="Arial" pitchFamily="34" charset="-120"/>
              </a:rPr>
              <a:t>Where no mapping exists, it says so.</a:t>
            </a:r>
            <a:endParaRPr lang="en-US" sz="1200" dirty="0"/>
          </a:p>
        </p:txBody>
      </p:sp>
      <p:sp>
        <p:nvSpPr>
          <p:cNvPr id="34" name="Text 29"/>
          <p:cNvSpPr txBox="1"/>
          <p:nvPr/>
        </p:nvSpPr>
        <p:spPr>
          <a:xfrm>
            <a:off x="8321040" y="4160520"/>
            <a:ext cx="3429000" cy="822960"/>
          </a:xfrm>
          <a:prstGeom prst="rect">
            <a:avLst/>
          </a:prstGeom>
          <a:noFill/>
          <a:ln/>
        </p:spPr>
        <p:txBody>
          <a:bodyPr wrap="square" lIns="0" tIns="0" rIns="0" bIns="0" rtlCol="0" anchor="t"/>
          <a:lstStyle/>
          <a:p>
            <a:pPr indent="0" marL="0">
              <a:buNone/>
            </a:pPr>
            <a:r>
              <a:rPr lang="en-US" sz="1150" b="1" i="1" dirty="0">
                <a:solidFill>
                  <a:srgbClr val="782F40"/>
                </a:solidFill>
                <a:latin typeface="Arial" pitchFamily="34" charset="0"/>
                <a:ea typeface="Arial" pitchFamily="34" charset="-122"/>
                <a:cs typeface="Arial" pitchFamily="34" charset="-120"/>
              </a:rPr>
              <a:t>"Which technique is what Domain Admins can do with DC_SYNC, and what mitigates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11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Where it stops today</a:t>
            </a:r>
            <a:endParaRPr lang="en-US" sz="3000" dirty="0"/>
          </a:p>
        </p:txBody>
      </p:sp>
      <p:sp>
        <p:nvSpPr>
          <p:cNvPr id="7" name="Shape 2"/>
          <p:cNvSpPr/>
          <p:nvPr/>
        </p:nvSpPr>
        <p:spPr>
          <a:xfrm>
            <a:off x="457200" y="1828800"/>
            <a:ext cx="365760" cy="365760"/>
          </a:xfrm>
          <a:prstGeom prst="ellipse">
            <a:avLst/>
          </a:prstGeom>
          <a:solidFill>
            <a:srgbClr val="CEB888"/>
          </a:solidFill>
          <a:ln w="12700">
            <a:solidFill>
              <a:srgbClr val="CEB888"/>
            </a:solidFill>
            <a:prstDash val="solid"/>
          </a:ln>
        </p:spPr>
      </p:sp>
      <p:sp>
        <p:nvSpPr>
          <p:cNvPr id="8" name="Text 3"/>
          <p:cNvSpPr txBox="1"/>
          <p:nvPr/>
        </p:nvSpPr>
        <p:spPr>
          <a:xfrm>
            <a:off x="457200" y="1828800"/>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1</a:t>
            </a:r>
            <a:endParaRPr lang="en-US" sz="1300" dirty="0"/>
          </a:p>
        </p:txBody>
      </p:sp>
      <p:sp>
        <p:nvSpPr>
          <p:cNvPr id="9" name="Text 4"/>
          <p:cNvSpPr txBox="1"/>
          <p:nvPr/>
        </p:nvSpPr>
        <p:spPr>
          <a:xfrm>
            <a:off x="960120" y="1783080"/>
            <a:ext cx="35661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Ask by identifier</a:t>
            </a:r>
            <a:endParaRPr lang="en-US" sz="1500" dirty="0"/>
          </a:p>
        </p:txBody>
      </p:sp>
      <p:sp>
        <p:nvSpPr>
          <p:cNvPr id="10" name="Text 5"/>
          <p:cNvSpPr txBox="1"/>
          <p:nvPr/>
        </p:nvSpPr>
        <p:spPr>
          <a:xfrm>
            <a:off x="960120" y="2112264"/>
            <a:ext cx="3566160" cy="457200"/>
          </a:xfrm>
          <a:prstGeom prst="rect">
            <a:avLst/>
          </a:prstGeom>
          <a:noFill/>
          <a:ln/>
        </p:spPr>
        <p:txBody>
          <a:bodyPr wrap="square" lIns="0" tIns="0" rIns="0" bIns="0" rtlCol="0" anchor="t"/>
          <a:lstStyle/>
          <a:p>
            <a:pPr indent="0" marL="0">
              <a:buNone/>
            </a:pPr>
            <a:r>
              <a:rPr lang="en-US" sz="1100" dirty="0">
                <a:solidFill>
                  <a:srgbClr val="DFD1A7"/>
                </a:solidFill>
                <a:latin typeface="Arial" pitchFamily="34" charset="0"/>
                <a:ea typeface="Arial" pitchFamily="34" charset="-122"/>
                <a:cs typeface="Arial" pitchFamily="34" charset="-120"/>
              </a:rPr>
              <a:t>"What mitigates T1003?"</a:t>
            </a:r>
            <a:endParaRPr lang="en-US" sz="1100" dirty="0"/>
          </a:p>
        </p:txBody>
      </p:sp>
      <p:sp>
        <p:nvSpPr>
          <p:cNvPr id="11" name="Shape 6"/>
          <p:cNvSpPr/>
          <p:nvPr/>
        </p:nvSpPr>
        <p:spPr>
          <a:xfrm>
            <a:off x="4663440" y="1801368"/>
            <a:ext cx="2651760" cy="658368"/>
          </a:xfrm>
          <a:prstGeom prst="roundRect">
            <a:avLst>
              <a:gd name="adj" fmla="val 13889"/>
            </a:avLst>
          </a:prstGeom>
          <a:solidFill>
            <a:srgbClr val="CEB888"/>
          </a:solidFill>
          <a:ln w="12700">
            <a:solidFill>
              <a:srgbClr val="CEB888"/>
            </a:solidFill>
            <a:prstDash val="solid"/>
          </a:ln>
        </p:spPr>
      </p:sp>
      <p:sp>
        <p:nvSpPr>
          <p:cNvPr id="12" name="Text 7"/>
          <p:cNvSpPr txBox="1"/>
          <p:nvPr/>
        </p:nvSpPr>
        <p:spPr>
          <a:xfrm>
            <a:off x="4754880" y="1801368"/>
            <a:ext cx="2468880" cy="658368"/>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Works</a:t>
            </a:r>
            <a:endParaRPr lang="en-US" sz="1200" dirty="0"/>
          </a:p>
        </p:txBody>
      </p:sp>
      <p:sp>
        <p:nvSpPr>
          <p:cNvPr id="13" name="Shape 8"/>
          <p:cNvSpPr/>
          <p:nvPr/>
        </p:nvSpPr>
        <p:spPr>
          <a:xfrm>
            <a:off x="457200" y="2743200"/>
            <a:ext cx="365760" cy="365760"/>
          </a:xfrm>
          <a:prstGeom prst="ellipse">
            <a:avLst/>
          </a:prstGeom>
          <a:solidFill>
            <a:srgbClr val="CEB888"/>
          </a:solidFill>
          <a:ln w="12700">
            <a:solidFill>
              <a:srgbClr val="CEB888"/>
            </a:solidFill>
            <a:prstDash val="solid"/>
          </a:ln>
        </p:spPr>
      </p:sp>
      <p:sp>
        <p:nvSpPr>
          <p:cNvPr id="14" name="Text 9"/>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2</a:t>
            </a:r>
            <a:endParaRPr lang="en-US" sz="1300" dirty="0"/>
          </a:p>
        </p:txBody>
      </p:sp>
      <p:sp>
        <p:nvSpPr>
          <p:cNvPr id="15" name="Text 10"/>
          <p:cNvSpPr txBox="1"/>
          <p:nvPr/>
        </p:nvSpPr>
        <p:spPr>
          <a:xfrm>
            <a:off x="960120" y="2697480"/>
            <a:ext cx="35661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Reword the question</a:t>
            </a:r>
            <a:endParaRPr lang="en-US" sz="1500" dirty="0"/>
          </a:p>
        </p:txBody>
      </p:sp>
      <p:sp>
        <p:nvSpPr>
          <p:cNvPr id="16" name="Text 11"/>
          <p:cNvSpPr txBox="1"/>
          <p:nvPr/>
        </p:nvSpPr>
        <p:spPr>
          <a:xfrm>
            <a:off x="960120" y="3026664"/>
            <a:ext cx="3566160" cy="457200"/>
          </a:xfrm>
          <a:prstGeom prst="rect">
            <a:avLst/>
          </a:prstGeom>
          <a:noFill/>
          <a:ln/>
        </p:spPr>
        <p:txBody>
          <a:bodyPr wrap="square" lIns="0" tIns="0" rIns="0" bIns="0" rtlCol="0" anchor="t"/>
          <a:lstStyle/>
          <a:p>
            <a:pPr indent="0" marL="0">
              <a:buNone/>
            </a:pPr>
            <a:r>
              <a:rPr lang="en-US" sz="1100" dirty="0">
                <a:solidFill>
                  <a:srgbClr val="DFD1A7"/>
                </a:solidFill>
                <a:latin typeface="Arial" pitchFamily="34" charset="0"/>
                <a:ea typeface="Arial" pitchFamily="34" charset="-122"/>
                <a:cs typeface="Arial" pitchFamily="34" charset="-120"/>
              </a:rPr>
              <a:t>same entity, new phrasing</a:t>
            </a:r>
            <a:endParaRPr lang="en-US" sz="1100" dirty="0"/>
          </a:p>
        </p:txBody>
      </p:sp>
      <p:sp>
        <p:nvSpPr>
          <p:cNvPr id="17" name="Shape 12"/>
          <p:cNvSpPr/>
          <p:nvPr/>
        </p:nvSpPr>
        <p:spPr>
          <a:xfrm>
            <a:off x="4663440" y="2715768"/>
            <a:ext cx="2651760" cy="658368"/>
          </a:xfrm>
          <a:prstGeom prst="roundRect">
            <a:avLst>
              <a:gd name="adj" fmla="val 13889"/>
            </a:avLst>
          </a:prstGeom>
          <a:solidFill>
            <a:srgbClr val="DFD1A7"/>
          </a:solidFill>
          <a:ln w="12700">
            <a:solidFill>
              <a:srgbClr val="DFD1A7"/>
            </a:solidFill>
            <a:prstDash val="solid"/>
          </a:ln>
        </p:spPr>
      </p:sp>
      <p:sp>
        <p:nvSpPr>
          <p:cNvPr id="18" name="Text 13"/>
          <p:cNvSpPr txBox="1"/>
          <p:nvPr/>
        </p:nvSpPr>
        <p:spPr>
          <a:xfrm>
            <a:off x="4754880" y="2715768"/>
            <a:ext cx="2468880" cy="658368"/>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About half</a:t>
            </a:r>
            <a:endParaRPr lang="en-US" sz="1200" dirty="0"/>
          </a:p>
        </p:txBody>
      </p:sp>
      <p:sp>
        <p:nvSpPr>
          <p:cNvPr id="19" name="Shape 14"/>
          <p:cNvSpPr/>
          <p:nvPr/>
        </p:nvSpPr>
        <p:spPr>
          <a:xfrm>
            <a:off x="457200" y="3657600"/>
            <a:ext cx="365760" cy="365760"/>
          </a:xfrm>
          <a:prstGeom prst="ellipse">
            <a:avLst/>
          </a:prstGeom>
          <a:solidFill>
            <a:srgbClr val="CEB888"/>
          </a:solidFill>
          <a:ln w="12700">
            <a:solidFill>
              <a:srgbClr val="CEB888"/>
            </a:solidFill>
            <a:prstDash val="solid"/>
          </a:ln>
        </p:spPr>
      </p:sp>
      <p:sp>
        <p:nvSpPr>
          <p:cNvPr id="20" name="Text 15"/>
          <p:cNvSpPr txBox="1"/>
          <p:nvPr/>
        </p:nvSpPr>
        <p:spPr>
          <a:xfrm>
            <a:off x="457200" y="3657600"/>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3</a:t>
            </a:r>
            <a:endParaRPr lang="en-US" sz="1300" dirty="0"/>
          </a:p>
        </p:txBody>
      </p:sp>
      <p:sp>
        <p:nvSpPr>
          <p:cNvPr id="21" name="Text 16"/>
          <p:cNvSpPr txBox="1"/>
          <p:nvPr/>
        </p:nvSpPr>
        <p:spPr>
          <a:xfrm>
            <a:off x="960120" y="3611880"/>
            <a:ext cx="35661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Paraphrase the name</a:t>
            </a:r>
            <a:endParaRPr lang="en-US" sz="1500" dirty="0"/>
          </a:p>
        </p:txBody>
      </p:sp>
      <p:sp>
        <p:nvSpPr>
          <p:cNvPr id="22" name="Text 17"/>
          <p:cNvSpPr txBox="1"/>
          <p:nvPr/>
        </p:nvSpPr>
        <p:spPr>
          <a:xfrm>
            <a:off x="960120" y="3941064"/>
            <a:ext cx="3566160" cy="457200"/>
          </a:xfrm>
          <a:prstGeom prst="rect">
            <a:avLst/>
          </a:prstGeom>
          <a:noFill/>
          <a:ln/>
        </p:spPr>
        <p:txBody>
          <a:bodyPr wrap="square" lIns="0" tIns="0" rIns="0" bIns="0" rtlCol="0" anchor="t"/>
          <a:lstStyle/>
          <a:p>
            <a:pPr indent="0" marL="0">
              <a:buNone/>
            </a:pPr>
            <a:r>
              <a:rPr lang="en-US" sz="1100" dirty="0">
                <a:solidFill>
                  <a:srgbClr val="DFD1A7"/>
                </a:solidFill>
                <a:latin typeface="Arial" pitchFamily="34" charset="0"/>
                <a:ea typeface="Arial" pitchFamily="34" charset="-122"/>
                <a:cs typeface="Arial" pitchFamily="34" charset="-120"/>
              </a:rPr>
              <a:t>no identifier</a:t>
            </a:r>
            <a:endParaRPr lang="en-US" sz="1100" dirty="0"/>
          </a:p>
        </p:txBody>
      </p:sp>
      <p:sp>
        <p:nvSpPr>
          <p:cNvPr id="23" name="Shape 18"/>
          <p:cNvSpPr/>
          <p:nvPr/>
        </p:nvSpPr>
        <p:spPr>
          <a:xfrm>
            <a:off x="4663440" y="3630168"/>
            <a:ext cx="2651760" cy="658368"/>
          </a:xfrm>
          <a:prstGeom prst="roundRect">
            <a:avLst>
              <a:gd name="adj" fmla="val 13889"/>
            </a:avLst>
          </a:prstGeom>
          <a:solidFill>
            <a:srgbClr val="DFD1A7"/>
          </a:solidFill>
          <a:ln w="12700">
            <a:solidFill>
              <a:srgbClr val="DFD1A7"/>
            </a:solidFill>
            <a:prstDash val="solid"/>
          </a:ln>
        </p:spPr>
      </p:sp>
      <p:sp>
        <p:nvSpPr>
          <p:cNvPr id="24" name="Text 19"/>
          <p:cNvSpPr txBox="1"/>
          <p:nvPr/>
        </p:nvSpPr>
        <p:spPr>
          <a:xfrm>
            <a:off x="4754880" y="3630168"/>
            <a:ext cx="2468880" cy="658368"/>
          </a:xfrm>
          <a:prstGeom prst="rect">
            <a:avLst/>
          </a:prstGeom>
          <a:noFill/>
          <a:ln/>
        </p:spPr>
        <p:txBody>
          <a:bodyPr wrap="square" lIns="0" tIns="0" rIns="0" bIns="0" rtlCol="0" anchor="ctr"/>
          <a:lstStyle/>
          <a:p>
            <a:pPr algn="ctr" indent="0" marL="0">
              <a:buNone/>
            </a:pPr>
            <a:r>
              <a:rPr lang="en-US" sz="1200" b="1" dirty="0">
                <a:solidFill>
                  <a:srgbClr val="101820"/>
                </a:solidFill>
                <a:latin typeface="Arial" pitchFamily="34" charset="0"/>
                <a:ea typeface="Arial" pitchFamily="34" charset="-122"/>
                <a:cs typeface="Arial" pitchFamily="34" charset="-120"/>
              </a:rPr>
              <a:t>About a third</a:t>
            </a:r>
            <a:endParaRPr lang="en-US" sz="1200" dirty="0"/>
          </a:p>
        </p:txBody>
      </p:sp>
      <p:sp>
        <p:nvSpPr>
          <p:cNvPr id="25" name="Shape 20"/>
          <p:cNvSpPr/>
          <p:nvPr/>
        </p:nvSpPr>
        <p:spPr>
          <a:xfrm>
            <a:off x="457200" y="4572000"/>
            <a:ext cx="365760" cy="365760"/>
          </a:xfrm>
          <a:prstGeom prst="ellipse">
            <a:avLst/>
          </a:prstGeom>
          <a:solidFill>
            <a:srgbClr val="CEB888"/>
          </a:solidFill>
          <a:ln w="12700">
            <a:solidFill>
              <a:srgbClr val="CEB888"/>
            </a:solidFill>
            <a:prstDash val="solid"/>
          </a:ln>
        </p:spPr>
      </p:sp>
      <p:sp>
        <p:nvSpPr>
          <p:cNvPr id="26" name="Text 21"/>
          <p:cNvSpPr txBox="1"/>
          <p:nvPr/>
        </p:nvSpPr>
        <p:spPr>
          <a:xfrm>
            <a:off x="457200" y="4572000"/>
            <a:ext cx="365760" cy="365760"/>
          </a:xfrm>
          <a:prstGeom prst="rect">
            <a:avLst/>
          </a:prstGeom>
          <a:noFill/>
          <a:ln/>
        </p:spPr>
        <p:txBody>
          <a:bodyPr wrap="square" lIns="0" tIns="0" rIns="0" bIns="0" rtlCol="0" anchor="ctr"/>
          <a:lstStyle/>
          <a:p>
            <a:pPr algn="ctr" indent="0" marL="0">
              <a:buNone/>
            </a:pPr>
            <a:r>
              <a:rPr lang="en-US" sz="1300" b="1" dirty="0">
                <a:solidFill>
                  <a:srgbClr val="101820"/>
                </a:solidFill>
                <a:latin typeface="Arial" pitchFamily="34" charset="0"/>
                <a:ea typeface="Arial" pitchFamily="34" charset="-122"/>
                <a:cs typeface="Arial" pitchFamily="34" charset="-120"/>
              </a:rPr>
              <a:t>4</a:t>
            </a:r>
            <a:endParaRPr lang="en-US" sz="1300" dirty="0"/>
          </a:p>
        </p:txBody>
      </p:sp>
      <p:sp>
        <p:nvSpPr>
          <p:cNvPr id="27" name="Text 22"/>
          <p:cNvSpPr txBox="1"/>
          <p:nvPr/>
        </p:nvSpPr>
        <p:spPr>
          <a:xfrm>
            <a:off x="960120" y="4526280"/>
            <a:ext cx="35661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Describe it without naming it</a:t>
            </a:r>
            <a:endParaRPr lang="en-US" sz="1500" dirty="0"/>
          </a:p>
        </p:txBody>
      </p:sp>
      <p:sp>
        <p:nvSpPr>
          <p:cNvPr id="28" name="Text 23"/>
          <p:cNvSpPr txBox="1"/>
          <p:nvPr/>
        </p:nvSpPr>
        <p:spPr>
          <a:xfrm>
            <a:off x="960120" y="4855464"/>
            <a:ext cx="3566160" cy="457200"/>
          </a:xfrm>
          <a:prstGeom prst="rect">
            <a:avLst/>
          </a:prstGeom>
          <a:noFill/>
          <a:ln/>
        </p:spPr>
        <p:txBody>
          <a:bodyPr wrap="square" lIns="0" tIns="0" rIns="0" bIns="0" rtlCol="0" anchor="t"/>
          <a:lstStyle/>
          <a:p>
            <a:pPr indent="0" marL="0">
              <a:buNone/>
            </a:pPr>
            <a:r>
              <a:rPr lang="en-US" sz="1100" dirty="0">
                <a:solidFill>
                  <a:srgbClr val="DFD1A7"/>
                </a:solidFill>
                <a:latin typeface="Arial" pitchFamily="34" charset="0"/>
                <a:ea typeface="Arial" pitchFamily="34" charset="-122"/>
                <a:cs typeface="Arial" pitchFamily="34" charset="-120"/>
              </a:rPr>
              <a:t>no identifier, no name</a:t>
            </a:r>
            <a:endParaRPr lang="en-US" sz="1100" dirty="0"/>
          </a:p>
        </p:txBody>
      </p:sp>
      <p:sp>
        <p:nvSpPr>
          <p:cNvPr id="29" name="Shape 24"/>
          <p:cNvSpPr/>
          <p:nvPr/>
        </p:nvSpPr>
        <p:spPr>
          <a:xfrm>
            <a:off x="4663440" y="4544568"/>
            <a:ext cx="2651760" cy="658368"/>
          </a:xfrm>
          <a:prstGeom prst="roundRect">
            <a:avLst>
              <a:gd name="adj" fmla="val 13889"/>
            </a:avLst>
          </a:prstGeom>
          <a:solidFill>
            <a:srgbClr val="572932"/>
          </a:solidFill>
          <a:ln w="12700">
            <a:solidFill>
              <a:srgbClr val="CEB888"/>
            </a:solidFill>
            <a:prstDash val="solid"/>
          </a:ln>
        </p:spPr>
      </p:sp>
      <p:sp>
        <p:nvSpPr>
          <p:cNvPr id="30" name="Text 25"/>
          <p:cNvSpPr txBox="1"/>
          <p:nvPr/>
        </p:nvSpPr>
        <p:spPr>
          <a:xfrm>
            <a:off x="4754880" y="4544568"/>
            <a:ext cx="2468880"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Not yet</a:t>
            </a:r>
            <a:endParaRPr lang="en-US" sz="1200" dirty="0"/>
          </a:p>
        </p:txBody>
      </p:sp>
      <p:sp>
        <p:nvSpPr>
          <p:cNvPr id="31" name="Text 26"/>
          <p:cNvSpPr txBox="1"/>
          <p:nvPr/>
        </p:nvSpPr>
        <p:spPr>
          <a:xfrm>
            <a:off x="7863840" y="1783080"/>
            <a:ext cx="3886200" cy="365760"/>
          </a:xfrm>
          <a:prstGeom prst="rect">
            <a:avLst/>
          </a:prstGeom>
          <a:noFill/>
          <a:ln/>
        </p:spPr>
        <p:txBody>
          <a:bodyPr wrap="square" lIns="0" tIns="0" rIns="0" bIns="0" rtlCol="0" anchor="ctr"/>
          <a:lstStyle/>
          <a:p>
            <a:pPr indent="0" marL="0">
              <a:buNone/>
            </a:pPr>
            <a:r>
              <a:rPr lang="en-US" sz="1500" b="1" dirty="0">
                <a:solidFill>
                  <a:srgbClr val="CEB888"/>
                </a:solidFill>
                <a:latin typeface="Arial" pitchFamily="34" charset="0"/>
                <a:ea typeface="Arial" pitchFamily="34" charset="-122"/>
                <a:cs typeface="Arial" pitchFamily="34" charset="-120"/>
              </a:rPr>
              <a:t>Also open</a:t>
            </a:r>
            <a:endParaRPr lang="en-US" sz="1500" dirty="0"/>
          </a:p>
        </p:txBody>
      </p:sp>
      <p:sp>
        <p:nvSpPr>
          <p:cNvPr id="32" name="Text 27"/>
          <p:cNvSpPr txBox="1"/>
          <p:nvPr/>
        </p:nvSpPr>
        <p:spPr>
          <a:xfrm>
            <a:off x="7863840" y="2240280"/>
            <a:ext cx="3886200" cy="36576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Arial" pitchFamily="34" charset="0"/>
                <a:ea typeface="Arial" pitchFamily="34" charset="-122"/>
                <a:cs typeface="Arial" pitchFamily="34" charset="-120"/>
              </a:rPr>
              <a:t>Answer quality through the workbench's own planner is not yet judged.</a:t>
            </a:r>
            <a:endParaRPr lang="en-US" sz="1200" dirty="0"/>
          </a:p>
          <a:p>
            <a:pPr marL="342900" indent="-342900">
              <a:spcAft>
                <a:spcPts val="800"/>
              </a:spcAft>
              <a:buSzPct val="100000"/>
              <a:buChar char="•"/>
            </a:pPr>
            <a:r>
              <a:rPr lang="en-US" sz="1200" dirty="0">
                <a:solidFill>
                  <a:srgbClr val="FFFFFF"/>
                </a:solidFill>
                <a:latin typeface="Arial" pitchFamily="34" charset="0"/>
                <a:ea typeface="Arial" pitchFamily="34" charset="-122"/>
                <a:cs typeface="Arial" pitchFamily="34" charset="-120"/>
              </a:rPr>
              <a:t>Identity records were synthetic; the schema was real.</a:t>
            </a:r>
            <a:endParaRPr lang="en-US" sz="1200" dirty="0"/>
          </a:p>
          <a:p>
            <a:pPr marL="342900" indent="-342900">
              <a:spcAft>
                <a:spcPts val="800"/>
              </a:spcAft>
              <a:buSzPct val="100000"/>
              <a:buChar char="•"/>
            </a:pPr>
            <a:r>
              <a:rPr lang="en-US" sz="1200" dirty="0">
                <a:solidFill>
                  <a:srgbClr val="FFFFFF"/>
                </a:solidFill>
                <a:latin typeface="Arial" pitchFamily="34" charset="0"/>
                <a:ea typeface="Arial" pitchFamily="34" charset="-122"/>
                <a:cs typeface="Arial" pitchFamily="34" charset="-120"/>
              </a:rPr>
              <a:t>The planner, not the engine, sets the ceiling. It is the next target.</a:t>
            </a:r>
            <a:endParaRPr lang="en-US" sz="1200" dirty="0"/>
          </a:p>
        </p:txBody>
      </p:sp>
      <p:sp>
        <p:nvSpPr>
          <p:cNvPr id="33" name="Text 28"/>
          <p:cNvSpPr txBox="1"/>
          <p:nvPr/>
        </p:nvSpPr>
        <p:spPr>
          <a:xfrm>
            <a:off x="457200" y="5669280"/>
            <a:ext cx="6858000" cy="457200"/>
          </a:xfrm>
          <a:prstGeom prst="rect">
            <a:avLst/>
          </a:prstGeom>
          <a:noFill/>
          <a:ln/>
        </p:spPr>
        <p:txBody>
          <a:bodyPr wrap="square" lIns="0" tIns="0" rIns="0" bIns="0" rtlCol="0" anchor="ctr"/>
          <a:lstStyle/>
          <a:p>
            <a:pPr indent="0" marL="0">
              <a:buNone/>
            </a:pPr>
            <a:r>
              <a:rPr lang="en-US" sz="1600" b="1" dirty="0">
                <a:solidFill>
                  <a:srgbClr val="CEB888"/>
                </a:solidFill>
                <a:latin typeface="Arial" pitchFamily="34" charset="0"/>
                <a:ea typeface="Arial" pitchFamily="34" charset="-122"/>
                <a:cs typeface="Arial" pitchFamily="34" charset="-120"/>
              </a:rPr>
              <a:t>We know the next gap precisely, and it is measurable.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782F40"/>
        </a:solidFill>
      </p:bgPr>
    </p:bg>
    <p:spTree>
      <p:nvGrpSpPr>
        <p:cNvPr id="1" name=""/>
        <p:cNvGrpSpPr/>
        <p:nvPr/>
      </p:nvGrpSpPr>
      <p:grpSpPr>
        <a:xfrm>
          <a:off x="0" y="0"/>
          <a:ext cx="0" cy="0"/>
          <a:chOff x="0" y="0"/>
          <a:chExt cx="0" cy="0"/>
        </a:xfrm>
      </p:grpSpPr>
      <p:pic>
        <p:nvPicPr>
          <p:cNvPr id="2" name="Image 0" descr="/home/bdgr/Agents/Ariadne/docs/showcase/build/assets/fsu-white.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on-dark.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DFD1A7"/>
                </a:solidFill>
                <a:latin typeface="Arial" pitchFamily="34" charset="0"/>
                <a:ea typeface="Arial" pitchFamily="34" charset="-122"/>
                <a:cs typeface="Arial" pitchFamily="34" charset="-120"/>
              </a:rPr>
              <a:t>12 / 13</a:t>
            </a:r>
            <a:endParaRPr lang="en-US" sz="900" dirty="0"/>
          </a:p>
        </p:txBody>
      </p:sp>
      <p:pic>
        <p:nvPicPr>
          <p:cNvPr id="6" name="Image 3" descr="/home/bdgr/Agents/Ariadne/docs/showcase/build/assets/closing-illustration.png">    </p:cNvPr>
          <p:cNvPicPr>
            <a:picLocks noChangeAspect="1"/>
          </p:cNvPicPr>
          <p:nvPr/>
        </p:nvPicPr>
        <p:blipFill>
          <a:blip r:embed="rId4"/>
          <a:stretch>
            <a:fillRect/>
          </a:stretch>
        </p:blipFill>
        <p:spPr>
          <a:xfrm>
            <a:off x="5212080" y="1234440"/>
            <a:ext cx="6537960" cy="4901184"/>
          </a:xfrm>
          <a:prstGeom prst="rect">
            <a:avLst/>
          </a:prstGeom>
        </p:spPr>
      </p:pic>
      <p:sp>
        <p:nvSpPr>
          <p:cNvPr id="7" name="Text 1"/>
          <p:cNvSpPr txBox="1"/>
          <p:nvPr/>
        </p:nvSpPr>
        <p:spPr>
          <a:xfrm>
            <a:off x="457200" y="1737360"/>
            <a:ext cx="45720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Thank you</a:t>
            </a:r>
            <a:endParaRPr lang="en-US" sz="4400" dirty="0"/>
          </a:p>
        </p:txBody>
      </p:sp>
      <p:sp>
        <p:nvSpPr>
          <p:cNvPr id="8" name="Text 2"/>
          <p:cNvSpPr txBox="1"/>
          <p:nvPr/>
        </p:nvSpPr>
        <p:spPr>
          <a:xfrm>
            <a:off x="457200" y="2697480"/>
            <a:ext cx="4572000" cy="548640"/>
          </a:xfrm>
          <a:prstGeom prst="rect">
            <a:avLst/>
          </a:prstGeom>
          <a:noFill/>
          <a:ln/>
        </p:spPr>
        <p:txBody>
          <a:bodyPr wrap="square" lIns="0" tIns="0" rIns="0" bIns="0" rtlCol="0" anchor="ctr"/>
          <a:lstStyle/>
          <a:p>
            <a:pPr indent="0" marL="0">
              <a:buNone/>
            </a:pPr>
            <a:r>
              <a:rPr lang="en-US" sz="2400" dirty="0">
                <a:solidFill>
                  <a:srgbClr val="CEB888"/>
                </a:solidFill>
                <a:latin typeface="Arial" pitchFamily="34" charset="0"/>
                <a:ea typeface="Arial" pitchFamily="34" charset="-122"/>
                <a:cs typeface="Arial" pitchFamily="34" charset="-120"/>
              </a:rPr>
              <a:t>Questions?</a:t>
            </a:r>
            <a:endParaRPr lang="en-US" sz="2400" dirty="0"/>
          </a:p>
        </p:txBody>
      </p:sp>
      <p:sp>
        <p:nvSpPr>
          <p:cNvPr id="9" name="Text 3"/>
          <p:cNvSpPr txBox="1"/>
          <p:nvPr/>
        </p:nvSpPr>
        <p:spPr>
          <a:xfrm>
            <a:off x="457200" y="3840480"/>
            <a:ext cx="4572000" cy="457200"/>
          </a:xfrm>
          <a:prstGeom prst="rect">
            <a:avLst/>
          </a:prstGeom>
          <a:noFill/>
          <a:ln/>
        </p:spPr>
        <p:txBody>
          <a:bodyPr wrap="square" lIns="0" tIns="0" rIns="0" bIns="0" rtlCol="0" anchor="ctr"/>
          <a:lstStyle/>
          <a:p>
            <a:pPr indent="0" marL="0">
              <a:buNone/>
            </a:pPr>
            <a:r>
              <a:rPr lang="en-US" sz="1500" i="1" dirty="0">
                <a:solidFill>
                  <a:srgbClr val="FFFFFF"/>
                </a:solidFill>
                <a:latin typeface="Arial" pitchFamily="34" charset="0"/>
                <a:ea typeface="Arial" pitchFamily="34" charset="-122"/>
                <a:cs typeface="Arial" pitchFamily="34" charset="-120"/>
              </a:rPr>
              <a:t>One question. Answers from many sources.</a:t>
            </a:r>
            <a:endParaRPr lang="en-US" sz="1500" dirty="0"/>
          </a:p>
        </p:txBody>
      </p:sp>
      <p:sp>
        <p:nvSpPr>
          <p:cNvPr id="10" name="Text 4"/>
          <p:cNvSpPr txBox="1"/>
          <p:nvPr/>
        </p:nvSpPr>
        <p:spPr>
          <a:xfrm>
            <a:off x="457200" y="4572000"/>
            <a:ext cx="4572000" cy="1280160"/>
          </a:xfrm>
          <a:prstGeom prst="rect">
            <a:avLst/>
          </a:prstGeom>
          <a:noFill/>
          <a:ln/>
        </p:spPr>
        <p:txBody>
          <a:bodyPr wrap="square" lIns="0" tIns="0" rIns="0" bIns="0" rtlCol="0" anchor="t"/>
          <a:lstStyle/>
          <a:p>
            <a:pPr indent="0" marL="0">
              <a:buNone/>
            </a:pPr>
            <a:r>
              <a:rPr lang="en-US" sz="1200" b="1" dirty="0">
                <a:solidFill>
                  <a:srgbClr val="FFFFFF"/>
                </a:solidFill>
                <a:latin typeface="Arial" pitchFamily="34" charset="0"/>
                <a:ea typeface="Arial" pitchFamily="34" charset="-122"/>
                <a:cs typeface="Arial" pitchFamily="34" charset="-120"/>
              </a:rPr>
              <a:t>Olmo S. Zavala Romero</a:t>
            </a:r>
            <a:pPr indent="0" marL="0">
              <a:buNone/>
            </a:pPr>
            <a:r>
              <a:rPr lang="en-US" sz="1200" dirty="0">
                <a:solidFill>
                  <a:srgbClr val="FFFFFF"/>
                </a:solidFill>
                <a:latin typeface="Arial" pitchFamily="34" charset="0"/>
                <a:ea typeface="Arial" pitchFamily="34" charset="-122"/>
                <a:cs typeface="Arial" pitchFamily="34" charset="-120"/>
              </a:rPr>
              <a:t> · PI</a:t>
            </a:r>
            <a:endParaRPr lang="en-US" sz="1200" dirty="0"/>
          </a:p>
          <a:p>
            <a:pPr indent="0" marL="0">
              <a:buNone/>
            </a:pPr>
            <a:r>
              <a:rPr lang="en-US" sz="1200" b="1" dirty="0">
                <a:solidFill>
                  <a:srgbClr val="FFFFFF"/>
                </a:solidFill>
                <a:latin typeface="Arial" pitchFamily="34" charset="0"/>
                <a:ea typeface="Arial" pitchFamily="34" charset="-122"/>
                <a:cs typeface="Arial" pitchFamily="34" charset="-120"/>
              </a:rPr>
              <a:t>Brendon DGR</a:t>
            </a:r>
            <a:pPr indent="0" marL="0">
              <a:buNone/>
            </a:pPr>
            <a:r>
              <a:rPr lang="en-US" sz="1200" dirty="0">
                <a:solidFill>
                  <a:srgbClr val="FFFFFF"/>
                </a:solidFill>
                <a:latin typeface="Arial" pitchFamily="34" charset="0"/>
                <a:ea typeface="Arial" pitchFamily="34" charset="-122"/>
                <a:cs typeface="Arial" pitchFamily="34" charset="-120"/>
              </a:rPr>
              <a:t> · technical lead</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Department of Scientific Computing, Florida State University</a:t>
            </a:r>
            <a:endParaRPr lang="en-US" sz="1200" dirty="0"/>
          </a:p>
          <a:p>
            <a:pPr indent="0" marL="0">
              <a:buNone/>
            </a:pPr>
            <a:r>
              <a:rPr lang="en-US" sz="1200" dirty="0">
                <a:solidFill>
                  <a:srgbClr val="CEB888"/>
                </a:solidFill>
                <a:latin typeface="Arial" pitchFamily="34" charset="0"/>
                <a:ea typeface="Arial" pitchFamily="34" charset="-122"/>
                <a:cs typeface="Arial" pitchFamily="34" charset="-120"/>
              </a:rPr>
              <a:t>github.com/brendondgr/Ariadne</a:t>
            </a:r>
            <a:endParaRPr lang="en-US" sz="1200" dirty="0"/>
          </a:p>
        </p:txBody>
      </p:sp>
      <p:sp>
        <p:nvSpPr>
          <p:cNvPr id="11" name="Text 5"/>
          <p:cNvSpPr txBox="1"/>
          <p:nvPr/>
        </p:nvSpPr>
        <p:spPr>
          <a:xfrm>
            <a:off x="5212080" y="6172200"/>
            <a:ext cx="6537960" cy="274320"/>
          </a:xfrm>
          <a:prstGeom prst="rect">
            <a:avLst/>
          </a:prstGeom>
          <a:noFill/>
          <a:ln/>
        </p:spPr>
        <p:txBody>
          <a:bodyPr wrap="square" lIns="0" tIns="0" rIns="0" bIns="0" rtlCol="0" anchor="ctr"/>
          <a:lstStyle/>
          <a:p>
            <a:pPr indent="0" marL="0">
              <a:buNone/>
            </a:pPr>
            <a:r>
              <a:rPr lang="en-US" sz="900" i="1" dirty="0">
                <a:solidFill>
                  <a:srgbClr val="DFD1A7"/>
                </a:solidFill>
                <a:latin typeface="Arial" pitchFamily="34" charset="0"/>
                <a:ea typeface="Arial" pitchFamily="34" charset="-122"/>
                <a:cs typeface="Arial" pitchFamily="34" charset="-120"/>
              </a:rPr>
              <a:t>Ariadne's thread guides travelers through the Gremlin and Cypher labyrinths.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bdgr/Agents/Ariadne/docs/showcase/build/assets/fsu-garnet-gold.png">    </p:cNvPr>
          <p:cNvPicPr>
            <a:picLocks noChangeAspect="1"/>
          </p:cNvPicPr>
          <p:nvPr/>
        </p:nvPicPr>
        <p:blipFill>
          <a:blip r:embed="rId1"/>
          <a:stretch>
            <a:fillRect/>
          </a:stretch>
        </p:blipFill>
        <p:spPr>
          <a:xfrm>
            <a:off x="457200" y="292608"/>
            <a:ext cx="1106424" cy="457200"/>
          </a:xfrm>
          <a:prstGeom prst="rect">
            <a:avLst/>
          </a:prstGeom>
        </p:spPr>
      </p:pic>
      <p:pic>
        <p:nvPicPr>
          <p:cNvPr id="3" name="Image 1" descr="/home/bdgr/Agents/Ariadne/docs/showcase/build/assets/reliaquest.png">    </p:cNvPr>
          <p:cNvPicPr>
            <a:picLocks noChangeAspect="1"/>
          </p:cNvPicPr>
          <p:nvPr/>
        </p:nvPicPr>
        <p:blipFill>
          <a:blip r:embed="rId2"/>
          <a:stretch>
            <a:fillRect/>
          </a:stretch>
        </p:blipFill>
        <p:spPr>
          <a:xfrm>
            <a:off x="1874520" y="374904"/>
            <a:ext cx="1325880" cy="292608"/>
          </a:xfrm>
          <a:prstGeom prst="rect">
            <a:avLst/>
          </a:prstGeom>
        </p:spPr>
      </p:pic>
      <p:pic>
        <p:nvPicPr>
          <p:cNvPr id="4" name="Image 2" descr="/home/bdgr/Agents/Ariadne/docs/showcase/build/assets/ariadne-mark.png">    </p:cNvPr>
          <p:cNvPicPr>
            <a:picLocks noChangeAspect="1"/>
          </p:cNvPicPr>
          <p:nvPr/>
        </p:nvPicPr>
        <p:blipFill>
          <a:blip r:embed="rId3"/>
          <a:stretch>
            <a:fillRect/>
          </a:stretch>
        </p:blipFill>
        <p:spPr>
          <a:xfrm>
            <a:off x="11201400" y="274320"/>
            <a:ext cx="530352" cy="457200"/>
          </a:xfrm>
          <a:prstGeom prst="rect">
            <a:avLst/>
          </a:prstGeom>
        </p:spPr>
      </p:pic>
      <p:sp>
        <p:nvSpPr>
          <p:cNvPr id="5" name="Text 0"/>
          <p:cNvSpPr txBox="1"/>
          <p:nvPr/>
        </p:nvSpPr>
        <p:spPr>
          <a:xfrm>
            <a:off x="10607040" y="6510528"/>
            <a:ext cx="1143000" cy="228600"/>
          </a:xfrm>
          <a:prstGeom prst="rect">
            <a:avLst/>
          </a:prstGeom>
          <a:noFill/>
          <a:ln/>
        </p:spPr>
        <p:txBody>
          <a:bodyPr wrap="square" lIns="0" tIns="0" rIns="0" bIns="0" rtlCol="0" anchor="ctr"/>
          <a:lstStyle/>
          <a:p>
            <a:pPr algn="r" indent="0" marL="0">
              <a:buNone/>
            </a:pPr>
            <a:r>
              <a:rPr lang="en-US" sz="900" dirty="0">
                <a:solidFill>
                  <a:srgbClr val="101820"/>
                </a:solidFill>
                <a:latin typeface="Arial" pitchFamily="34" charset="0"/>
                <a:ea typeface="Arial" pitchFamily="34" charset="-122"/>
                <a:cs typeface="Arial" pitchFamily="34" charset="-120"/>
              </a:rPr>
              <a:t>13 / 13</a:t>
            </a:r>
            <a:endParaRPr lang="en-US" sz="900" dirty="0"/>
          </a:p>
        </p:txBody>
      </p:sp>
      <p:sp>
        <p:nvSpPr>
          <p:cNvPr id="6" name="Text 1"/>
          <p:cNvSpPr txBox="1"/>
          <p:nvPr/>
        </p:nvSpPr>
        <p:spPr>
          <a:xfrm>
            <a:off x="457200" y="868680"/>
            <a:ext cx="11247120" cy="594360"/>
          </a:xfrm>
          <a:prstGeom prst="rect">
            <a:avLst/>
          </a:prstGeom>
          <a:noFill/>
          <a:ln/>
        </p:spPr>
        <p:txBody>
          <a:bodyPr wrap="square" lIns="0" tIns="0" rIns="0" bIns="0" rtlCol="0" anchor="ctr"/>
          <a:lstStyle/>
          <a:p>
            <a:pPr indent="0" marL="0">
              <a:buNone/>
            </a:pPr>
            <a:r>
              <a:rPr lang="en-US" sz="3000" b="1" dirty="0">
                <a:solidFill>
                  <a:srgbClr val="782F40"/>
                </a:solidFill>
                <a:latin typeface="Arial" pitchFamily="34" charset="0"/>
                <a:ea typeface="Arial" pitchFamily="34" charset="-122"/>
                <a:cs typeface="Arial" pitchFamily="34" charset="-120"/>
              </a:rPr>
              <a:t>Works cited</a:t>
            </a:r>
            <a:endParaRPr lang="en-US" sz="3000" dirty="0"/>
          </a:p>
        </p:txBody>
      </p:sp>
      <p:sp>
        <p:nvSpPr>
          <p:cNvPr id="7" name="Text 2"/>
          <p:cNvSpPr txBox="1"/>
          <p:nvPr/>
        </p:nvSpPr>
        <p:spPr>
          <a:xfrm>
            <a:off x="457200" y="1691640"/>
            <a:ext cx="5394960" cy="320040"/>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Data and tools</a:t>
            </a:r>
            <a:endParaRPr lang="en-US" sz="1300" dirty="0"/>
          </a:p>
        </p:txBody>
      </p:sp>
      <p:sp>
        <p:nvSpPr>
          <p:cNvPr id="8" name="Text 3"/>
          <p:cNvSpPr txBox="1"/>
          <p:nvPr/>
        </p:nvSpPr>
        <p:spPr>
          <a:xfrm>
            <a:off x="457200" y="2057400"/>
            <a:ext cx="5394960" cy="4206240"/>
          </a:xfrm>
          <a:prstGeom prst="rect">
            <a:avLst/>
          </a:prstGeom>
          <a:noFill/>
          <a:ln/>
        </p:spPr>
        <p:txBody>
          <a:bodyPr wrap="square" lIns="0" tIns="0" rIns="0" bIns="0" rtlCol="0" anchor="t"/>
          <a:lstStyle/>
          <a:p>
            <a:pPr indent="0" marL="0">
              <a:spcAft>
                <a:spcPts val="600"/>
              </a:spcAft>
              <a:buNone/>
            </a:pPr>
            <a:r>
              <a:rPr lang="en-US" sz="1000" dirty="0">
                <a:solidFill>
                  <a:srgbClr val="101820"/>
                </a:solidFill>
                <a:latin typeface="Arial" pitchFamily="34" charset="0"/>
                <a:ea typeface="Arial" pitchFamily="34" charset="-122"/>
                <a:cs typeface="Arial" pitchFamily="34" charset="-120"/>
              </a:rPr>
              <a:t>1.  MITRE ATT&amp;CK®. Enterprise ATT&amp;CK, STIX 2.1 data. https://github.com/mitre-attack/attack-stix-data</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2.  MITRE CAPEC™. Common Attack Pattern Enumeration and Classification, version 3.9. https://capec.mitre.org</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3.  Neo4j. Cypher Manual. https://neo4j.com/docs/cypher-manual/</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4.  Apache TinkerPop. The Gremlin Graph Traversal Language. https://tinkerpop.apache.org/gremlin.html</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5.  ISO/IEC 39075:2024. Information technology — Database languages — GQL. https://www.iso.org/standard/76120.html</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6.  LangChain. LangGraph. https://github.com/langchain-ai/langgraph</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7.  Amazon Web Services. Amazon Neptune documentation. https://docs.aws.amazon.com/neptune/</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8.  Google Cloud. Spanner Graph documentation. https://cloud.google.com/spanner/docs/graph</a:t>
            </a:r>
            <a:endParaRPr lang="en-US" sz="1000" dirty="0"/>
          </a:p>
        </p:txBody>
      </p:sp>
      <p:sp>
        <p:nvSpPr>
          <p:cNvPr id="9" name="Text 4"/>
          <p:cNvSpPr txBox="1"/>
          <p:nvPr/>
        </p:nvSpPr>
        <p:spPr>
          <a:xfrm>
            <a:off x="6309360" y="1691640"/>
            <a:ext cx="5440680" cy="320040"/>
          </a:xfrm>
          <a:prstGeom prst="rect">
            <a:avLst/>
          </a:prstGeom>
          <a:noFill/>
          <a:ln/>
        </p:spPr>
        <p:txBody>
          <a:bodyPr wrap="square" lIns="0" tIns="0" rIns="0" bIns="0" rtlCol="0" anchor="ctr"/>
          <a:lstStyle/>
          <a:p>
            <a:pPr indent="0" marL="0">
              <a:buNone/>
            </a:pPr>
            <a:r>
              <a:rPr lang="en-US" sz="1300" b="1" dirty="0">
                <a:solidFill>
                  <a:srgbClr val="782F40"/>
                </a:solidFill>
                <a:latin typeface="Arial" pitchFamily="34" charset="0"/>
                <a:ea typeface="Arial" pitchFamily="34" charset="-122"/>
                <a:cs typeface="Arial" pitchFamily="34" charset="-120"/>
              </a:rPr>
              <a:t>Prior and related work</a:t>
            </a:r>
            <a:endParaRPr lang="en-US" sz="1300" dirty="0"/>
          </a:p>
        </p:txBody>
      </p:sp>
      <p:sp>
        <p:nvSpPr>
          <p:cNvPr id="10" name="Text 5"/>
          <p:cNvSpPr txBox="1"/>
          <p:nvPr/>
        </p:nvSpPr>
        <p:spPr>
          <a:xfrm>
            <a:off x="6309360" y="2057400"/>
            <a:ext cx="5440680" cy="4206240"/>
          </a:xfrm>
          <a:prstGeom prst="rect">
            <a:avLst/>
          </a:prstGeom>
          <a:noFill/>
          <a:ln/>
        </p:spPr>
        <p:txBody>
          <a:bodyPr wrap="square" lIns="0" tIns="0" rIns="0" bIns="0" rtlCol="0" anchor="t"/>
          <a:lstStyle/>
          <a:p>
            <a:pPr indent="0" marL="0">
              <a:spcAft>
                <a:spcPts val="600"/>
              </a:spcAft>
              <a:buNone/>
            </a:pPr>
            <a:r>
              <a:rPr lang="en-US" sz="1000" dirty="0">
                <a:solidFill>
                  <a:srgbClr val="101820"/>
                </a:solidFill>
                <a:latin typeface="Arial" pitchFamily="34" charset="0"/>
                <a:ea typeface="Arial" pitchFamily="34" charset="-122"/>
                <a:cs typeface="Arial" pitchFamily="34" charset="-120"/>
              </a:rPr>
              <a:t>9.  Kurniawan, K., Ardian, R. F., Kiesling, E., &amp; Ekelhart, A. (2025). AgCyRAG: an Agentic Knowledge Graph based RAG Framework for Automated Security Analysis. RAGE-KG @ ISWC 2025, CEUR-WS Vol. 4079, 132–144.</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10.  Ozsoy, M. G. (2026). Toward Multi-Database Query Reasoning for Text2Cypher. arXiv:2605.10373.</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11.  Szlobodnyik, G. (2026). Feedback-Guided Prompt Injection Defense in Retrieval-Augmented Text-to-Cypher Generation. Analytics, 5(3), 25. https://doi.org/10.3390/analytics5030025</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12.  Leung, Belbahri, Sui, Labach, Zhang, Rose, &amp; Cresswell (2026). Classifying and Addressing the Diversity of Errors in Retrieval-Augmented Generation Systems. Proceedings of EACL 2026, 3185–3207.</a:t>
            </a:r>
            <a:endParaRPr lang="en-US" sz="1000" dirty="0"/>
          </a:p>
          <a:p>
            <a:pPr indent="0" marL="0">
              <a:spcAft>
                <a:spcPts val="600"/>
              </a:spcAft>
              <a:buNone/>
            </a:pPr>
            <a:r>
              <a:rPr lang="en-US" sz="1000" dirty="0">
                <a:solidFill>
                  <a:srgbClr val="101820"/>
                </a:solidFill>
                <a:latin typeface="Arial" pitchFamily="34" charset="0"/>
                <a:ea typeface="Arial" pitchFamily="34" charset="-122"/>
                <a:cs typeface="Arial" pitchFamily="34" charset="-120"/>
              </a:rPr>
              <a:t>13.  Zavala Romero, O. S., &amp; DGR, B. (2026). Ariadne: federated agentic access to cybersecurity knowledge graphs. Research record, docs/research/, https://github.com/brendondgr/Ariadne</a:t>
            </a:r>
            <a:endParaRPr lang="en-US" sz="1000" dirty="0"/>
          </a:p>
        </p:txBody>
      </p:sp>
      <p:sp>
        <p:nvSpPr>
          <p:cNvPr id="11" name="Text 6"/>
          <p:cNvSpPr txBox="1"/>
          <p:nvPr/>
        </p:nvSpPr>
        <p:spPr>
          <a:xfrm>
            <a:off x="457200" y="5943600"/>
            <a:ext cx="11247120" cy="457200"/>
          </a:xfrm>
          <a:prstGeom prst="rect">
            <a:avLst/>
          </a:prstGeom>
          <a:noFill/>
          <a:ln/>
        </p:spPr>
        <p:txBody>
          <a:bodyPr wrap="square" lIns="0" tIns="0" rIns="0" bIns="0" rtlCol="0" anchor="t"/>
          <a:lstStyle/>
          <a:p>
            <a:pPr indent="0" marL="0">
              <a:buNone/>
            </a:pPr>
            <a:r>
              <a:rPr lang="en-US" sz="900" i="1" dirty="0">
                <a:solidFill>
                  <a:srgbClr val="101820"/>
                </a:solidFill>
                <a:latin typeface="Arial" pitchFamily="34" charset="0"/>
                <a:ea typeface="Arial" pitchFamily="34" charset="-122"/>
                <a:cs typeface="Arial" pitchFamily="34" charset="-120"/>
              </a:rPr>
              <a:t>ATT&amp;CK® and CAPEC™ are trademarks of The MITRE Corporation. The ReliaQuest and Florida State University marks belong to their owners. Closing illustration and figures on slides 2–3: Ariadne project, O. Zavala Romero,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Ariadne — One question. Answers from many sources.</dc:title>
  <dc:subject>PptxGenJS Presentation</dc:subject>
  <dc:creator>Brendon DGR · FSU Scientific Computing</dc:creator>
  <cp:lastModifiedBy>Brendon DGR · FSU Scientific Computing</cp:lastModifiedBy>
  <cp:revision>1</cp:revision>
  <dcterms:created xsi:type="dcterms:W3CDTF">2026-09-16T16:53:13Z</dcterms:created>
  <dcterms:modified xsi:type="dcterms:W3CDTF">2026-09-16T16:53:13Z</dcterms:modified>
</cp:coreProperties>
</file>