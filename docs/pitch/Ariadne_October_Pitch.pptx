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Correctness</c:v>
                </c:pt>
              </c:strCache>
            </c:strRef>
          </c:tx>
          <c:spPr>
            <a:solidFill>
              <a:srgbClr val="6B7C93"/>
            </a:solidFill>
            <a:effectLst/>
          </c:spPr>
          <c:invertIfNegative val="0"/>
          <c:dLbls>
            <c:numFmt formatCode="0.00" sourceLinked="0"/>
            <c:txPr>
              <a:bodyPr/>
              <a:lstStyle/>
              <a:p>
                <a:pPr>
                  <a:defRPr b="1" i="0" strike="noStrike" sz="1400" u="none">
                    <a:solidFill>
                      <a:srgbClr val="F3F6FA"/>
                    </a:solidFill>
                    <a:latin typeface="Arial"/>
                  </a:defRPr>
                </a:pPr>
              </a:p>
            </c:txPr>
            <c:showLegendKey val="0"/>
            <c:showVal val="1"/>
            <c:showCatName val="0"/>
            <c:showSerName val="0"/>
            <c:showPercent val="0"/>
            <c:showBubbleSize val="0"/>
            <c:showLeaderLines val="0"/>
          </c:dLbls>
          <c:dPt>
            <c:idx val="0"/>
            <c:invertIfNegative val="0"/>
            <c:bubble3D val="0"/>
            <c:spPr>
              <a:solidFill>
                <a:srgbClr val="6B7C93"/>
              </a:solidFill>
              <a:effectLst/>
            </c:spPr>
          </c:dPt>
          <c:dPt>
            <c:idx val="1"/>
            <c:invertIfNegative val="0"/>
            <c:bubble3D val="0"/>
            <c:spPr>
              <a:solidFill>
                <a:srgbClr val="D9922F"/>
              </a:solidFill>
              <a:effectLst/>
            </c:spPr>
          </c:dPt>
          <c:dPt>
            <c:idx val="2"/>
            <c:invertIfNegative val="0"/>
            <c:bubble3D val="0"/>
            <c:spPr>
              <a:solidFill>
                <a:srgbClr val="3FBFC5"/>
              </a:solidFill>
              <a:effectLst/>
            </c:spPr>
          </c:dPt>
          <c:cat>
            <c:multiLvlStrRef>
              <c:f>Sheet1!$A$2:$A$4</c:f>
              <c:multiLvlStrCache>
                <c:ptCount val="3"/>
                <c:lvl>
                  <c:pt idx="0">
                    <c:v>AI writes the query</c:v>
                  </c:pt>
                  <c:pt idx="1">
                    <c:v>Hand-written queries</c:v>
                  </c:pt>
                  <c:pt idx="2">
                    <c:v>Reads the database's own structure</c:v>
                  </c:pt>
                </c:lvl>
              </c:multiLvlStrCache>
            </c:multiLvlStrRef>
          </c:cat>
          <c:val>
            <c:numRef>
              <c:f>Sheet1!$B$2:$B$4</c:f>
              <c:numCache>
                <c:formatCode>General</c:formatCode>
                <c:ptCount val="3"/>
                <c:pt idx="0">
                  <c:v>0.4039</c:v>
                </c:pt>
                <c:pt idx="1">
                  <c:v>0.4862</c:v>
                </c:pt>
                <c:pt idx="2">
                  <c:v>0.6546</c:v>
                </c:pt>
              </c:numCache>
            </c:numRef>
          </c:val>
        </c:ser>
        <c:dLbls>
          <c:numFmt formatCode="0.00" sourceLinked="0"/>
          <c:txPr>
            <a:bodyPr/>
            <a:lstStyle/>
            <a:p>
              <a:pPr>
                <a:defRPr b="1" i="0" strike="noStrike" sz="1400" u="none">
                  <a:solidFill>
                    <a:srgbClr val="F3F6FA"/>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F3F6FA"/>
                </a:solidFill>
                <a:latin typeface="Calibri"/>
              </a:defRPr>
            </a:pPr>
            <a:endParaRPr lang="en-US"/>
          </a:p>
        </c:txPr>
        <c:crossAx val="2094734552"/>
        <c:crosses val="autoZero"/>
        <c:auto val="1"/>
        <c:lblAlgn val="ctr"/>
        <c:noMultiLvlLbl val="1"/>
      </c:catAx>
      <c:valAx>
        <c:axId val="2094734552"/>
        <c:scaling>
          <c:orientation val="minMax"/>
          <c:max val="0.8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72236"/>
        </a:solidFill>
        <a:ln>
          <a:noFill/>
        </a:ln>
        <a:effectLst/>
      </c:spPr>
    </c:plotArea>
    <c:plotVisOnly val="1"/>
    <c:dispBlanksAs val="span"/>
  </c:chart>
  <c:spPr>
    <a:solidFill>
      <a:srgbClr val="17223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Correctness (120 dev questions, July)</c:v>
                </c:pt>
              </c:strCache>
            </c:strRef>
          </c:tx>
          <c:spPr>
            <a:solidFill>
              <a:srgbClr val="6B7C93"/>
            </a:solidFill>
            <a:effectLst/>
          </c:spPr>
          <c:invertIfNegative val="0"/>
          <c:dLbls>
            <c:numFmt formatCode="0.000" sourceLinked="0"/>
            <c:txPr>
              <a:bodyPr/>
              <a:lstStyle/>
              <a:p>
                <a:pPr>
                  <a:defRPr b="0" i="0" strike="noStrike" sz="1000" u="none">
                    <a:solidFill>
                      <a:srgbClr val="F3F6FA"/>
                    </a:solidFill>
                    <a:latin typeface="Arial"/>
                  </a:defRPr>
                </a:pPr>
              </a:p>
            </c:txPr>
            <c:showLegendKey val="0"/>
            <c:showVal val="1"/>
            <c:showCatName val="0"/>
            <c:showSerName val="0"/>
            <c:showPercent val="0"/>
            <c:showBubbleSize val="0"/>
            <c:showLeaderLines val="0"/>
          </c:dLbls>
          <c:dPt>
            <c:idx val="0"/>
            <c:invertIfNegative val="0"/>
            <c:bubble3D val="0"/>
            <c:spPr>
              <a:solidFill>
                <a:srgbClr val="6B7C93"/>
              </a:solidFill>
              <a:effectLst/>
            </c:spPr>
          </c:dPt>
          <c:dPt>
            <c:idx val="1"/>
            <c:invertIfNegative val="0"/>
            <c:bubble3D val="0"/>
            <c:spPr>
              <a:solidFill>
                <a:srgbClr val="D9922F"/>
              </a:solidFill>
              <a:effectLst/>
            </c:spPr>
          </c:dPt>
          <c:dPt>
            <c:idx val="2"/>
            <c:invertIfNegative val="0"/>
            <c:bubble3D val="0"/>
            <c:spPr>
              <a:solidFill>
                <a:srgbClr val="D9922F"/>
              </a:solidFill>
              <a:effectLst/>
            </c:spPr>
          </c:dPt>
          <c:dPt>
            <c:idx val="3"/>
            <c:invertIfNegative val="0"/>
            <c:bubble3D val="0"/>
            <c:spPr>
              <a:solidFill>
                <a:srgbClr val="3FBFC5"/>
              </a:solidFill>
              <a:effectLst/>
            </c:spPr>
          </c:dPt>
          <c:dPt>
            <c:idx val="4"/>
            <c:invertIfNegative val="0"/>
            <c:bubble3D val="0"/>
            <c:spPr>
              <a:solidFill>
                <a:srgbClr val="3FBFC5"/>
              </a:solidFill>
              <a:effectLst/>
            </c:spPr>
          </c:dPt>
          <c:dPt>
            <c:idx val="5"/>
            <c:invertIfNegative val="0"/>
            <c:bubble3D val="0"/>
            <c:spPr>
              <a:solidFill>
                <a:srgbClr val="3FBFC5"/>
              </a:solidFill>
              <a:effectLst/>
            </c:spPr>
          </c:dPt>
          <c:cat>
            <c:multiLvlStrRef>
              <c:f>Sheet1!$A$2:$A$7</c:f>
              <c:multiLvlStrCache>
                <c:ptCount val="6"/>
                <c:lvl>
                  <c:pt idx="0">
                    <c:v>G · templates off (old generic path)</c:v>
                  </c:pt>
                  <c:pt idx="1">
                    <c:v>B · AI-planned</c:v>
                  </c:pt>
                  <c:pt idx="2">
                    <c:v>E · AI-planned + loop</c:v>
                  </c:pt>
                  <c:pt idx="3">
                    <c:v>C · AI narrator on raw evidence</c:v>
                  </c:pt>
                  <c:pt idx="4">
                    <c:v>F · deterministic + AI narrator</c:v>
                  </c:pt>
                  <c:pt idx="5">
                    <c:v>A · fully deterministic</c:v>
                  </c:pt>
                </c:lvl>
              </c:multiLvlStrCache>
            </c:multiLvlStrRef>
          </c:cat>
          <c:val>
            <c:numRef>
              <c:f>Sheet1!$B$2:$B$7</c:f>
              <c:numCache>
                <c:formatCode>General</c:formatCode>
                <c:ptCount val="6"/>
                <c:pt idx="0">
                  <c:v>0.6388</c:v>
                </c:pt>
                <c:pt idx="1">
                  <c:v>0.8505</c:v>
                </c:pt>
                <c:pt idx="2">
                  <c:v>0.856</c:v>
                </c:pt>
                <c:pt idx="3">
                  <c:v>0.969</c:v>
                </c:pt>
                <c:pt idx="4">
                  <c:v>0.9957</c:v>
                </c:pt>
                <c:pt idx="5">
                  <c:v>0.9972</c:v>
                </c:pt>
              </c:numCache>
            </c:numRef>
          </c:val>
        </c:ser>
        <c:dLbls>
          <c:numFmt formatCode="0.000" sourceLinked="0"/>
          <c:txPr>
            <a:bodyPr/>
            <a:lstStyle/>
            <a:p>
              <a:pPr>
                <a:defRPr b="0" i="0" strike="noStrike" sz="1000" u="none">
                  <a:solidFill>
                    <a:srgbClr val="F3F6FA"/>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F3F6FA"/>
                </a:solidFill>
                <a:latin typeface="Arial"/>
              </a:defRPr>
            </a:pPr>
            <a:endParaRPr lang="en-US"/>
          </a:p>
        </c:txPr>
        <c:crossAx val="2094734552"/>
        <c:crosses val="autoZero"/>
        <c:auto val="1"/>
        <c:lblAlgn val="ctr"/>
        <c:noMultiLvlLbl val="1"/>
      </c:catAx>
      <c:valAx>
        <c:axId val="2094734552"/>
        <c:scaling>
          <c:orientation val="minMax"/>
          <c:max val="1.2"/>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E1726"/>
        </a:solidFill>
        <a:ln>
          <a:noFill/>
        </a:ln>
        <a:effectLst/>
      </c:spPr>
    </c:plotArea>
    <c:plotVisOnly val="1"/>
    <c:dispBlanksAs val="span"/>
  </c:chart>
  <c:spPr>
    <a:solidFill>
      <a:srgbClr val="0E1726"/>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 target 0:25.
SAY:
One question. Every database. A receipt for every sentence.
I'm Brendon, and this is Ariadne. It lets a security analyst ask one question across databases that don't share a language — without copying any of them — and every sentence of the answer comes with the record and the query that produced it. Here's the problem it solves.
HOW: Say the three lines slowly, with a beat between each. Look up, not at the slide. The word 'receipt' is the hook — hit it. Do not introduce the grant, the challenge number or the team; the slide does that.
IF LONG, CUT: Nothing. This is 25 seconds.
SOURCES: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 target 0:40.
SAY:
Imagine two encyclopedias on the same subject — one in French, one in German — and no way to ask both a question at once. That is security knowledge today.
ATT&amp;CK in one database, one language. CAPEC in another. A customer's own identity graph in a third.
So today you have three options. Do it by hand — every time. Copy everything into one warehouse — stale the day it lands. Or ask a chatbot — which hallucinates.
A hallucination is when the AI states something as a fact that is not actually in the data. In security, an answer you can't trace is an answer you can't act on.
HOW: The encyclopedia line is for the non-technical half of the room; give it a full sentence of silence after. Point at the three option cards as you name them. Define 'hallucination' word-for-word from the slide — the interview feedback said people didn't know what it meant. Do not say 'ETL', 'Cypher', 'Gremlin' or 'federated' on this slide.
IF LONG, CUT: The 'customer's own identity graph is a third' sentence — it comes back on slide 7.
SOURCES: docs/purpose.md · docs/proposal/RFP.md (Challenge Three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 target 0:40.
SAY:
So we don't merge the databases. We federate the question — and we keep the receipts. Four parts.
One: every database gets a one-page spec sheet — what it holds, how to connect, what a query may never do.
Two: a planner reads those sheets and writes a plan we can check, before anything is queried.
Three: one translator per database asks it in its own language. Read-only.
Four: a verifier. Every claim is built from a record that actually came back, and carries that record and the query with it.
Two rules. No AI ever writes a query. And no claim without a record behind it.
HOW: Point at each card as you number it — the back of the room can't read the body text and doesn't need to. The two rules at the bottom are the technical-credibility line: say them slowly and stop. If an engineer is in the room, they will want to ask about rule one; let them ask in Q&amp;A (answer in the appendix). Say 'source card' once, in passing, so the term on later slides isn't new.
IF LONG, CUT: The descriptions under parts 2 and 3 — name them and move on.
SOURCES: README.md ('What actually runs') · docs/source_cards.md · docs/planner_agent.md · docs/specialist_agents.md · utils/synthesis/verifier.py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AN ANSWER ACTUALLY LOOKS LIKE — target 0:40.
SAY:
A real question: which ATT&amp;CK techniques does this stolen-credentials attack pattern map to, and what mitigations apply?
The plan splits it — CAPEC first, then ATT&amp;CK. Two queries, two languages. The answer: three techniques, their mitigations — and every chip is a citation to the actual record.
Now the one I care about more. A question the data cannot answer. It says so — and attaches the query it ran, as proof. Zero claims. Zero invented mappings.
A chatbot can invent a mapping here. Ariadne can't — there is no record to build a claim from.
HOW: This is the slide Reviewer 3 asked for: a tangible output. Left card: walk top to bottom with your hand — question, plan, queries, answer — don't read the queries. Right card: slow down. 'Zero claims, zero invented mappings' is the practical-impact line for a security buyer. Both outputs are verbatim from committed answer files; say 'these are real outputs from our evaluation record, not mock-ups' if you have time.
IF LONG, CUT: The 'two queries, two languages' sentence.
SOURCES: docs/evaluation/experiments/untruncated-loop/llm_loop/answers/F-CTM-02.json · F-NEG-01.json · docs/agent-interfaces.md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 target 0:45.
SAY:
In August we showed you ninety-nine percent — on questions we had written ourselves. So we did this properly.
Two hundred and eighty-eight questions held back from development and never graded until this run. Three ways of answering, graded by two independent models.
Reading the database's own structure: point six five. Hand-written queries: point four nine. Letting the AI write the query: point four zero. Both graders agree on that order. These are the blind numbers — the honest ones.
And cost. Same questions: hand-written took four seconds. Letting the AI write the queries took two days. Forty thousand times.
But the number that matters most for security is zero. Zero made-up claims — by construction, not by filtering. And every one of two hundred and forty adversarial queries blocked.
HOW: Never cut this slide. Own the August-to-now change before anyone asks: 'we refuted our own headline and wrote it down' is the most credible sentence in the deck. Point at the top bar when you say 0.65. Say '40,000 times' and stop for a beat. The words 'arm', 'deterministic', 'generic', 'holdout' and 'template cascade' do not appear anywhere in this script — keep it that way.
IF LONG, CUT: Nothing here. Cut slide 6 instead.
SOURCES: EXP-2026-09-007 (holdout n=288; grader qwen38-27B-v2; gemma4-31B agrees on ordering) · docs/reports/2026-09-05-full-report.md (cost, 284-question dev half) · EXP-2026-08-016 (240 probes) · EXP-2026-08-014 (verifier: unsupported claims are unconstructible)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SCALES ACROSS DATABASES — target 0:30.
SAY:
Does it scale? Three live databases, two query languages, one process — and when we added the third, not one of a hundred and seventeen results changed.
Compare merging: to fit ATT&amp;CK and CAPEC into one warehouse we had to rewrite one thousand and eighty-three records. Federation rewrote zero.
A new query language is four documented swap points. Neptune and Spanner Graph are next.
HOW: Reviewer 1's slide. The '0 vs 1,083' number is the one to land — it is the structural answer to 'why not just merge?'. Do NOT say federation is more accurate than merging; it isn't measurably, and the backup slide says so. Name Neptune and Spanner because the challenge text names them.
IF LONG, CUT: The whole slide, if you are past 3:15 when you reach it — fold the 'three databases, one process' line into slide 7's opening.
SOURCES: EXP-2026-08-013 (tri-source; zero answers changed 1→3 sources, n=117) · EXP-2026-08-017 (1,083 of 9,138 nodes edited by merging) · docs/migration-guide.md (four swap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ALREADY RUNS ON RELIAQUEST'S SCHEMA — target 0:40.
SAY:
And this is where it meets ReliaQuest. In August you shared the structure of your customer identity graph — seventy-two node types across Active Directory, Entra, Okta, AWS and GCP — and zero customer records.
The spec sheet is all Ariadne needs. Customer data never has to leave the customer.
First run: nothing. Five generic fixes later, reading the schema retrieves the right records on two-thirds of the questions; hand-written queries on one in eight — on synthetic records shaped to the real schema.
And the bridge. A DCSync relationship in that graph is ATT&amp;CK technique T1003.006. One question can now span your own graph and the public catalogues. And where there is no mapping, it refused — twelve out of twelve. Zero false claims.
HOW: Reviewer 2's slide, and the practical-impact slide. Say 'synthetic records shaped to the real schema' out loud — if you don't, an engineer will ask and it will sound like you hid it. Read the example question in the amber box in an analyst's voice. If ReliaQuest engineers are in the room, look at them for 'customer data never has to leave the customer'.
IF LONG, CUT: The 'first run: nothing' sentence — go straight to the 0.79.
SOURCES: EXP-2026-08-011 A-10 (retrieval recall 0.657 vs 0.127, precision 0.136 vs 0.057; n=117, synthetic instances; five fixes in commit 74d027e; 1,250 MITRE tests unchanged) · EXP-2026-08-013 (bridge: 13 of 21 edges mapped; 12/12 refusals) · docs/research/datasets/cards/reliaquest-identity-catalog.md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IT BREAKS — AND THE NEXT STEPS — target 0:35.
SAY:
Here is the weakness, before you ask. Ask by identifier — it works. Reword the question — about half. Paraphrase the name — zero of a hundred and four.
Notice what it does. It stops finding the right record — it never fabricates one, and the query it ran is attached, so a miss is visible. That is a retrieval problem, and it is measured. So it is the next step.
Close the vocabulary gap, tracked weekly. Put a person in the loop — today every score is a model grading a model. Pilot inside ReliaQuest's environment, on real records, where nothing leaves. And Neptune and Spanner Graph as engines three and four.
HOW: Leading with the weakness is what makes the rest of the deck credible — do not soften it. 'It stops finding things; it does not start inventing them' is the line to memorise. The four steps are outcomes, not a budget; if asked for a dollar figure, the Q&amp;A appendix has the answer.
IF LONG, CUT: Step 4 (engines) — it was already said on slide 6.
SOURCES: EXP-2026-08-020 (variant robustness: T1 0.4667, T4 0.0000 on 104; abstains rather than dumps) · docs/research/OPEN_QUESTIONS.md · docs/research/paper/venue-readiness-2026-09.md ('No person has ever checked a single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 target 0:10.
SAY:
Disparate databases. One question. A receipt for every sentence. Thank you.
HOW: Say it, stop, and wait. The slide says 'Questions?' so you don't have to.
IF LONG, CUT: Nothing.
SOURCES: Counts: 248 commits since Aug 6, 41 experiments on record (30 since Aug 6), ~100k lines of Python (utils/api/scripts), 1,746 test functions in 182 test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Do not show in the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'how many runs / error bars / why lower than August'.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if someone asks about the August numbers. Say: we refuted our own headline and wrote 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'why not just merge?' and 'how do you know it is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'what does it take to add our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822960"/>
            <a:ext cx="2651760" cy="2779776"/>
          </a:xfrm>
          <a:prstGeom prst="rect">
            <a:avLst/>
          </a:prstGeom>
        </p:spPr>
      </p:pic>
      <p:sp>
        <p:nvSpPr>
          <p:cNvPr id="3" name="Text 0"/>
          <p:cNvSpPr txBox="1"/>
          <p:nvPr/>
        </p:nvSpPr>
        <p:spPr>
          <a:xfrm>
            <a:off x="3657600" y="1005840"/>
            <a:ext cx="5120640" cy="2103120"/>
          </a:xfrm>
          <a:prstGeom prst="rect">
            <a:avLst/>
          </a:prstGeom>
          <a:noFill/>
          <a:ln/>
        </p:spPr>
        <p:txBody>
          <a:bodyPr wrap="square" lIns="0" tIns="0" rIns="0" bIns="0" rtlCol="0" anchor="ctr"/>
          <a:lstStyle/>
          <a:p>
            <a:pPr indent="0" marL="0">
              <a:lnSpc>
                <a:spcPct val="105000"/>
              </a:lnSpc>
              <a:buNone/>
            </a:pPr>
            <a:r>
              <a:rPr lang="en-US" sz="3200" b="1" dirty="0">
                <a:solidFill>
                  <a:srgbClr val="F3F6FA"/>
                </a:solidFill>
                <a:latin typeface="Calibri" pitchFamily="34" charset="0"/>
                <a:ea typeface="Calibri" pitchFamily="34" charset="-122"/>
                <a:cs typeface="Calibri" pitchFamily="34" charset="-120"/>
              </a:rPr>
              <a:t>One question.</a:t>
            </a:r>
            <a:endParaRPr lang="en-US" sz="3200" dirty="0"/>
          </a:p>
          <a:p>
            <a:pPr indent="0" marL="0">
              <a:lnSpc>
                <a:spcPct val="105000"/>
              </a:lnSpc>
              <a:buNone/>
            </a:pPr>
            <a:r>
              <a:rPr lang="en-US" sz="3200" b="1" dirty="0">
                <a:solidFill>
                  <a:srgbClr val="F3F6FA"/>
                </a:solidFill>
                <a:latin typeface="Calibri" pitchFamily="34" charset="0"/>
                <a:ea typeface="Calibri" pitchFamily="34" charset="-122"/>
                <a:cs typeface="Calibri" pitchFamily="34" charset="-120"/>
              </a:rPr>
              <a:t>Every database.</a:t>
            </a:r>
            <a:endParaRPr lang="en-US" sz="3200" dirty="0"/>
          </a:p>
          <a:p>
            <a:pPr indent="0" marL="0">
              <a:lnSpc>
                <a:spcPct val="105000"/>
              </a:lnSpc>
              <a:buNone/>
            </a:pPr>
            <a:r>
              <a:rPr lang="en-US" sz="3200" b="1" dirty="0">
                <a:solidFill>
                  <a:srgbClr val="F3F6FA"/>
                </a:solidFill>
                <a:latin typeface="Calibri" pitchFamily="34" charset="0"/>
                <a:ea typeface="Calibri" pitchFamily="34" charset="-122"/>
                <a:cs typeface="Calibri" pitchFamily="34" charset="-120"/>
              </a:rPr>
              <a:t>A receipt for every sentence.</a:t>
            </a:r>
            <a:endParaRPr lang="en-US" sz="3200" dirty="0"/>
          </a:p>
        </p:txBody>
      </p:sp>
      <p:sp>
        <p:nvSpPr>
          <p:cNvPr id="4" name="Text 1"/>
          <p:cNvSpPr txBox="1"/>
          <p:nvPr/>
        </p:nvSpPr>
        <p:spPr>
          <a:xfrm>
            <a:off x="3657600" y="3291840"/>
            <a:ext cx="5120640" cy="914400"/>
          </a:xfrm>
          <a:prstGeom prst="rect">
            <a:avLst/>
          </a:prstGeom>
          <a:noFill/>
          <a:ln/>
        </p:spPr>
        <p:txBody>
          <a:bodyPr wrap="square" lIns="0" tIns="0" rIns="0" bIns="0" rtlCol="0" anchor="t"/>
          <a:lstStyle/>
          <a:p>
            <a:pPr indent="0" marL="0">
              <a:spcAft>
                <a:spcPts val="400"/>
              </a:spcAft>
              <a:buNone/>
            </a:pPr>
            <a:r>
              <a:rPr lang="en-US" sz="1150" dirty="0">
                <a:solidFill>
                  <a:srgbClr val="9AAABE"/>
                </a:solidFill>
                <a:latin typeface="Calibri" pitchFamily="34" charset="0"/>
                <a:ea typeface="Calibri" pitchFamily="34" charset="-122"/>
                <a:cs typeface="Calibri" pitchFamily="34" charset="-120"/>
              </a:rPr>
              <a:t>Ariadne · federated knowledge for cybersecurity</a:t>
            </a:r>
            <a:endParaRPr lang="en-US" sz="1150" dirty="0"/>
          </a:p>
          <a:p>
            <a:pPr indent="0" marL="0">
              <a:spcAft>
                <a:spcPts val="400"/>
              </a:spcAft>
              <a:buNone/>
            </a:pPr>
            <a:r>
              <a:rPr lang="en-US" sz="1150" dirty="0">
                <a:solidFill>
                  <a:srgbClr val="6B7C93"/>
                </a:solidFill>
                <a:latin typeface="Calibri" pitchFamily="34" charset="0"/>
                <a:ea typeface="Calibri" pitchFamily="34" charset="-122"/>
                <a:cs typeface="Calibri" pitchFamily="34" charset="-120"/>
              </a:rPr>
              <a:t>Olmo S. Zavala Romero, PI  ·  Brendon DGR, technical lead  ·  FSU Scientific Computing</a:t>
            </a:r>
            <a:endParaRPr lang="en-US" sz="1150" dirty="0"/>
          </a:p>
          <a:p>
            <a:pPr indent="0" marL="0">
              <a:spcAft>
                <a:spcPts val="400"/>
              </a:spcAft>
              <a:buNone/>
            </a:pPr>
            <a:r>
              <a:rPr lang="en-US" sz="1150" dirty="0">
                <a:solidFill>
                  <a:srgbClr val="6B7C93"/>
                </a:solidFill>
                <a:latin typeface="Calibri" pitchFamily="34" charset="0"/>
                <a:ea typeface="Calibri" pitchFamily="34" charset="-122"/>
                <a:cs typeface="Calibri" pitchFamily="34" charset="-120"/>
              </a:rPr>
              <a:t>ReliaQuest Innovation Challenge · October 19,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7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75320" y="256032"/>
            <a:ext cx="384048" cy="329184"/>
          </a:xfrm>
          <a:prstGeom prst="rect">
            <a:avLst/>
          </a:prstGeom>
        </p:spPr>
      </p:pic>
      <p:sp>
        <p:nvSpPr>
          <p:cNvPr id="3" name="Text 0"/>
          <p:cNvSpPr txBox="1"/>
          <p:nvPr/>
        </p:nvSpPr>
        <p:spPr>
          <a:xfrm>
            <a:off x="457200" y="292608"/>
            <a:ext cx="7680960" cy="685800"/>
          </a:xfrm>
          <a:prstGeom prst="rect">
            <a:avLst/>
          </a:prstGeom>
          <a:noFill/>
          <a:ln/>
        </p:spPr>
        <p:txBody>
          <a:bodyPr wrap="square" lIns="0" tIns="0" rIns="0" bIns="0" rtlCol="0" anchor="ctr"/>
          <a:lstStyle/>
          <a:p>
            <a:pPr indent="0" marL="0">
              <a:buNone/>
            </a:pPr>
            <a:r>
              <a:rPr lang="en-US" sz="2200" b="1" dirty="0">
                <a:solidFill>
                  <a:srgbClr val="F3F6FA"/>
                </a:solidFill>
                <a:latin typeface="Calibri" pitchFamily="34" charset="0"/>
                <a:ea typeface="Calibri" pitchFamily="34" charset="-122"/>
                <a:cs typeface="Calibri" pitchFamily="34" charset="-120"/>
              </a:rPr>
              <a:t>Security knowledge lives in databases that don't speak the same language</a:t>
            </a:r>
            <a:endParaRPr lang="en-US" sz="2200" dirty="0"/>
          </a:p>
        </p:txBody>
      </p:sp>
      <p:sp>
        <p:nvSpPr>
          <p:cNvPr id="4" name="Shape 1"/>
          <p:cNvSpPr/>
          <p:nvPr/>
        </p:nvSpPr>
        <p:spPr>
          <a:xfrm>
            <a:off x="457200" y="1371600"/>
            <a:ext cx="3566160" cy="640080"/>
          </a:xfrm>
          <a:prstGeom prst="roundRect">
            <a:avLst>
              <a:gd name="adj" fmla="val 11429"/>
            </a:avLst>
          </a:prstGeom>
          <a:solidFill>
            <a:srgbClr val="172236"/>
          </a:solidFill>
          <a:ln w="9525">
            <a:solidFill>
              <a:srgbClr val="2B3D57"/>
            </a:solidFill>
            <a:prstDash val="solid"/>
          </a:ln>
        </p:spPr>
      </p:sp>
      <p:pic>
        <p:nvPicPr>
          <p:cNvPr id="5" name="Image 1" descr="preencoded.png">    </p:cNvPr>
          <p:cNvPicPr>
            <a:picLocks noChangeAspect="1"/>
          </p:cNvPicPr>
          <p:nvPr/>
        </p:nvPicPr>
        <p:blipFill>
          <a:blip r:embed="rId2"/>
          <a:stretch>
            <a:fillRect/>
          </a:stretch>
        </p:blipFill>
        <p:spPr>
          <a:xfrm>
            <a:off x="640080" y="1536192"/>
            <a:ext cx="310896" cy="310896"/>
          </a:xfrm>
          <a:prstGeom prst="rect">
            <a:avLst/>
          </a:prstGeom>
        </p:spPr>
      </p:pic>
      <p:sp>
        <p:nvSpPr>
          <p:cNvPr id="6" name="Text 2"/>
          <p:cNvSpPr txBox="1"/>
          <p:nvPr/>
        </p:nvSpPr>
        <p:spPr>
          <a:xfrm>
            <a:off x="1097280" y="1371600"/>
            <a:ext cx="2834640" cy="640080"/>
          </a:xfrm>
          <a:prstGeom prst="rect">
            <a:avLst/>
          </a:prstGeom>
          <a:noFill/>
          <a:ln/>
        </p:spPr>
        <p:txBody>
          <a:bodyPr wrap="square" lIns="0" tIns="0" rIns="0" bIns="0" rtlCol="0" anchor="ctr"/>
          <a:lstStyle/>
          <a:p>
            <a:pPr indent="0" marL="0">
              <a:buNone/>
            </a:pPr>
            <a:r>
              <a:rPr lang="en-US" sz="1200" b="1" dirty="0">
                <a:solidFill>
                  <a:srgbClr val="F3F6FA"/>
                </a:solidFill>
                <a:latin typeface="Calibri" pitchFamily="34" charset="0"/>
                <a:ea typeface="Calibri" pitchFamily="34" charset="-122"/>
                <a:cs typeface="Calibri" pitchFamily="34" charset="-120"/>
              </a:rPr>
              <a:t>MITRE ATT&amp;CK</a:t>
            </a:r>
            <a:endParaRPr lang="en-US" sz="1200" dirty="0"/>
          </a:p>
          <a:p>
            <a:pPr indent="0" marL="0">
              <a:buNone/>
            </a:pPr>
            <a:r>
              <a:rPr lang="en-US" sz="1200" dirty="0">
                <a:solidFill>
                  <a:srgbClr val="9AAABE"/>
                </a:solidFill>
                <a:latin typeface="Calibri" pitchFamily="34" charset="0"/>
                <a:ea typeface="Calibri" pitchFamily="34" charset="-122"/>
                <a:cs typeface="Calibri" pitchFamily="34" charset="-120"/>
              </a:rPr>
              <a:t>speaks Cypher</a:t>
            </a:r>
            <a:endParaRPr lang="en-US" sz="1200" dirty="0"/>
          </a:p>
        </p:txBody>
      </p:sp>
      <p:sp>
        <p:nvSpPr>
          <p:cNvPr id="7" name="Shape 3"/>
          <p:cNvSpPr/>
          <p:nvPr/>
        </p:nvSpPr>
        <p:spPr>
          <a:xfrm>
            <a:off x="457200" y="2148840"/>
            <a:ext cx="3566160" cy="640080"/>
          </a:xfrm>
          <a:prstGeom prst="roundRect">
            <a:avLst>
              <a:gd name="adj" fmla="val 11429"/>
            </a:avLst>
          </a:prstGeom>
          <a:solidFill>
            <a:srgbClr val="172236"/>
          </a:solidFill>
          <a:ln w="9525">
            <a:solidFill>
              <a:srgbClr val="2B3D57"/>
            </a:solidFill>
            <a:prstDash val="solid"/>
          </a:ln>
        </p:spPr>
      </p:sp>
      <p:pic>
        <p:nvPicPr>
          <p:cNvPr id="8" name="Image 2" descr="preencoded.png">    </p:cNvPr>
          <p:cNvPicPr>
            <a:picLocks noChangeAspect="1"/>
          </p:cNvPicPr>
          <p:nvPr/>
        </p:nvPicPr>
        <p:blipFill>
          <a:blip r:embed="rId3"/>
          <a:stretch>
            <a:fillRect/>
          </a:stretch>
        </p:blipFill>
        <p:spPr>
          <a:xfrm>
            <a:off x="640080" y="2313432"/>
            <a:ext cx="310896" cy="310896"/>
          </a:xfrm>
          <a:prstGeom prst="rect">
            <a:avLst/>
          </a:prstGeom>
        </p:spPr>
      </p:pic>
      <p:sp>
        <p:nvSpPr>
          <p:cNvPr id="9" name="Text 4"/>
          <p:cNvSpPr txBox="1"/>
          <p:nvPr/>
        </p:nvSpPr>
        <p:spPr>
          <a:xfrm>
            <a:off x="1097280" y="2148840"/>
            <a:ext cx="2834640" cy="640080"/>
          </a:xfrm>
          <a:prstGeom prst="rect">
            <a:avLst/>
          </a:prstGeom>
          <a:noFill/>
          <a:ln/>
        </p:spPr>
        <p:txBody>
          <a:bodyPr wrap="square" lIns="0" tIns="0" rIns="0" bIns="0" rtlCol="0" anchor="ctr"/>
          <a:lstStyle/>
          <a:p>
            <a:pPr indent="0" marL="0">
              <a:buNone/>
            </a:pPr>
            <a:r>
              <a:rPr lang="en-US" sz="1200" b="1" dirty="0">
                <a:solidFill>
                  <a:srgbClr val="F3F6FA"/>
                </a:solidFill>
                <a:latin typeface="Calibri" pitchFamily="34" charset="0"/>
                <a:ea typeface="Calibri" pitchFamily="34" charset="-122"/>
                <a:cs typeface="Calibri" pitchFamily="34" charset="-120"/>
              </a:rPr>
              <a:t>MITRE CAPEC</a:t>
            </a:r>
            <a:endParaRPr lang="en-US" sz="1200" dirty="0"/>
          </a:p>
          <a:p>
            <a:pPr indent="0" marL="0">
              <a:buNone/>
            </a:pPr>
            <a:r>
              <a:rPr lang="en-US" sz="1200" dirty="0">
                <a:solidFill>
                  <a:srgbClr val="9AAABE"/>
                </a:solidFill>
                <a:latin typeface="Calibri" pitchFamily="34" charset="0"/>
                <a:ea typeface="Calibri" pitchFamily="34" charset="-122"/>
                <a:cs typeface="Calibri" pitchFamily="34" charset="-120"/>
              </a:rPr>
              <a:t>speaks Gremlin</a:t>
            </a:r>
            <a:endParaRPr lang="en-US" sz="1200" dirty="0"/>
          </a:p>
        </p:txBody>
      </p:sp>
      <p:sp>
        <p:nvSpPr>
          <p:cNvPr id="10" name="Shape 5"/>
          <p:cNvSpPr/>
          <p:nvPr/>
        </p:nvSpPr>
        <p:spPr>
          <a:xfrm>
            <a:off x="457200" y="2926080"/>
            <a:ext cx="3566160" cy="640080"/>
          </a:xfrm>
          <a:prstGeom prst="roundRect">
            <a:avLst>
              <a:gd name="adj" fmla="val 11429"/>
            </a:avLst>
          </a:prstGeom>
          <a:solidFill>
            <a:srgbClr val="172236"/>
          </a:solidFill>
          <a:ln w="9525">
            <a:solidFill>
              <a:srgbClr val="2B3D57"/>
            </a:solidFill>
            <a:prstDash val="solid"/>
          </a:ln>
        </p:spPr>
      </p:sp>
      <p:pic>
        <p:nvPicPr>
          <p:cNvPr id="11" name="Image 3" descr="preencoded.png">    </p:cNvPr>
          <p:cNvPicPr>
            <a:picLocks noChangeAspect="1"/>
          </p:cNvPicPr>
          <p:nvPr/>
        </p:nvPicPr>
        <p:blipFill>
          <a:blip r:embed="rId4"/>
          <a:stretch>
            <a:fillRect/>
          </a:stretch>
        </p:blipFill>
        <p:spPr>
          <a:xfrm>
            <a:off x="640080" y="3090672"/>
            <a:ext cx="310896" cy="310896"/>
          </a:xfrm>
          <a:prstGeom prst="rect">
            <a:avLst/>
          </a:prstGeom>
        </p:spPr>
      </p:pic>
      <p:sp>
        <p:nvSpPr>
          <p:cNvPr id="12" name="Text 6"/>
          <p:cNvSpPr txBox="1"/>
          <p:nvPr/>
        </p:nvSpPr>
        <p:spPr>
          <a:xfrm>
            <a:off x="1097280" y="2926080"/>
            <a:ext cx="2834640" cy="640080"/>
          </a:xfrm>
          <a:prstGeom prst="rect">
            <a:avLst/>
          </a:prstGeom>
          <a:noFill/>
          <a:ln/>
        </p:spPr>
        <p:txBody>
          <a:bodyPr wrap="square" lIns="0" tIns="0" rIns="0" bIns="0" rtlCol="0" anchor="ctr"/>
          <a:lstStyle/>
          <a:p>
            <a:pPr indent="0" marL="0">
              <a:buNone/>
            </a:pPr>
            <a:r>
              <a:rPr lang="en-US" sz="1200" b="1" dirty="0">
                <a:solidFill>
                  <a:srgbClr val="F3F6FA"/>
                </a:solidFill>
                <a:latin typeface="Calibri" pitchFamily="34" charset="0"/>
                <a:ea typeface="Calibri" pitchFamily="34" charset="-122"/>
                <a:cs typeface="Calibri" pitchFamily="34" charset="-120"/>
              </a:rPr>
              <a:t>Customer identity graph</a:t>
            </a:r>
            <a:endParaRPr lang="en-US" sz="1200" dirty="0"/>
          </a:p>
          <a:p>
            <a:pPr indent="0" marL="0">
              <a:buNone/>
            </a:pPr>
            <a:r>
              <a:rPr lang="en-US" sz="1200" dirty="0">
                <a:solidFill>
                  <a:srgbClr val="9AAABE"/>
                </a:solidFill>
                <a:latin typeface="Calibri" pitchFamily="34" charset="0"/>
                <a:ea typeface="Calibri" pitchFamily="34" charset="-122"/>
                <a:cs typeface="Calibri" pitchFamily="34" charset="-120"/>
              </a:rPr>
              <a:t>AD · Entra · Okta · AWS · GCP</a:t>
            </a:r>
            <a:endParaRPr lang="en-US" sz="1200" dirty="0"/>
          </a:p>
        </p:txBody>
      </p:sp>
      <p:sp>
        <p:nvSpPr>
          <p:cNvPr id="13" name="Text 7"/>
          <p:cNvSpPr txBox="1"/>
          <p:nvPr/>
        </p:nvSpPr>
        <p:spPr>
          <a:xfrm>
            <a:off x="4480560" y="1325880"/>
            <a:ext cx="4206240" cy="274320"/>
          </a:xfrm>
          <a:prstGeom prst="rect">
            <a:avLst/>
          </a:prstGeom>
          <a:noFill/>
          <a:ln/>
        </p:spPr>
        <p:txBody>
          <a:bodyPr wrap="square" lIns="0" tIns="0" rIns="0" bIns="0" rtlCol="0" anchor="ctr"/>
          <a:lstStyle/>
          <a:p>
            <a:pPr indent="0" marL="0">
              <a:buNone/>
            </a:pPr>
            <a:r>
              <a:rPr lang="en-US" sz="1100" b="1" spc="100" kern="0" dirty="0">
                <a:solidFill>
                  <a:srgbClr val="6B7C93"/>
                </a:solidFill>
                <a:latin typeface="Calibri" pitchFamily="34" charset="0"/>
                <a:ea typeface="Calibri" pitchFamily="34" charset="-122"/>
                <a:cs typeface="Calibri" pitchFamily="34" charset="-120"/>
              </a:rPr>
              <a:t>The options today</a:t>
            </a:r>
            <a:endParaRPr lang="en-US" sz="1100" dirty="0"/>
          </a:p>
        </p:txBody>
      </p:sp>
      <p:pic>
        <p:nvPicPr>
          <p:cNvPr id="14" name="Image 4" descr="preencoded.png">    </p:cNvPr>
          <p:cNvPicPr>
            <a:picLocks noChangeAspect="1"/>
          </p:cNvPicPr>
          <p:nvPr/>
        </p:nvPicPr>
        <p:blipFill>
          <a:blip r:embed="rId5"/>
          <a:stretch>
            <a:fillRect/>
          </a:stretch>
        </p:blipFill>
        <p:spPr>
          <a:xfrm>
            <a:off x="4526280" y="1755648"/>
            <a:ext cx="310896" cy="310896"/>
          </a:xfrm>
          <a:prstGeom prst="rect">
            <a:avLst/>
          </a:prstGeom>
        </p:spPr>
      </p:pic>
      <p:sp>
        <p:nvSpPr>
          <p:cNvPr id="15" name="Text 8"/>
          <p:cNvSpPr txBox="1"/>
          <p:nvPr/>
        </p:nvSpPr>
        <p:spPr>
          <a:xfrm>
            <a:off x="4983480" y="1645920"/>
            <a:ext cx="3749040" cy="530352"/>
          </a:xfrm>
          <a:prstGeom prst="rect">
            <a:avLst/>
          </a:prstGeom>
          <a:noFill/>
          <a:ln/>
        </p:spPr>
        <p:txBody>
          <a:bodyPr wrap="square" lIns="0" tIns="0" rIns="0" bIns="0" rtlCol="0" anchor="ctr"/>
          <a:lstStyle/>
          <a:p>
            <a:pPr indent="0" marL="0">
              <a:buNone/>
            </a:pPr>
            <a:r>
              <a:rPr lang="en-US" sz="1300" b="1" dirty="0">
                <a:solidFill>
                  <a:srgbClr val="F3F6FA"/>
                </a:solidFill>
                <a:latin typeface="Calibri" pitchFamily="34" charset="0"/>
                <a:ea typeface="Calibri" pitchFamily="34" charset="-122"/>
                <a:cs typeface="Calibri" pitchFamily="34" charset="-120"/>
              </a:rPr>
              <a:t>By hand</a:t>
            </a:r>
            <a:pPr indent="0" marL="0">
              <a:buNone/>
            </a:pPr>
            <a:r>
              <a:rPr lang="en-US" sz="1300" dirty="0">
                <a:solidFill>
                  <a:srgbClr val="9AAABE"/>
                </a:solidFill>
                <a:latin typeface="Calibri" pitchFamily="34" charset="0"/>
                <a:ea typeface="Calibri" pitchFamily="34" charset="-122"/>
                <a:cs typeface="Calibri" pitchFamily="34" charset="-120"/>
              </a:rPr>
              <a:t>  —  slow, every time</a:t>
            </a:r>
            <a:endParaRPr lang="en-US" sz="1300" dirty="0"/>
          </a:p>
        </p:txBody>
      </p:sp>
      <p:pic>
        <p:nvPicPr>
          <p:cNvPr id="16" name="Image 5" descr="preencoded.png">    </p:cNvPr>
          <p:cNvPicPr>
            <a:picLocks noChangeAspect="1"/>
          </p:cNvPicPr>
          <p:nvPr/>
        </p:nvPicPr>
        <p:blipFill>
          <a:blip r:embed="rId6"/>
          <a:stretch>
            <a:fillRect/>
          </a:stretch>
        </p:blipFill>
        <p:spPr>
          <a:xfrm>
            <a:off x="4526280" y="2441448"/>
            <a:ext cx="310896" cy="310896"/>
          </a:xfrm>
          <a:prstGeom prst="rect">
            <a:avLst/>
          </a:prstGeom>
        </p:spPr>
      </p:pic>
      <p:sp>
        <p:nvSpPr>
          <p:cNvPr id="17" name="Text 9"/>
          <p:cNvSpPr txBox="1"/>
          <p:nvPr/>
        </p:nvSpPr>
        <p:spPr>
          <a:xfrm>
            <a:off x="4983480" y="2331720"/>
            <a:ext cx="3749040" cy="530352"/>
          </a:xfrm>
          <a:prstGeom prst="rect">
            <a:avLst/>
          </a:prstGeom>
          <a:noFill/>
          <a:ln/>
        </p:spPr>
        <p:txBody>
          <a:bodyPr wrap="square" lIns="0" tIns="0" rIns="0" bIns="0" rtlCol="0" anchor="ctr"/>
          <a:lstStyle/>
          <a:p>
            <a:pPr indent="0" marL="0">
              <a:buNone/>
            </a:pPr>
            <a:r>
              <a:rPr lang="en-US" sz="1300" b="1" dirty="0">
                <a:solidFill>
                  <a:srgbClr val="F3F6FA"/>
                </a:solidFill>
                <a:latin typeface="Calibri" pitchFamily="34" charset="0"/>
                <a:ea typeface="Calibri" pitchFamily="34" charset="-122"/>
                <a:cs typeface="Calibri" pitchFamily="34" charset="-120"/>
              </a:rPr>
              <a:t>Copy it all into one warehouse</a:t>
            </a:r>
            <a:pPr indent="0" marL="0">
              <a:buNone/>
            </a:pPr>
            <a:r>
              <a:rPr lang="en-US" sz="1300" dirty="0">
                <a:solidFill>
                  <a:srgbClr val="9AAABE"/>
                </a:solidFill>
                <a:latin typeface="Calibri" pitchFamily="34" charset="0"/>
                <a:ea typeface="Calibri" pitchFamily="34" charset="-122"/>
                <a:cs typeface="Calibri" pitchFamily="34" charset="-120"/>
              </a:rPr>
              <a:t>  —  stale the day it lands</a:t>
            </a:r>
            <a:endParaRPr lang="en-US" sz="1300" dirty="0"/>
          </a:p>
        </p:txBody>
      </p:sp>
      <p:pic>
        <p:nvPicPr>
          <p:cNvPr id="18" name="Image 6" descr="preencoded.png">    </p:cNvPr>
          <p:cNvPicPr>
            <a:picLocks noChangeAspect="1"/>
          </p:cNvPicPr>
          <p:nvPr/>
        </p:nvPicPr>
        <p:blipFill>
          <a:blip r:embed="rId7"/>
          <a:stretch>
            <a:fillRect/>
          </a:stretch>
        </p:blipFill>
        <p:spPr>
          <a:xfrm>
            <a:off x="4526280" y="3127248"/>
            <a:ext cx="310896" cy="310896"/>
          </a:xfrm>
          <a:prstGeom prst="rect">
            <a:avLst/>
          </a:prstGeom>
        </p:spPr>
      </p:pic>
      <p:sp>
        <p:nvSpPr>
          <p:cNvPr id="19" name="Text 10"/>
          <p:cNvSpPr txBox="1"/>
          <p:nvPr/>
        </p:nvSpPr>
        <p:spPr>
          <a:xfrm>
            <a:off x="4983480" y="3017520"/>
            <a:ext cx="3749040" cy="530352"/>
          </a:xfrm>
          <a:prstGeom prst="rect">
            <a:avLst/>
          </a:prstGeom>
          <a:noFill/>
          <a:ln/>
        </p:spPr>
        <p:txBody>
          <a:bodyPr wrap="square" lIns="0" tIns="0" rIns="0" bIns="0" rtlCol="0" anchor="ctr"/>
          <a:lstStyle/>
          <a:p>
            <a:pPr indent="0" marL="0">
              <a:buNone/>
            </a:pPr>
            <a:r>
              <a:rPr lang="en-US" sz="1300" b="1" dirty="0">
                <a:solidFill>
                  <a:srgbClr val="F3F6FA"/>
                </a:solidFill>
                <a:latin typeface="Calibri" pitchFamily="34" charset="0"/>
                <a:ea typeface="Calibri" pitchFamily="34" charset="-122"/>
                <a:cs typeface="Calibri" pitchFamily="34" charset="-120"/>
              </a:rPr>
              <a:t>Ask a chatbot</a:t>
            </a:r>
            <a:pPr indent="0" marL="0">
              <a:buNone/>
            </a:pPr>
            <a:r>
              <a:rPr lang="en-US" sz="1300" dirty="0">
                <a:solidFill>
                  <a:srgbClr val="9AAABE"/>
                </a:solidFill>
                <a:latin typeface="Calibri" pitchFamily="34" charset="0"/>
                <a:ea typeface="Calibri" pitchFamily="34" charset="-122"/>
                <a:cs typeface="Calibri" pitchFamily="34" charset="-120"/>
              </a:rPr>
              <a:t>  —  it hallucinates</a:t>
            </a:r>
            <a:endParaRPr lang="en-US" sz="1300" dirty="0"/>
          </a:p>
        </p:txBody>
      </p:sp>
      <p:sp>
        <p:nvSpPr>
          <p:cNvPr id="20" name="Shape 11"/>
          <p:cNvSpPr/>
          <p:nvPr/>
        </p:nvSpPr>
        <p:spPr>
          <a:xfrm>
            <a:off x="457200" y="3840480"/>
            <a:ext cx="8229600" cy="777240"/>
          </a:xfrm>
          <a:prstGeom prst="roundRect">
            <a:avLst>
              <a:gd name="adj" fmla="val 9412"/>
            </a:avLst>
          </a:prstGeom>
          <a:solidFill>
            <a:srgbClr val="1D2B42"/>
          </a:solidFill>
          <a:ln w="12700">
            <a:solidFill>
              <a:srgbClr val="D9922F"/>
            </a:solidFill>
            <a:prstDash val="solid"/>
          </a:ln>
        </p:spPr>
      </p:sp>
      <p:pic>
        <p:nvPicPr>
          <p:cNvPr id="21" name="Image 7" descr="preencoded.png">    </p:cNvPr>
          <p:cNvPicPr>
            <a:picLocks noChangeAspect="1"/>
          </p:cNvPicPr>
          <p:nvPr/>
        </p:nvPicPr>
        <p:blipFill>
          <a:blip r:embed="rId8"/>
          <a:stretch>
            <a:fillRect/>
          </a:stretch>
        </p:blipFill>
        <p:spPr>
          <a:xfrm>
            <a:off x="658368" y="4069080"/>
            <a:ext cx="310896" cy="310896"/>
          </a:xfrm>
          <a:prstGeom prst="rect">
            <a:avLst/>
          </a:prstGeom>
        </p:spPr>
      </p:pic>
      <p:sp>
        <p:nvSpPr>
          <p:cNvPr id="22" name="Text 12"/>
          <p:cNvSpPr txBox="1"/>
          <p:nvPr/>
        </p:nvSpPr>
        <p:spPr>
          <a:xfrm>
            <a:off x="1097280" y="3840480"/>
            <a:ext cx="7406640" cy="777240"/>
          </a:xfrm>
          <a:prstGeom prst="rect">
            <a:avLst/>
          </a:prstGeom>
          <a:noFill/>
          <a:ln/>
        </p:spPr>
        <p:txBody>
          <a:bodyPr wrap="square" lIns="0" tIns="0" rIns="0" bIns="0" rtlCol="0" anchor="ctr"/>
          <a:lstStyle/>
          <a:p>
            <a:pPr indent="0" marL="0">
              <a:buNone/>
            </a:pPr>
            <a:r>
              <a:rPr lang="en-US" sz="1400" b="1" dirty="0">
                <a:solidFill>
                  <a:srgbClr val="F2B24F"/>
                </a:solidFill>
                <a:latin typeface="Calibri" pitchFamily="34" charset="0"/>
                <a:ea typeface="Calibri" pitchFamily="34" charset="-122"/>
                <a:cs typeface="Calibri" pitchFamily="34" charset="-120"/>
              </a:rPr>
              <a:t>Hallucination</a:t>
            </a:r>
            <a:pPr indent="0" marL="0">
              <a:buNone/>
            </a:pPr>
            <a:r>
              <a:rPr lang="en-US" sz="1400" dirty="0">
                <a:solidFill>
                  <a:srgbClr val="F3F6FA"/>
                </a:solidFill>
                <a:latin typeface="Calibri" pitchFamily="34" charset="0"/>
                <a:ea typeface="Calibri" pitchFamily="34" charset="-122"/>
                <a:cs typeface="Calibri" pitchFamily="34" charset="-120"/>
              </a:rPr>
              <a:t> — the AI states something as a fact that is not actually in the data.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7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75320" y="256032"/>
            <a:ext cx="384048" cy="329184"/>
          </a:xfrm>
          <a:prstGeom prst="rect">
            <a:avLst/>
          </a:prstGeom>
        </p:spPr>
      </p:pic>
      <p:sp>
        <p:nvSpPr>
          <p:cNvPr id="3" name="Text 0"/>
          <p:cNvSpPr txBox="1"/>
          <p:nvPr/>
        </p:nvSpPr>
        <p:spPr>
          <a:xfrm>
            <a:off x="457200" y="292608"/>
            <a:ext cx="7680960" cy="685800"/>
          </a:xfrm>
          <a:prstGeom prst="rect">
            <a:avLst/>
          </a:prstGeom>
          <a:noFill/>
          <a:ln/>
        </p:spPr>
        <p:txBody>
          <a:bodyPr wrap="square" lIns="0" tIns="0" rIns="0" bIns="0" rtlCol="0" anchor="ctr"/>
          <a:lstStyle/>
          <a:p>
            <a:pPr indent="0" marL="0">
              <a:buNone/>
            </a:pPr>
            <a:r>
              <a:rPr lang="en-US" sz="2400" b="1" dirty="0">
                <a:solidFill>
                  <a:srgbClr val="F3F6FA"/>
                </a:solidFill>
                <a:latin typeface="Calibri" pitchFamily="34" charset="0"/>
                <a:ea typeface="Calibri" pitchFamily="34" charset="-122"/>
                <a:cs typeface="Calibri" pitchFamily="34" charset="-120"/>
              </a:rPr>
              <a:t>Don't merge the databases. Federate the question.</a:t>
            </a:r>
            <a:endParaRPr lang="en-US" sz="2400" dirty="0"/>
          </a:p>
        </p:txBody>
      </p:sp>
      <p:sp>
        <p:nvSpPr>
          <p:cNvPr id="4" name="Shape 1"/>
          <p:cNvSpPr/>
          <p:nvPr/>
        </p:nvSpPr>
        <p:spPr>
          <a:xfrm>
            <a:off x="457200" y="1371600"/>
            <a:ext cx="1965960" cy="2148840"/>
          </a:xfrm>
          <a:prstGeom prst="roundRect">
            <a:avLst>
              <a:gd name="adj" fmla="val 3721"/>
            </a:avLst>
          </a:prstGeom>
          <a:solidFill>
            <a:srgbClr val="172236"/>
          </a:solidFill>
          <a:ln w="9525">
            <a:solidFill>
              <a:srgbClr val="2B3D57"/>
            </a:solidFill>
            <a:prstDash val="solid"/>
          </a:ln>
        </p:spPr>
      </p:sp>
      <p:sp>
        <p:nvSpPr>
          <p:cNvPr id="5" name="Shape 2"/>
          <p:cNvSpPr/>
          <p:nvPr/>
        </p:nvSpPr>
        <p:spPr>
          <a:xfrm>
            <a:off x="1115568" y="1600200"/>
            <a:ext cx="658368" cy="658368"/>
          </a:xfrm>
          <a:prstGeom prst="ellipse">
            <a:avLst/>
          </a:prstGeom>
          <a:solidFill>
            <a:srgbClr val="3FBFC5"/>
          </a:solidFill>
          <a:ln w="12700">
            <a:solidFill>
              <a:srgbClr val="3FBFC5"/>
            </a:solidFill>
            <a:prstDash val="solid"/>
          </a:ln>
        </p:spPr>
      </p:sp>
      <p:pic>
        <p:nvPicPr>
          <p:cNvPr id="6" name="Image 1" descr="preencoded.png">    </p:cNvPr>
          <p:cNvPicPr>
            <a:picLocks noChangeAspect="1"/>
          </p:cNvPicPr>
          <p:nvPr/>
        </p:nvPicPr>
        <p:blipFill>
          <a:blip r:embed="rId2"/>
          <a:stretch>
            <a:fillRect/>
          </a:stretch>
        </p:blipFill>
        <p:spPr>
          <a:xfrm>
            <a:off x="1261872" y="1746504"/>
            <a:ext cx="365760" cy="365760"/>
          </a:xfrm>
          <a:prstGeom prst="rect">
            <a:avLst/>
          </a:prstGeom>
        </p:spPr>
      </p:pic>
      <p:sp>
        <p:nvSpPr>
          <p:cNvPr id="7" name="Text 3"/>
          <p:cNvSpPr txBox="1"/>
          <p:nvPr/>
        </p:nvSpPr>
        <p:spPr>
          <a:xfrm>
            <a:off x="594360" y="2377440"/>
            <a:ext cx="1691640" cy="411480"/>
          </a:xfrm>
          <a:prstGeom prst="rect">
            <a:avLst/>
          </a:prstGeom>
          <a:noFill/>
          <a:ln/>
        </p:spPr>
        <p:txBody>
          <a:bodyPr wrap="square" lIns="0" tIns="0" rIns="0" bIns="0" rtlCol="0" anchor="ctr"/>
          <a:lstStyle/>
          <a:p>
            <a:pPr algn="ctr" indent="0" marL="0">
              <a:buNone/>
            </a:pPr>
            <a:r>
              <a:rPr lang="en-US" sz="1700" b="1" dirty="0">
                <a:solidFill>
                  <a:srgbClr val="F3F6FA"/>
                </a:solidFill>
                <a:latin typeface="Calibri" pitchFamily="34" charset="0"/>
                <a:ea typeface="Calibri" pitchFamily="34" charset="-122"/>
                <a:cs typeface="Calibri" pitchFamily="34" charset="-120"/>
              </a:rPr>
              <a:t>Spec sheet</a:t>
            </a:r>
            <a:endParaRPr lang="en-US" sz="1700" dirty="0"/>
          </a:p>
        </p:txBody>
      </p:sp>
      <p:sp>
        <p:nvSpPr>
          <p:cNvPr id="8" name="Text 4"/>
          <p:cNvSpPr txBox="1"/>
          <p:nvPr/>
        </p:nvSpPr>
        <p:spPr>
          <a:xfrm>
            <a:off x="594360" y="2788920"/>
            <a:ext cx="1691640" cy="548640"/>
          </a:xfrm>
          <a:prstGeom prst="rect">
            <a:avLst/>
          </a:prstGeom>
          <a:noFill/>
          <a:ln/>
        </p:spPr>
        <p:txBody>
          <a:bodyPr wrap="square" lIns="0" tIns="0" rIns="0" bIns="0" rtlCol="0" anchor="t"/>
          <a:lstStyle/>
          <a:p>
            <a:pPr algn="ctr" indent="0" marL="0">
              <a:buNone/>
            </a:pPr>
            <a:r>
              <a:rPr lang="en-US" sz="1200" dirty="0">
                <a:solidFill>
                  <a:srgbClr val="9AAABE"/>
                </a:solidFill>
                <a:latin typeface="Calibri" pitchFamily="34" charset="0"/>
                <a:ea typeface="Calibri" pitchFamily="34" charset="-122"/>
                <a:cs typeface="Calibri" pitchFamily="34" charset="-120"/>
              </a:rPr>
              <a:t>one page per database</a:t>
            </a:r>
            <a:endParaRPr lang="en-US" sz="1200" dirty="0"/>
          </a:p>
        </p:txBody>
      </p:sp>
      <p:sp>
        <p:nvSpPr>
          <p:cNvPr id="9" name="Text 5"/>
          <p:cNvSpPr txBox="1"/>
          <p:nvPr/>
        </p:nvSpPr>
        <p:spPr>
          <a:xfrm>
            <a:off x="2395728" y="2194560"/>
            <a:ext cx="201168" cy="457200"/>
          </a:xfrm>
          <a:prstGeom prst="rect">
            <a:avLst/>
          </a:prstGeom>
          <a:noFill/>
          <a:ln/>
        </p:spPr>
        <p:txBody>
          <a:bodyPr wrap="square" lIns="0" tIns="0" rIns="0" bIns="0" rtlCol="0" anchor="ctr"/>
          <a:lstStyle/>
          <a:p>
            <a:pPr algn="ctr" indent="0" marL="0">
              <a:buNone/>
            </a:pPr>
            <a:r>
              <a:rPr lang="en-US" sz="2600" dirty="0">
                <a:solidFill>
                  <a:srgbClr val="6B7C93"/>
                </a:solidFill>
                <a:latin typeface="Calibri" pitchFamily="34" charset="0"/>
                <a:ea typeface="Calibri" pitchFamily="34" charset="-122"/>
                <a:cs typeface="Calibri" pitchFamily="34" charset="-120"/>
              </a:rPr>
              <a:t>›</a:t>
            </a:r>
            <a:endParaRPr lang="en-US" sz="2600" dirty="0"/>
          </a:p>
        </p:txBody>
      </p:sp>
      <p:sp>
        <p:nvSpPr>
          <p:cNvPr id="10" name="Shape 6"/>
          <p:cNvSpPr/>
          <p:nvPr/>
        </p:nvSpPr>
        <p:spPr>
          <a:xfrm>
            <a:off x="2560320" y="1371600"/>
            <a:ext cx="1965960" cy="2148840"/>
          </a:xfrm>
          <a:prstGeom prst="roundRect">
            <a:avLst>
              <a:gd name="adj" fmla="val 3721"/>
            </a:avLst>
          </a:prstGeom>
          <a:solidFill>
            <a:srgbClr val="172236"/>
          </a:solidFill>
          <a:ln w="9525">
            <a:solidFill>
              <a:srgbClr val="2B3D57"/>
            </a:solidFill>
            <a:prstDash val="solid"/>
          </a:ln>
        </p:spPr>
      </p:sp>
      <p:sp>
        <p:nvSpPr>
          <p:cNvPr id="11" name="Shape 7"/>
          <p:cNvSpPr/>
          <p:nvPr/>
        </p:nvSpPr>
        <p:spPr>
          <a:xfrm>
            <a:off x="3218688" y="1600200"/>
            <a:ext cx="658368" cy="658368"/>
          </a:xfrm>
          <a:prstGeom prst="ellipse">
            <a:avLst/>
          </a:prstGeom>
          <a:solidFill>
            <a:srgbClr val="3FBFC5"/>
          </a:solidFill>
          <a:ln w="12700">
            <a:solidFill>
              <a:srgbClr val="3FBFC5"/>
            </a:solidFill>
            <a:prstDash val="solid"/>
          </a:ln>
        </p:spPr>
      </p:sp>
      <p:pic>
        <p:nvPicPr>
          <p:cNvPr id="12" name="Image 2" descr="preencoded.png">    </p:cNvPr>
          <p:cNvPicPr>
            <a:picLocks noChangeAspect="1"/>
          </p:cNvPicPr>
          <p:nvPr/>
        </p:nvPicPr>
        <p:blipFill>
          <a:blip r:embed="rId3"/>
          <a:stretch>
            <a:fillRect/>
          </a:stretch>
        </p:blipFill>
        <p:spPr>
          <a:xfrm>
            <a:off x="3364992" y="1746504"/>
            <a:ext cx="365760" cy="365760"/>
          </a:xfrm>
          <a:prstGeom prst="rect">
            <a:avLst/>
          </a:prstGeom>
        </p:spPr>
      </p:pic>
      <p:sp>
        <p:nvSpPr>
          <p:cNvPr id="13" name="Text 8"/>
          <p:cNvSpPr txBox="1"/>
          <p:nvPr/>
        </p:nvSpPr>
        <p:spPr>
          <a:xfrm>
            <a:off x="2697480" y="2377440"/>
            <a:ext cx="1691640" cy="411480"/>
          </a:xfrm>
          <a:prstGeom prst="rect">
            <a:avLst/>
          </a:prstGeom>
          <a:noFill/>
          <a:ln/>
        </p:spPr>
        <p:txBody>
          <a:bodyPr wrap="square" lIns="0" tIns="0" rIns="0" bIns="0" rtlCol="0" anchor="ctr"/>
          <a:lstStyle/>
          <a:p>
            <a:pPr algn="ctr" indent="0" marL="0">
              <a:buNone/>
            </a:pPr>
            <a:r>
              <a:rPr lang="en-US" sz="1700" b="1" dirty="0">
                <a:solidFill>
                  <a:srgbClr val="F3F6FA"/>
                </a:solidFill>
                <a:latin typeface="Calibri" pitchFamily="34" charset="0"/>
                <a:ea typeface="Calibri" pitchFamily="34" charset="-122"/>
                <a:cs typeface="Calibri" pitchFamily="34" charset="-120"/>
              </a:rPr>
              <a:t>Planner</a:t>
            </a:r>
            <a:endParaRPr lang="en-US" sz="1700" dirty="0"/>
          </a:p>
        </p:txBody>
      </p:sp>
      <p:sp>
        <p:nvSpPr>
          <p:cNvPr id="14" name="Text 9"/>
          <p:cNvSpPr txBox="1"/>
          <p:nvPr/>
        </p:nvSpPr>
        <p:spPr>
          <a:xfrm>
            <a:off x="2697480" y="2788920"/>
            <a:ext cx="1691640" cy="548640"/>
          </a:xfrm>
          <a:prstGeom prst="rect">
            <a:avLst/>
          </a:prstGeom>
          <a:noFill/>
          <a:ln/>
        </p:spPr>
        <p:txBody>
          <a:bodyPr wrap="square" lIns="0" tIns="0" rIns="0" bIns="0" rtlCol="0" anchor="t"/>
          <a:lstStyle/>
          <a:p>
            <a:pPr algn="ctr" indent="0" marL="0">
              <a:buNone/>
            </a:pPr>
            <a:r>
              <a:rPr lang="en-US" sz="1200" dirty="0">
                <a:solidFill>
                  <a:srgbClr val="9AAABE"/>
                </a:solidFill>
                <a:latin typeface="Calibri" pitchFamily="34" charset="0"/>
                <a:ea typeface="Calibri" pitchFamily="34" charset="-122"/>
                <a:cs typeface="Calibri" pitchFamily="34" charset="-120"/>
              </a:rPr>
              <a:t>a plan you can check, first</a:t>
            </a:r>
            <a:endParaRPr lang="en-US" sz="1200" dirty="0"/>
          </a:p>
        </p:txBody>
      </p:sp>
      <p:sp>
        <p:nvSpPr>
          <p:cNvPr id="15" name="Text 10"/>
          <p:cNvSpPr txBox="1"/>
          <p:nvPr/>
        </p:nvSpPr>
        <p:spPr>
          <a:xfrm>
            <a:off x="4498848" y="2194560"/>
            <a:ext cx="201168" cy="457200"/>
          </a:xfrm>
          <a:prstGeom prst="rect">
            <a:avLst/>
          </a:prstGeom>
          <a:noFill/>
          <a:ln/>
        </p:spPr>
        <p:txBody>
          <a:bodyPr wrap="square" lIns="0" tIns="0" rIns="0" bIns="0" rtlCol="0" anchor="ctr"/>
          <a:lstStyle/>
          <a:p>
            <a:pPr algn="ctr" indent="0" marL="0">
              <a:buNone/>
            </a:pPr>
            <a:r>
              <a:rPr lang="en-US" sz="2600" dirty="0">
                <a:solidFill>
                  <a:srgbClr val="6B7C93"/>
                </a:solidFill>
                <a:latin typeface="Calibri" pitchFamily="34" charset="0"/>
                <a:ea typeface="Calibri" pitchFamily="34" charset="-122"/>
                <a:cs typeface="Calibri" pitchFamily="34" charset="-120"/>
              </a:rPr>
              <a:t>›</a:t>
            </a:r>
            <a:endParaRPr lang="en-US" sz="2600" dirty="0"/>
          </a:p>
        </p:txBody>
      </p:sp>
      <p:sp>
        <p:nvSpPr>
          <p:cNvPr id="16" name="Shape 11"/>
          <p:cNvSpPr/>
          <p:nvPr/>
        </p:nvSpPr>
        <p:spPr>
          <a:xfrm>
            <a:off x="4663440" y="1371600"/>
            <a:ext cx="1965960" cy="2148840"/>
          </a:xfrm>
          <a:prstGeom prst="roundRect">
            <a:avLst>
              <a:gd name="adj" fmla="val 3721"/>
            </a:avLst>
          </a:prstGeom>
          <a:solidFill>
            <a:srgbClr val="172236"/>
          </a:solidFill>
          <a:ln w="9525">
            <a:solidFill>
              <a:srgbClr val="2B3D57"/>
            </a:solidFill>
            <a:prstDash val="solid"/>
          </a:ln>
        </p:spPr>
      </p:sp>
      <p:sp>
        <p:nvSpPr>
          <p:cNvPr id="17" name="Shape 12"/>
          <p:cNvSpPr/>
          <p:nvPr/>
        </p:nvSpPr>
        <p:spPr>
          <a:xfrm>
            <a:off x="5321808" y="1600200"/>
            <a:ext cx="658368" cy="658368"/>
          </a:xfrm>
          <a:prstGeom prst="ellipse">
            <a:avLst/>
          </a:prstGeom>
          <a:solidFill>
            <a:srgbClr val="F2B24F"/>
          </a:solidFill>
          <a:ln w="12700">
            <a:solidFill>
              <a:srgbClr val="F2B24F"/>
            </a:solidFill>
            <a:prstDash val="solid"/>
          </a:ln>
        </p:spPr>
      </p:sp>
      <p:pic>
        <p:nvPicPr>
          <p:cNvPr id="18" name="Image 3" descr="preencoded.png">    </p:cNvPr>
          <p:cNvPicPr>
            <a:picLocks noChangeAspect="1"/>
          </p:cNvPicPr>
          <p:nvPr/>
        </p:nvPicPr>
        <p:blipFill>
          <a:blip r:embed="rId4"/>
          <a:stretch>
            <a:fillRect/>
          </a:stretch>
        </p:blipFill>
        <p:spPr>
          <a:xfrm>
            <a:off x="5468112" y="1746504"/>
            <a:ext cx="365760" cy="365760"/>
          </a:xfrm>
          <a:prstGeom prst="rect">
            <a:avLst/>
          </a:prstGeom>
        </p:spPr>
      </p:pic>
      <p:sp>
        <p:nvSpPr>
          <p:cNvPr id="19" name="Text 13"/>
          <p:cNvSpPr txBox="1"/>
          <p:nvPr/>
        </p:nvSpPr>
        <p:spPr>
          <a:xfrm>
            <a:off x="4800600" y="2377440"/>
            <a:ext cx="1691640" cy="411480"/>
          </a:xfrm>
          <a:prstGeom prst="rect">
            <a:avLst/>
          </a:prstGeom>
          <a:noFill/>
          <a:ln/>
        </p:spPr>
        <p:txBody>
          <a:bodyPr wrap="square" lIns="0" tIns="0" rIns="0" bIns="0" rtlCol="0" anchor="ctr"/>
          <a:lstStyle/>
          <a:p>
            <a:pPr algn="ctr" indent="0" marL="0">
              <a:buNone/>
            </a:pPr>
            <a:r>
              <a:rPr lang="en-US" sz="1700" b="1" dirty="0">
                <a:solidFill>
                  <a:srgbClr val="F3F6FA"/>
                </a:solidFill>
                <a:latin typeface="Calibri" pitchFamily="34" charset="0"/>
                <a:ea typeface="Calibri" pitchFamily="34" charset="-122"/>
                <a:cs typeface="Calibri" pitchFamily="34" charset="-120"/>
              </a:rPr>
              <a:t>Translators</a:t>
            </a:r>
            <a:endParaRPr lang="en-US" sz="1700" dirty="0"/>
          </a:p>
        </p:txBody>
      </p:sp>
      <p:sp>
        <p:nvSpPr>
          <p:cNvPr id="20" name="Text 14"/>
          <p:cNvSpPr txBox="1"/>
          <p:nvPr/>
        </p:nvSpPr>
        <p:spPr>
          <a:xfrm>
            <a:off x="4800600" y="2788920"/>
            <a:ext cx="1691640" cy="548640"/>
          </a:xfrm>
          <a:prstGeom prst="rect">
            <a:avLst/>
          </a:prstGeom>
          <a:noFill/>
          <a:ln/>
        </p:spPr>
        <p:txBody>
          <a:bodyPr wrap="square" lIns="0" tIns="0" rIns="0" bIns="0" rtlCol="0" anchor="t"/>
          <a:lstStyle/>
          <a:p>
            <a:pPr algn="ctr" indent="0" marL="0">
              <a:buNone/>
            </a:pPr>
            <a:r>
              <a:rPr lang="en-US" sz="1200" dirty="0">
                <a:solidFill>
                  <a:srgbClr val="9AAABE"/>
                </a:solidFill>
                <a:latin typeface="Calibri" pitchFamily="34" charset="0"/>
                <a:ea typeface="Calibri" pitchFamily="34" charset="-122"/>
                <a:cs typeface="Calibri" pitchFamily="34" charset="-120"/>
              </a:rPr>
              <a:t>one per database, read-only</a:t>
            </a:r>
            <a:endParaRPr lang="en-US" sz="1200" dirty="0"/>
          </a:p>
        </p:txBody>
      </p:sp>
      <p:sp>
        <p:nvSpPr>
          <p:cNvPr id="21" name="Text 15"/>
          <p:cNvSpPr txBox="1"/>
          <p:nvPr/>
        </p:nvSpPr>
        <p:spPr>
          <a:xfrm>
            <a:off x="6601968" y="2194560"/>
            <a:ext cx="201168" cy="457200"/>
          </a:xfrm>
          <a:prstGeom prst="rect">
            <a:avLst/>
          </a:prstGeom>
          <a:noFill/>
          <a:ln/>
        </p:spPr>
        <p:txBody>
          <a:bodyPr wrap="square" lIns="0" tIns="0" rIns="0" bIns="0" rtlCol="0" anchor="ctr"/>
          <a:lstStyle/>
          <a:p>
            <a:pPr algn="ctr" indent="0" marL="0">
              <a:buNone/>
            </a:pPr>
            <a:r>
              <a:rPr lang="en-US" sz="2600" dirty="0">
                <a:solidFill>
                  <a:srgbClr val="6B7C93"/>
                </a:solidFill>
                <a:latin typeface="Calibri" pitchFamily="34" charset="0"/>
                <a:ea typeface="Calibri" pitchFamily="34" charset="-122"/>
                <a:cs typeface="Calibri" pitchFamily="34" charset="-120"/>
              </a:rPr>
              <a:t>›</a:t>
            </a:r>
            <a:endParaRPr lang="en-US" sz="2600" dirty="0"/>
          </a:p>
        </p:txBody>
      </p:sp>
      <p:sp>
        <p:nvSpPr>
          <p:cNvPr id="22" name="Shape 16"/>
          <p:cNvSpPr/>
          <p:nvPr/>
        </p:nvSpPr>
        <p:spPr>
          <a:xfrm>
            <a:off x="6766560" y="1371600"/>
            <a:ext cx="1965960" cy="2148840"/>
          </a:xfrm>
          <a:prstGeom prst="roundRect">
            <a:avLst>
              <a:gd name="adj" fmla="val 3721"/>
            </a:avLst>
          </a:prstGeom>
          <a:solidFill>
            <a:srgbClr val="172236"/>
          </a:solidFill>
          <a:ln w="9525">
            <a:solidFill>
              <a:srgbClr val="2B3D57"/>
            </a:solidFill>
            <a:prstDash val="solid"/>
          </a:ln>
        </p:spPr>
      </p:sp>
      <p:sp>
        <p:nvSpPr>
          <p:cNvPr id="23" name="Shape 17"/>
          <p:cNvSpPr/>
          <p:nvPr/>
        </p:nvSpPr>
        <p:spPr>
          <a:xfrm>
            <a:off x="7424928" y="1600200"/>
            <a:ext cx="658368" cy="658368"/>
          </a:xfrm>
          <a:prstGeom prst="ellipse">
            <a:avLst/>
          </a:prstGeom>
          <a:solidFill>
            <a:srgbClr val="F2B24F"/>
          </a:solidFill>
          <a:ln w="12700">
            <a:solidFill>
              <a:srgbClr val="F2B24F"/>
            </a:solidFill>
            <a:prstDash val="solid"/>
          </a:ln>
        </p:spPr>
      </p:sp>
      <p:pic>
        <p:nvPicPr>
          <p:cNvPr id="24" name="Image 4" descr="preencoded.png">    </p:cNvPr>
          <p:cNvPicPr>
            <a:picLocks noChangeAspect="1"/>
          </p:cNvPicPr>
          <p:nvPr/>
        </p:nvPicPr>
        <p:blipFill>
          <a:blip r:embed="rId5"/>
          <a:stretch>
            <a:fillRect/>
          </a:stretch>
        </p:blipFill>
        <p:spPr>
          <a:xfrm>
            <a:off x="7571232" y="1746504"/>
            <a:ext cx="365760" cy="365760"/>
          </a:xfrm>
          <a:prstGeom prst="rect">
            <a:avLst/>
          </a:prstGeom>
        </p:spPr>
      </p:pic>
      <p:sp>
        <p:nvSpPr>
          <p:cNvPr id="25" name="Text 18"/>
          <p:cNvSpPr txBox="1"/>
          <p:nvPr/>
        </p:nvSpPr>
        <p:spPr>
          <a:xfrm>
            <a:off x="6903720" y="2377440"/>
            <a:ext cx="1691640" cy="411480"/>
          </a:xfrm>
          <a:prstGeom prst="rect">
            <a:avLst/>
          </a:prstGeom>
          <a:noFill/>
          <a:ln/>
        </p:spPr>
        <p:txBody>
          <a:bodyPr wrap="square" lIns="0" tIns="0" rIns="0" bIns="0" rtlCol="0" anchor="ctr"/>
          <a:lstStyle/>
          <a:p>
            <a:pPr algn="ctr" indent="0" marL="0">
              <a:buNone/>
            </a:pPr>
            <a:r>
              <a:rPr lang="en-US" sz="1700" b="1" dirty="0">
                <a:solidFill>
                  <a:srgbClr val="F3F6FA"/>
                </a:solidFill>
                <a:latin typeface="Calibri" pitchFamily="34" charset="0"/>
                <a:ea typeface="Calibri" pitchFamily="34" charset="-122"/>
                <a:cs typeface="Calibri" pitchFamily="34" charset="-120"/>
              </a:rPr>
              <a:t>Verifier</a:t>
            </a:r>
            <a:endParaRPr lang="en-US" sz="1700" dirty="0"/>
          </a:p>
        </p:txBody>
      </p:sp>
      <p:sp>
        <p:nvSpPr>
          <p:cNvPr id="26" name="Text 19"/>
          <p:cNvSpPr txBox="1"/>
          <p:nvPr/>
        </p:nvSpPr>
        <p:spPr>
          <a:xfrm>
            <a:off x="6903720" y="2788920"/>
            <a:ext cx="1691640" cy="548640"/>
          </a:xfrm>
          <a:prstGeom prst="rect">
            <a:avLst/>
          </a:prstGeom>
          <a:noFill/>
          <a:ln/>
        </p:spPr>
        <p:txBody>
          <a:bodyPr wrap="square" lIns="0" tIns="0" rIns="0" bIns="0" rtlCol="0" anchor="t"/>
          <a:lstStyle/>
          <a:p>
            <a:pPr algn="ctr" indent="0" marL="0">
              <a:buNone/>
            </a:pPr>
            <a:r>
              <a:rPr lang="en-US" sz="1200" dirty="0">
                <a:solidFill>
                  <a:srgbClr val="9AAABE"/>
                </a:solidFill>
                <a:latin typeface="Calibri" pitchFamily="34" charset="0"/>
                <a:ea typeface="Calibri" pitchFamily="34" charset="-122"/>
                <a:cs typeface="Calibri" pitchFamily="34" charset="-120"/>
              </a:rPr>
              <a:t>every claim carries its record</a:t>
            </a:r>
            <a:endParaRPr lang="en-US" sz="1200" dirty="0"/>
          </a:p>
        </p:txBody>
      </p:sp>
      <p:sp>
        <p:nvSpPr>
          <p:cNvPr id="27" name="Shape 20"/>
          <p:cNvSpPr/>
          <p:nvPr/>
        </p:nvSpPr>
        <p:spPr>
          <a:xfrm>
            <a:off x="457200" y="3794760"/>
            <a:ext cx="4023360" cy="685800"/>
          </a:xfrm>
          <a:prstGeom prst="roundRect">
            <a:avLst>
              <a:gd name="adj" fmla="val 10667"/>
            </a:avLst>
          </a:prstGeom>
          <a:solidFill>
            <a:srgbClr val="1D2B42"/>
          </a:solidFill>
          <a:ln w="12700">
            <a:solidFill>
              <a:srgbClr val="21868C"/>
            </a:solidFill>
            <a:prstDash val="solid"/>
          </a:ln>
        </p:spPr>
      </p:sp>
      <p:pic>
        <p:nvPicPr>
          <p:cNvPr id="28" name="Image 5" descr="preencoded.png">    </p:cNvPr>
          <p:cNvPicPr>
            <a:picLocks noChangeAspect="1"/>
          </p:cNvPicPr>
          <p:nvPr/>
        </p:nvPicPr>
        <p:blipFill>
          <a:blip r:embed="rId6"/>
          <a:stretch>
            <a:fillRect/>
          </a:stretch>
        </p:blipFill>
        <p:spPr>
          <a:xfrm>
            <a:off x="640080" y="3968496"/>
            <a:ext cx="329184" cy="329184"/>
          </a:xfrm>
          <a:prstGeom prst="rect">
            <a:avLst/>
          </a:prstGeom>
        </p:spPr>
      </p:pic>
      <p:sp>
        <p:nvSpPr>
          <p:cNvPr id="29" name="Text 21"/>
          <p:cNvSpPr txBox="1"/>
          <p:nvPr/>
        </p:nvSpPr>
        <p:spPr>
          <a:xfrm>
            <a:off x="1097280" y="3794760"/>
            <a:ext cx="3291840" cy="685800"/>
          </a:xfrm>
          <a:prstGeom prst="rect">
            <a:avLst/>
          </a:prstGeom>
          <a:noFill/>
          <a:ln/>
        </p:spPr>
        <p:txBody>
          <a:bodyPr wrap="square" lIns="0" tIns="0" rIns="0" bIns="0" rtlCol="0" anchor="ctr"/>
          <a:lstStyle/>
          <a:p>
            <a:pPr indent="0" marL="0">
              <a:buNone/>
            </a:pPr>
            <a:r>
              <a:rPr lang="en-US" sz="1500" b="1" dirty="0">
                <a:solidFill>
                  <a:srgbClr val="F3F6FA"/>
                </a:solidFill>
                <a:latin typeface="Calibri" pitchFamily="34" charset="0"/>
                <a:ea typeface="Calibri" pitchFamily="34" charset="-122"/>
                <a:cs typeface="Calibri" pitchFamily="34" charset="-120"/>
              </a:rPr>
              <a:t>No AI ever writes a query.</a:t>
            </a:r>
            <a:endParaRPr lang="en-US" sz="1500" dirty="0"/>
          </a:p>
        </p:txBody>
      </p:sp>
      <p:sp>
        <p:nvSpPr>
          <p:cNvPr id="30" name="Shape 22"/>
          <p:cNvSpPr/>
          <p:nvPr/>
        </p:nvSpPr>
        <p:spPr>
          <a:xfrm>
            <a:off x="4663440" y="3794760"/>
            <a:ext cx="4023360" cy="685800"/>
          </a:xfrm>
          <a:prstGeom prst="roundRect">
            <a:avLst>
              <a:gd name="adj" fmla="val 10667"/>
            </a:avLst>
          </a:prstGeom>
          <a:solidFill>
            <a:srgbClr val="1D2B42"/>
          </a:solidFill>
          <a:ln w="12700">
            <a:solidFill>
              <a:srgbClr val="21868C"/>
            </a:solidFill>
            <a:prstDash val="solid"/>
          </a:ln>
        </p:spPr>
      </p:sp>
      <p:pic>
        <p:nvPicPr>
          <p:cNvPr id="31" name="Image 6" descr="preencoded.png">    </p:cNvPr>
          <p:cNvPicPr>
            <a:picLocks noChangeAspect="1"/>
          </p:cNvPicPr>
          <p:nvPr/>
        </p:nvPicPr>
        <p:blipFill>
          <a:blip r:embed="rId7"/>
          <a:stretch>
            <a:fillRect/>
          </a:stretch>
        </p:blipFill>
        <p:spPr>
          <a:xfrm>
            <a:off x="4846320" y="3968496"/>
            <a:ext cx="329184" cy="329184"/>
          </a:xfrm>
          <a:prstGeom prst="rect">
            <a:avLst/>
          </a:prstGeom>
        </p:spPr>
      </p:pic>
      <p:sp>
        <p:nvSpPr>
          <p:cNvPr id="32" name="Text 23"/>
          <p:cNvSpPr txBox="1"/>
          <p:nvPr/>
        </p:nvSpPr>
        <p:spPr>
          <a:xfrm>
            <a:off x="5303520" y="3794760"/>
            <a:ext cx="3291840" cy="685800"/>
          </a:xfrm>
          <a:prstGeom prst="rect">
            <a:avLst/>
          </a:prstGeom>
          <a:noFill/>
          <a:ln/>
        </p:spPr>
        <p:txBody>
          <a:bodyPr wrap="square" lIns="0" tIns="0" rIns="0" bIns="0" rtlCol="0" anchor="ctr"/>
          <a:lstStyle/>
          <a:p>
            <a:pPr indent="0" marL="0">
              <a:buNone/>
            </a:pPr>
            <a:r>
              <a:rPr lang="en-US" sz="1500" b="1" dirty="0">
                <a:solidFill>
                  <a:srgbClr val="F3F6FA"/>
                </a:solidFill>
                <a:latin typeface="Calibri" pitchFamily="34" charset="0"/>
                <a:ea typeface="Calibri" pitchFamily="34" charset="-122"/>
                <a:cs typeface="Calibri" pitchFamily="34" charset="-120"/>
              </a:rPr>
              <a:t>No claim without a record behind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75320" y="256032"/>
            <a:ext cx="384048" cy="329184"/>
          </a:xfrm>
          <a:prstGeom prst="rect">
            <a:avLst/>
          </a:prstGeom>
        </p:spPr>
      </p:pic>
      <p:sp>
        <p:nvSpPr>
          <p:cNvPr id="3" name="Text 0"/>
          <p:cNvSpPr txBox="1"/>
          <p:nvPr/>
        </p:nvSpPr>
        <p:spPr>
          <a:xfrm>
            <a:off x="457200" y="292608"/>
            <a:ext cx="7680960" cy="685800"/>
          </a:xfrm>
          <a:prstGeom prst="rect">
            <a:avLst/>
          </a:prstGeom>
          <a:noFill/>
          <a:ln/>
        </p:spPr>
        <p:txBody>
          <a:bodyPr wrap="square" lIns="0" tIns="0" rIns="0" bIns="0" rtlCol="0" anchor="ctr"/>
          <a:lstStyle/>
          <a:p>
            <a:pPr indent="0" marL="0">
              <a:buNone/>
            </a:pPr>
            <a:r>
              <a:rPr lang="en-US" sz="2400" b="1" dirty="0">
                <a:solidFill>
                  <a:srgbClr val="F3F6FA"/>
                </a:solidFill>
                <a:latin typeface="Calibri" pitchFamily="34" charset="0"/>
                <a:ea typeface="Calibri" pitchFamily="34" charset="-122"/>
                <a:cs typeface="Calibri" pitchFamily="34" charset="-120"/>
              </a:rPr>
              <a:t>What an answer looks like</a:t>
            </a:r>
            <a:endParaRPr lang="en-US" sz="2400" dirty="0"/>
          </a:p>
        </p:txBody>
      </p:sp>
      <p:sp>
        <p:nvSpPr>
          <p:cNvPr id="4" name="Text 1"/>
          <p:cNvSpPr txBox="1"/>
          <p:nvPr/>
        </p:nvSpPr>
        <p:spPr>
          <a:xfrm>
            <a:off x="457200" y="932688"/>
            <a:ext cx="7680960" cy="347472"/>
          </a:xfrm>
          <a:prstGeom prst="rect">
            <a:avLst/>
          </a:prstGeom>
          <a:noFill/>
          <a:ln/>
        </p:spPr>
        <p:txBody>
          <a:bodyPr wrap="square" lIns="0" tIns="0" rIns="0" bIns="0" rtlCol="0" anchor="t"/>
          <a:lstStyle/>
          <a:p>
            <a:pPr indent="0" marL="0">
              <a:buNone/>
            </a:pPr>
            <a:r>
              <a:rPr lang="en-US" sz="1300" dirty="0">
                <a:solidFill>
                  <a:srgbClr val="9AAABE"/>
                </a:solidFill>
                <a:latin typeface="Calibri" pitchFamily="34" charset="0"/>
                <a:ea typeface="Calibri" pitchFamily="34" charset="-122"/>
                <a:cs typeface="Calibri" pitchFamily="34" charset="-120"/>
              </a:rPr>
              <a:t>Two real outputs from the evaluation record.</a:t>
            </a:r>
            <a:endParaRPr lang="en-US" sz="1300" dirty="0"/>
          </a:p>
        </p:txBody>
      </p:sp>
      <p:sp>
        <p:nvSpPr>
          <p:cNvPr id="5" name="Shape 2"/>
          <p:cNvSpPr/>
          <p:nvPr/>
        </p:nvSpPr>
        <p:spPr>
          <a:xfrm>
            <a:off x="457200" y="1371600"/>
            <a:ext cx="5120640" cy="3246120"/>
          </a:xfrm>
          <a:prstGeom prst="roundRect">
            <a:avLst>
              <a:gd name="adj" fmla="val 2254"/>
            </a:avLst>
          </a:prstGeom>
          <a:solidFill>
            <a:srgbClr val="172236"/>
          </a:solidFill>
          <a:ln w="9525">
            <a:solidFill>
              <a:srgbClr val="2B3D57"/>
            </a:solidFill>
            <a:prstDash val="solid"/>
          </a:ln>
        </p:spPr>
      </p:sp>
      <p:sp>
        <p:nvSpPr>
          <p:cNvPr id="6" name="Text 3"/>
          <p:cNvSpPr txBox="1"/>
          <p:nvPr/>
        </p:nvSpPr>
        <p:spPr>
          <a:xfrm>
            <a:off x="685800" y="1481328"/>
            <a:ext cx="1828800" cy="228600"/>
          </a:xfrm>
          <a:prstGeom prst="rect">
            <a:avLst/>
          </a:prstGeom>
          <a:noFill/>
          <a:ln/>
        </p:spPr>
        <p:txBody>
          <a:bodyPr wrap="square" lIns="0" tIns="0" rIns="0" bIns="0" rtlCol="0" anchor="ctr"/>
          <a:lstStyle/>
          <a:p>
            <a:pPr indent="0" marL="0">
              <a:buNone/>
            </a:pPr>
            <a:r>
              <a:rPr lang="en-US" sz="900" b="1" spc="100" kern="0" dirty="0">
                <a:solidFill>
                  <a:srgbClr val="6B7C93"/>
                </a:solidFill>
                <a:latin typeface="Calibri" pitchFamily="34" charset="0"/>
                <a:ea typeface="Calibri" pitchFamily="34" charset="-122"/>
                <a:cs typeface="Calibri" pitchFamily="34" charset="-120"/>
              </a:rPr>
              <a:t>ASKED</a:t>
            </a:r>
            <a:endParaRPr lang="en-US" sz="900" dirty="0"/>
          </a:p>
        </p:txBody>
      </p:sp>
      <p:sp>
        <p:nvSpPr>
          <p:cNvPr id="7" name="Text 4"/>
          <p:cNvSpPr txBox="1"/>
          <p:nvPr/>
        </p:nvSpPr>
        <p:spPr>
          <a:xfrm>
            <a:off x="685800" y="1709928"/>
            <a:ext cx="4663440" cy="566928"/>
          </a:xfrm>
          <a:prstGeom prst="rect">
            <a:avLst/>
          </a:prstGeom>
          <a:noFill/>
          <a:ln/>
        </p:spPr>
        <p:txBody>
          <a:bodyPr wrap="square" lIns="0" tIns="0" rIns="0" bIns="0" rtlCol="0" anchor="t"/>
          <a:lstStyle/>
          <a:p>
            <a:pPr indent="0" marL="0">
              <a:buNone/>
            </a:pPr>
            <a:r>
              <a:rPr lang="en-US" sz="1250" b="1" dirty="0">
                <a:solidFill>
                  <a:srgbClr val="F3F6FA"/>
                </a:solidFill>
                <a:latin typeface="Calibri" pitchFamily="34" charset="0"/>
                <a:ea typeface="Calibri" pitchFamily="34" charset="-122"/>
                <a:cs typeface="Calibri" pitchFamily="34" charset="-120"/>
              </a:rPr>
              <a:t>“Which ATT&amp;CK techniques does CAPEC-555 (Remote Services with Stolen Credentials) map to, and what mitigations apply?”</a:t>
            </a:r>
            <a:endParaRPr lang="en-US" sz="1250" dirty="0"/>
          </a:p>
        </p:txBody>
      </p:sp>
      <p:sp>
        <p:nvSpPr>
          <p:cNvPr id="8" name="Text 5"/>
          <p:cNvSpPr txBox="1"/>
          <p:nvPr/>
        </p:nvSpPr>
        <p:spPr>
          <a:xfrm>
            <a:off x="685800" y="2359152"/>
            <a:ext cx="3657600" cy="228600"/>
          </a:xfrm>
          <a:prstGeom prst="rect">
            <a:avLst/>
          </a:prstGeom>
          <a:noFill/>
          <a:ln/>
        </p:spPr>
        <p:txBody>
          <a:bodyPr wrap="square" lIns="0" tIns="0" rIns="0" bIns="0" rtlCol="0" anchor="ctr"/>
          <a:lstStyle/>
          <a:p>
            <a:pPr indent="0" marL="0">
              <a:buNone/>
            </a:pPr>
            <a:r>
              <a:rPr lang="en-US" sz="900" b="1" spc="100" kern="0" dirty="0">
                <a:solidFill>
                  <a:srgbClr val="6B7C93"/>
                </a:solidFill>
                <a:latin typeface="Calibri" pitchFamily="34" charset="0"/>
                <a:ea typeface="Calibri" pitchFamily="34" charset="-122"/>
                <a:cs typeface="Calibri" pitchFamily="34" charset="-120"/>
              </a:rPr>
              <a:t>RAN  (two databases, two languages, read-only)</a:t>
            </a:r>
            <a:endParaRPr lang="en-US" sz="900" dirty="0"/>
          </a:p>
        </p:txBody>
      </p:sp>
      <p:sp>
        <p:nvSpPr>
          <p:cNvPr id="9" name="Shape 6"/>
          <p:cNvSpPr/>
          <p:nvPr/>
        </p:nvSpPr>
        <p:spPr>
          <a:xfrm>
            <a:off x="685800" y="2587752"/>
            <a:ext cx="4663440" cy="512064"/>
          </a:xfrm>
          <a:prstGeom prst="rect">
            <a:avLst/>
          </a:prstGeom>
          <a:solidFill>
            <a:srgbClr val="0B1220"/>
          </a:solidFill>
          <a:ln w="6350">
            <a:solidFill>
              <a:srgbClr val="2B3D57"/>
            </a:solidFill>
            <a:prstDash val="solid"/>
          </a:ln>
        </p:spPr>
      </p:sp>
      <p:sp>
        <p:nvSpPr>
          <p:cNvPr id="10" name="Text 7"/>
          <p:cNvSpPr txBox="1"/>
          <p:nvPr/>
        </p:nvSpPr>
        <p:spPr>
          <a:xfrm>
            <a:off x="758952" y="2606040"/>
            <a:ext cx="4526280" cy="475488"/>
          </a:xfrm>
          <a:prstGeom prst="rect">
            <a:avLst/>
          </a:prstGeom>
          <a:noFill/>
          <a:ln/>
        </p:spPr>
        <p:txBody>
          <a:bodyPr wrap="square" lIns="0" tIns="0" rIns="0" bIns="0" rtlCol="0" anchor="ctr"/>
          <a:lstStyle/>
          <a:p>
            <a:pPr indent="0" marL="0">
              <a:buNone/>
            </a:pPr>
            <a:r>
              <a:rPr lang="en-US" sz="800" dirty="0">
                <a:solidFill>
                  <a:srgbClr val="F2B24F"/>
                </a:solidFill>
                <a:latin typeface="Courier New" pitchFamily="34" charset="0"/>
                <a:ea typeface="Courier New" pitchFamily="34" charset="-122"/>
                <a:cs typeface="Courier New" pitchFamily="34" charset="-120"/>
              </a:rPr>
              <a:t>g.V().hasLabel("AttackPattern").has("id", within(ids)).out("MAPS_TO")…</a:t>
            </a:r>
            <a:endParaRPr lang="en-US" sz="800" dirty="0"/>
          </a:p>
          <a:p>
            <a:pPr indent="0" marL="0">
              <a:buNone/>
            </a:pPr>
            <a:r>
              <a:rPr lang="en-US" sz="800" dirty="0">
                <a:solidFill>
                  <a:srgbClr val="3FBFC5"/>
                </a:solidFill>
                <a:latin typeface="Courier New" pitchFamily="34" charset="0"/>
                <a:ea typeface="Courier New" pitchFamily="34" charset="-122"/>
                <a:cs typeface="Courier New" pitchFamily="34" charset="-120"/>
              </a:rPr>
              <a:t>MATCH (t) WHERE t.attack_id IN $ids OPTIONAL MATCH (t)&lt;-[:MITIGATES]-(m:Mitigation) …</a:t>
            </a:r>
            <a:endParaRPr lang="en-US" sz="800" dirty="0"/>
          </a:p>
        </p:txBody>
      </p:sp>
      <p:sp>
        <p:nvSpPr>
          <p:cNvPr id="11" name="Text 8"/>
          <p:cNvSpPr txBox="1"/>
          <p:nvPr/>
        </p:nvSpPr>
        <p:spPr>
          <a:xfrm>
            <a:off x="685800" y="3182112"/>
            <a:ext cx="1828800" cy="228600"/>
          </a:xfrm>
          <a:prstGeom prst="rect">
            <a:avLst/>
          </a:prstGeom>
          <a:noFill/>
          <a:ln/>
        </p:spPr>
        <p:txBody>
          <a:bodyPr wrap="square" lIns="0" tIns="0" rIns="0" bIns="0" rtlCol="0" anchor="ctr"/>
          <a:lstStyle/>
          <a:p>
            <a:pPr indent="0" marL="0">
              <a:buNone/>
            </a:pPr>
            <a:r>
              <a:rPr lang="en-US" sz="900" b="1" spc="100" kern="0" dirty="0">
                <a:solidFill>
                  <a:srgbClr val="6B7C93"/>
                </a:solidFill>
                <a:latin typeface="Calibri" pitchFamily="34" charset="0"/>
                <a:ea typeface="Calibri" pitchFamily="34" charset="-122"/>
                <a:cs typeface="Calibri" pitchFamily="34" charset="-120"/>
              </a:rPr>
              <a:t>ANSWERED</a:t>
            </a:r>
            <a:endParaRPr lang="en-US" sz="900" dirty="0"/>
          </a:p>
        </p:txBody>
      </p:sp>
      <p:sp>
        <p:nvSpPr>
          <p:cNvPr id="12" name="Text 9"/>
          <p:cNvSpPr txBox="1"/>
          <p:nvPr/>
        </p:nvSpPr>
        <p:spPr>
          <a:xfrm>
            <a:off x="685800" y="3401568"/>
            <a:ext cx="4663440" cy="685800"/>
          </a:xfrm>
          <a:prstGeom prst="rect">
            <a:avLst/>
          </a:prstGeom>
          <a:noFill/>
          <a:ln/>
        </p:spPr>
        <p:txBody>
          <a:bodyPr wrap="square" lIns="0" tIns="0" rIns="0" bIns="0" rtlCol="0" anchor="t"/>
          <a:lstStyle/>
          <a:p>
            <a:pPr indent="0" marL="0">
              <a:buNone/>
            </a:pPr>
            <a:r>
              <a:rPr lang="en-US" sz="1200" dirty="0">
                <a:solidFill>
                  <a:srgbClr val="F3F6FA"/>
                </a:solidFill>
                <a:latin typeface="Calibri" pitchFamily="34" charset="0"/>
                <a:ea typeface="Calibri" pitchFamily="34" charset="-122"/>
                <a:cs typeface="Calibri" pitchFamily="34" charset="-120"/>
              </a:rPr>
              <a:t>CAPEC-555 maps to three ATT&amp;CK techniques — T1021, T1114.002 and T1133 — with their mitigations. Every sentence cites the record it came from.</a:t>
            </a:r>
            <a:endParaRPr lang="en-US" sz="1200" dirty="0"/>
          </a:p>
        </p:txBody>
      </p:sp>
      <p:sp>
        <p:nvSpPr>
          <p:cNvPr id="13" name="Shape 10"/>
          <p:cNvSpPr/>
          <p:nvPr/>
        </p:nvSpPr>
        <p:spPr>
          <a:xfrm>
            <a:off x="685800" y="4206240"/>
            <a:ext cx="1097280" cy="237744"/>
          </a:xfrm>
          <a:prstGeom prst="roundRect">
            <a:avLst>
              <a:gd name="adj" fmla="val 50000"/>
            </a:avLst>
          </a:prstGeom>
          <a:solidFill>
            <a:srgbClr val="D9922F"/>
          </a:solidFill>
          <a:ln w="12700">
            <a:solidFill>
              <a:srgbClr val="D9922F"/>
            </a:solidFill>
            <a:prstDash val="solid"/>
          </a:ln>
        </p:spPr>
      </p:sp>
      <p:sp>
        <p:nvSpPr>
          <p:cNvPr id="14" name="Text 11"/>
          <p:cNvSpPr txBox="1"/>
          <p:nvPr/>
        </p:nvSpPr>
        <p:spPr>
          <a:xfrm>
            <a:off x="685800" y="4206240"/>
            <a:ext cx="1097280" cy="237744"/>
          </a:xfrm>
          <a:prstGeom prst="rect">
            <a:avLst/>
          </a:prstGeom>
          <a:noFill/>
          <a:ln/>
        </p:spPr>
        <p:txBody>
          <a:bodyPr wrap="square" lIns="0" tIns="0" rIns="0" bIns="0" rtlCol="0" anchor="ctr"/>
          <a:lstStyle/>
          <a:p>
            <a:pPr algn="ctr" indent="0" marL="0">
              <a:buNone/>
            </a:pPr>
            <a:r>
              <a:rPr lang="en-US" sz="850" b="1" dirty="0">
                <a:solidFill>
                  <a:srgbClr val="F3F6FA"/>
                </a:solidFill>
                <a:latin typeface="Calibri" pitchFamily="34" charset="0"/>
                <a:ea typeface="Calibri" pitchFamily="34" charset="-122"/>
                <a:cs typeface="Calibri" pitchFamily="34" charset="-120"/>
              </a:rPr>
              <a:t>capec · CAPEC-555</a:t>
            </a:r>
            <a:endParaRPr lang="en-US" sz="850" dirty="0"/>
          </a:p>
        </p:txBody>
      </p:sp>
      <p:sp>
        <p:nvSpPr>
          <p:cNvPr id="15" name="Shape 12"/>
          <p:cNvSpPr/>
          <p:nvPr/>
        </p:nvSpPr>
        <p:spPr>
          <a:xfrm>
            <a:off x="1874520" y="4206240"/>
            <a:ext cx="960120" cy="237744"/>
          </a:xfrm>
          <a:prstGeom prst="roundRect">
            <a:avLst>
              <a:gd name="adj" fmla="val 50000"/>
            </a:avLst>
          </a:prstGeom>
          <a:solidFill>
            <a:srgbClr val="21868C"/>
          </a:solidFill>
          <a:ln w="12700">
            <a:solidFill>
              <a:srgbClr val="21868C"/>
            </a:solidFill>
            <a:prstDash val="solid"/>
          </a:ln>
        </p:spPr>
      </p:sp>
      <p:sp>
        <p:nvSpPr>
          <p:cNvPr id="16" name="Text 13"/>
          <p:cNvSpPr txBox="1"/>
          <p:nvPr/>
        </p:nvSpPr>
        <p:spPr>
          <a:xfrm>
            <a:off x="1874520" y="4206240"/>
            <a:ext cx="960120" cy="237744"/>
          </a:xfrm>
          <a:prstGeom prst="rect">
            <a:avLst/>
          </a:prstGeom>
          <a:noFill/>
          <a:ln/>
        </p:spPr>
        <p:txBody>
          <a:bodyPr wrap="square" lIns="0" tIns="0" rIns="0" bIns="0" rtlCol="0" anchor="ctr"/>
          <a:lstStyle/>
          <a:p>
            <a:pPr algn="ctr" indent="0" marL="0">
              <a:buNone/>
            </a:pPr>
            <a:r>
              <a:rPr lang="en-US" sz="850" b="1" dirty="0">
                <a:solidFill>
                  <a:srgbClr val="F3F6FA"/>
                </a:solidFill>
                <a:latin typeface="Calibri" pitchFamily="34" charset="0"/>
                <a:ea typeface="Calibri" pitchFamily="34" charset="-122"/>
                <a:cs typeface="Calibri" pitchFamily="34" charset="-120"/>
              </a:rPr>
              <a:t>attack · T1021</a:t>
            </a:r>
            <a:endParaRPr lang="en-US" sz="850" dirty="0"/>
          </a:p>
        </p:txBody>
      </p:sp>
      <p:sp>
        <p:nvSpPr>
          <p:cNvPr id="17" name="Shape 14"/>
          <p:cNvSpPr/>
          <p:nvPr/>
        </p:nvSpPr>
        <p:spPr>
          <a:xfrm>
            <a:off x="2926080" y="4206240"/>
            <a:ext cx="1097280" cy="237744"/>
          </a:xfrm>
          <a:prstGeom prst="roundRect">
            <a:avLst>
              <a:gd name="adj" fmla="val 50000"/>
            </a:avLst>
          </a:prstGeom>
          <a:solidFill>
            <a:srgbClr val="21868C"/>
          </a:solidFill>
          <a:ln w="12700">
            <a:solidFill>
              <a:srgbClr val="21868C"/>
            </a:solidFill>
            <a:prstDash val="solid"/>
          </a:ln>
        </p:spPr>
      </p:sp>
      <p:sp>
        <p:nvSpPr>
          <p:cNvPr id="18" name="Text 15"/>
          <p:cNvSpPr txBox="1"/>
          <p:nvPr/>
        </p:nvSpPr>
        <p:spPr>
          <a:xfrm>
            <a:off x="2926080" y="4206240"/>
            <a:ext cx="1097280" cy="237744"/>
          </a:xfrm>
          <a:prstGeom prst="rect">
            <a:avLst/>
          </a:prstGeom>
          <a:noFill/>
          <a:ln/>
        </p:spPr>
        <p:txBody>
          <a:bodyPr wrap="square" lIns="0" tIns="0" rIns="0" bIns="0" rtlCol="0" anchor="ctr"/>
          <a:lstStyle/>
          <a:p>
            <a:pPr algn="ctr" indent="0" marL="0">
              <a:buNone/>
            </a:pPr>
            <a:r>
              <a:rPr lang="en-US" sz="850" b="1" dirty="0">
                <a:solidFill>
                  <a:srgbClr val="F3F6FA"/>
                </a:solidFill>
                <a:latin typeface="Calibri" pitchFamily="34" charset="0"/>
                <a:ea typeface="Calibri" pitchFamily="34" charset="-122"/>
                <a:cs typeface="Calibri" pitchFamily="34" charset="-120"/>
              </a:rPr>
              <a:t>attack · T1114.002</a:t>
            </a:r>
            <a:endParaRPr lang="en-US" sz="850" dirty="0"/>
          </a:p>
        </p:txBody>
      </p:sp>
      <p:sp>
        <p:nvSpPr>
          <p:cNvPr id="19" name="Shape 16"/>
          <p:cNvSpPr/>
          <p:nvPr/>
        </p:nvSpPr>
        <p:spPr>
          <a:xfrm>
            <a:off x="4114800" y="4206240"/>
            <a:ext cx="960120" cy="237744"/>
          </a:xfrm>
          <a:prstGeom prst="roundRect">
            <a:avLst>
              <a:gd name="adj" fmla="val 50000"/>
            </a:avLst>
          </a:prstGeom>
          <a:solidFill>
            <a:srgbClr val="21868C"/>
          </a:solidFill>
          <a:ln w="12700">
            <a:solidFill>
              <a:srgbClr val="21868C"/>
            </a:solidFill>
            <a:prstDash val="solid"/>
          </a:ln>
        </p:spPr>
      </p:sp>
      <p:sp>
        <p:nvSpPr>
          <p:cNvPr id="20" name="Text 17"/>
          <p:cNvSpPr txBox="1"/>
          <p:nvPr/>
        </p:nvSpPr>
        <p:spPr>
          <a:xfrm>
            <a:off x="4114800" y="4206240"/>
            <a:ext cx="960120" cy="237744"/>
          </a:xfrm>
          <a:prstGeom prst="rect">
            <a:avLst/>
          </a:prstGeom>
          <a:noFill/>
          <a:ln/>
        </p:spPr>
        <p:txBody>
          <a:bodyPr wrap="square" lIns="0" tIns="0" rIns="0" bIns="0" rtlCol="0" anchor="ctr"/>
          <a:lstStyle/>
          <a:p>
            <a:pPr algn="ctr" indent="0" marL="0">
              <a:buNone/>
            </a:pPr>
            <a:r>
              <a:rPr lang="en-US" sz="850" b="1" dirty="0">
                <a:solidFill>
                  <a:srgbClr val="F3F6FA"/>
                </a:solidFill>
                <a:latin typeface="Calibri" pitchFamily="34" charset="0"/>
                <a:ea typeface="Calibri" pitchFamily="34" charset="-122"/>
                <a:cs typeface="Calibri" pitchFamily="34" charset="-120"/>
              </a:rPr>
              <a:t>attack · T1133</a:t>
            </a:r>
            <a:endParaRPr lang="en-US" sz="850" dirty="0"/>
          </a:p>
        </p:txBody>
      </p:sp>
      <p:sp>
        <p:nvSpPr>
          <p:cNvPr id="21" name="Shape 18"/>
          <p:cNvSpPr/>
          <p:nvPr/>
        </p:nvSpPr>
        <p:spPr>
          <a:xfrm>
            <a:off x="5806440" y="1371600"/>
            <a:ext cx="2880360" cy="3246120"/>
          </a:xfrm>
          <a:prstGeom prst="roundRect">
            <a:avLst>
              <a:gd name="adj" fmla="val 2540"/>
            </a:avLst>
          </a:prstGeom>
          <a:solidFill>
            <a:srgbClr val="1D2B42"/>
          </a:solidFill>
          <a:ln w="9525">
            <a:solidFill>
              <a:srgbClr val="2B3D57"/>
            </a:solidFill>
            <a:prstDash val="solid"/>
          </a:ln>
        </p:spPr>
      </p:sp>
      <p:pic>
        <p:nvPicPr>
          <p:cNvPr id="22" name="Image 1" descr="preencoded.png">    </p:cNvPr>
          <p:cNvPicPr>
            <a:picLocks noChangeAspect="1"/>
          </p:cNvPicPr>
          <p:nvPr/>
        </p:nvPicPr>
        <p:blipFill>
          <a:blip r:embed="rId2"/>
          <a:stretch>
            <a:fillRect/>
          </a:stretch>
        </p:blipFill>
        <p:spPr>
          <a:xfrm>
            <a:off x="5989320" y="1508760"/>
            <a:ext cx="292608" cy="292608"/>
          </a:xfrm>
          <a:prstGeom prst="rect">
            <a:avLst/>
          </a:prstGeom>
        </p:spPr>
      </p:pic>
      <p:sp>
        <p:nvSpPr>
          <p:cNvPr id="23" name="Text 19"/>
          <p:cNvSpPr txBox="1"/>
          <p:nvPr/>
        </p:nvSpPr>
        <p:spPr>
          <a:xfrm>
            <a:off x="6355080" y="1463040"/>
            <a:ext cx="2194560" cy="384048"/>
          </a:xfrm>
          <a:prstGeom prst="rect">
            <a:avLst/>
          </a:prstGeom>
          <a:noFill/>
          <a:ln/>
        </p:spPr>
        <p:txBody>
          <a:bodyPr wrap="square" lIns="0" tIns="0" rIns="0" bIns="0" rtlCol="0" anchor="ctr"/>
          <a:lstStyle/>
          <a:p>
            <a:pPr indent="0" marL="0">
              <a:buNone/>
            </a:pPr>
            <a:r>
              <a:rPr lang="en-US" sz="1300" b="1" dirty="0">
                <a:solidFill>
                  <a:srgbClr val="F3F6FA"/>
                </a:solidFill>
                <a:latin typeface="Calibri" pitchFamily="34" charset="0"/>
                <a:ea typeface="Calibri" pitchFamily="34" charset="-122"/>
                <a:cs typeface="Calibri" pitchFamily="34" charset="-120"/>
              </a:rPr>
              <a:t>When the data has nothing</a:t>
            </a:r>
            <a:endParaRPr lang="en-US" sz="1300" dirty="0"/>
          </a:p>
        </p:txBody>
      </p:sp>
      <p:sp>
        <p:nvSpPr>
          <p:cNvPr id="24" name="Text 20"/>
          <p:cNvSpPr txBox="1"/>
          <p:nvPr/>
        </p:nvSpPr>
        <p:spPr>
          <a:xfrm>
            <a:off x="5989320" y="1965960"/>
            <a:ext cx="2514600" cy="502920"/>
          </a:xfrm>
          <a:prstGeom prst="rect">
            <a:avLst/>
          </a:prstGeom>
          <a:noFill/>
          <a:ln/>
        </p:spPr>
        <p:txBody>
          <a:bodyPr wrap="square" lIns="0" tIns="0" rIns="0" bIns="0" rtlCol="0" anchor="t"/>
          <a:lstStyle/>
          <a:p>
            <a:pPr indent="0" marL="0">
              <a:buNone/>
            </a:pPr>
            <a:r>
              <a:rPr lang="en-US" sz="1200" b="1" dirty="0">
                <a:solidFill>
                  <a:srgbClr val="F3F6FA"/>
                </a:solidFill>
                <a:latin typeface="Calibri" pitchFamily="34" charset="0"/>
                <a:ea typeface="Calibri" pitchFamily="34" charset="-122"/>
                <a:cs typeface="Calibri" pitchFamily="34" charset="-120"/>
              </a:rPr>
              <a:t>“Which ATT&amp;CK techniques does CAPEC-116 map to?”</a:t>
            </a:r>
            <a:endParaRPr lang="en-US" sz="1200" dirty="0"/>
          </a:p>
        </p:txBody>
      </p:sp>
      <p:sp>
        <p:nvSpPr>
          <p:cNvPr id="25" name="Text 21"/>
          <p:cNvSpPr txBox="1"/>
          <p:nvPr/>
        </p:nvSpPr>
        <p:spPr>
          <a:xfrm>
            <a:off x="5989320" y="2560320"/>
            <a:ext cx="2514600" cy="822960"/>
          </a:xfrm>
          <a:prstGeom prst="rect">
            <a:avLst/>
          </a:prstGeom>
          <a:noFill/>
          <a:ln/>
        </p:spPr>
        <p:txBody>
          <a:bodyPr wrap="square" lIns="0" tIns="0" rIns="0" bIns="0" rtlCol="0" anchor="t"/>
          <a:lstStyle/>
          <a:p>
            <a:pPr indent="0" marL="0">
              <a:buNone/>
            </a:pPr>
            <a:r>
              <a:rPr lang="en-US" sz="1150" i="1" dirty="0">
                <a:solidFill>
                  <a:srgbClr val="9AAABE"/>
                </a:solidFill>
                <a:latin typeface="Calibri" pitchFamily="34" charset="0"/>
                <a:ea typeface="Calibri" pitchFamily="34" charset="-122"/>
                <a:cs typeface="Calibri" pitchFamily="34" charset="-120"/>
              </a:rPr>
              <a:t>“The capec source doesn't establish this — the executed query ran cleanly and returned no matching records.”</a:t>
            </a:r>
            <a:endParaRPr lang="en-US" sz="1150" dirty="0"/>
          </a:p>
        </p:txBody>
      </p:sp>
      <p:sp>
        <p:nvSpPr>
          <p:cNvPr id="26" name="Text 22"/>
          <p:cNvSpPr txBox="1"/>
          <p:nvPr/>
        </p:nvSpPr>
        <p:spPr>
          <a:xfrm>
            <a:off x="5989320" y="3474720"/>
            <a:ext cx="2514600" cy="1005840"/>
          </a:xfrm>
          <a:prstGeom prst="rect">
            <a:avLst/>
          </a:prstGeom>
          <a:noFill/>
          <a:ln/>
        </p:spPr>
        <p:txBody>
          <a:bodyPr wrap="square" lIns="0" tIns="0" rIns="0" bIns="0" rtlCol="0" anchor="ctr"/>
          <a:lstStyle/>
          <a:p>
            <a:pPr indent="0" marL="0">
              <a:spcAft>
                <a:spcPts val="400"/>
              </a:spcAft>
              <a:buNone/>
            </a:pPr>
            <a:r>
              <a:rPr lang="en-US" sz="2800" b="1" dirty="0">
                <a:solidFill>
                  <a:srgbClr val="4CC38A"/>
                </a:solidFill>
                <a:latin typeface="Calibri" pitchFamily="34" charset="0"/>
                <a:ea typeface="Calibri" pitchFamily="34" charset="-122"/>
                <a:cs typeface="Calibri" pitchFamily="34" charset="-120"/>
              </a:rPr>
              <a:t>0</a:t>
            </a:r>
            <a:pPr indent="0" marL="0">
              <a:spcAft>
                <a:spcPts val="400"/>
              </a:spcAft>
              <a:buNone/>
            </a:pPr>
            <a:r>
              <a:rPr lang="en-US" sz="1200" dirty="0">
                <a:solidFill>
                  <a:srgbClr val="F3F6FA"/>
                </a:solidFill>
                <a:latin typeface="Calibri" pitchFamily="34" charset="0"/>
                <a:ea typeface="Calibri" pitchFamily="34" charset="-122"/>
                <a:cs typeface="Calibri" pitchFamily="34" charset="-120"/>
              </a:rPr>
              <a:t>  claims made</a:t>
            </a:r>
            <a:endParaRPr lang="en-US" sz="1200" dirty="0"/>
          </a:p>
          <a:p>
            <a:pPr indent="0" marL="0">
              <a:spcAft>
                <a:spcPts val="400"/>
              </a:spcAft>
              <a:buNone/>
            </a:pPr>
            <a:r>
              <a:rPr lang="en-US" sz="2800" b="1" dirty="0">
                <a:solidFill>
                  <a:srgbClr val="4CC38A"/>
                </a:solidFill>
                <a:latin typeface="Calibri" pitchFamily="34" charset="0"/>
                <a:ea typeface="Calibri" pitchFamily="34" charset="-122"/>
                <a:cs typeface="Calibri" pitchFamily="34" charset="-120"/>
              </a:rPr>
              <a:t>0</a:t>
            </a:r>
            <a:pPr indent="0" marL="0">
              <a:spcAft>
                <a:spcPts val="400"/>
              </a:spcAft>
              <a:buNone/>
            </a:pPr>
            <a:r>
              <a:rPr lang="en-US" sz="1200" dirty="0">
                <a:solidFill>
                  <a:srgbClr val="F3F6FA"/>
                </a:solidFill>
                <a:latin typeface="Calibri" pitchFamily="34" charset="0"/>
                <a:ea typeface="Calibri" pitchFamily="34" charset="-122"/>
                <a:cs typeface="Calibri" pitchFamily="34" charset="-120"/>
              </a:rPr>
              <a:t>  invented mappings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7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75320" y="256032"/>
            <a:ext cx="384048" cy="329184"/>
          </a:xfrm>
          <a:prstGeom prst="rect">
            <a:avLst/>
          </a:prstGeom>
        </p:spPr>
      </p:pic>
      <p:sp>
        <p:nvSpPr>
          <p:cNvPr id="3" name="Text 0"/>
          <p:cNvSpPr txBox="1"/>
          <p:nvPr/>
        </p:nvSpPr>
        <p:spPr>
          <a:xfrm>
            <a:off x="457200" y="292608"/>
            <a:ext cx="7680960" cy="685800"/>
          </a:xfrm>
          <a:prstGeom prst="rect">
            <a:avLst/>
          </a:prstGeom>
          <a:noFill/>
          <a:ln/>
        </p:spPr>
        <p:txBody>
          <a:bodyPr wrap="square" lIns="0" tIns="0" rIns="0" bIns="0" rtlCol="0" anchor="ctr"/>
          <a:lstStyle/>
          <a:p>
            <a:pPr indent="0" marL="0">
              <a:buNone/>
            </a:pPr>
            <a:r>
              <a:rPr lang="en-US" sz="2400" b="1" dirty="0">
                <a:solidFill>
                  <a:srgbClr val="F3F6FA"/>
                </a:solidFill>
                <a:latin typeface="Calibri" pitchFamily="34" charset="0"/>
                <a:ea typeface="Calibri" pitchFamily="34" charset="-122"/>
                <a:cs typeface="Calibri" pitchFamily="34" charset="-120"/>
              </a:rPr>
              <a:t>288 held-back questions · three ways of answering</a:t>
            </a:r>
            <a:endParaRPr lang="en-US" sz="2400" dirty="0"/>
          </a:p>
        </p:txBody>
      </p:sp>
      <p:sp>
        <p:nvSpPr>
          <p:cNvPr id="4" name="Shape 1"/>
          <p:cNvSpPr/>
          <p:nvPr/>
        </p:nvSpPr>
        <p:spPr>
          <a:xfrm>
            <a:off x="457200" y="1188720"/>
            <a:ext cx="5212080" cy="3429000"/>
          </a:xfrm>
          <a:prstGeom prst="roundRect">
            <a:avLst>
              <a:gd name="adj" fmla="val 2133"/>
            </a:avLst>
          </a:prstGeom>
          <a:solidFill>
            <a:srgbClr val="172236"/>
          </a:solidFill>
          <a:ln w="9525">
            <a:solidFill>
              <a:srgbClr val="2B3D57"/>
            </a:solidFill>
            <a:prstDash val="solid"/>
          </a:ln>
        </p:spPr>
      </p:sp>
      <p:graphicFrame>
        <p:nvGraphicFramePr>
          <p:cNvPr id="5" name="Chart 0" descr=""/>
          <p:cNvGraphicFramePr/>
          <p:nvPr/>
        </p:nvGraphicFramePr>
        <p:xfrm>
          <a:off x="548640" y="1325880"/>
          <a:ext cx="5029200" cy="251460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685800" y="3931920"/>
            <a:ext cx="4754880" cy="502920"/>
          </a:xfrm>
          <a:prstGeom prst="rect">
            <a:avLst/>
          </a:prstGeom>
          <a:noFill/>
          <a:ln/>
        </p:spPr>
        <p:txBody>
          <a:bodyPr wrap="square" lIns="0" tIns="0" rIns="0" bIns="0" rtlCol="0" anchor="ctr"/>
          <a:lstStyle/>
          <a:p>
            <a:pPr indent="0" marL="0">
              <a:buNone/>
            </a:pPr>
            <a:r>
              <a:rPr lang="en-US" sz="1250" i="1" dirty="0">
                <a:solidFill>
                  <a:srgbClr val="9AAABE"/>
                </a:solidFill>
                <a:latin typeface="Calibri" pitchFamily="34" charset="0"/>
                <a:ea typeface="Calibri" pitchFamily="34" charset="-122"/>
                <a:cs typeface="Calibri" pitchFamily="34" charset="-120"/>
              </a:rPr>
              <a:t>Two independent graders agree on the order.</a:t>
            </a:r>
            <a:endParaRPr lang="en-US" sz="1250" dirty="0"/>
          </a:p>
        </p:txBody>
      </p:sp>
      <p:sp>
        <p:nvSpPr>
          <p:cNvPr id="7" name="Shape 3"/>
          <p:cNvSpPr/>
          <p:nvPr/>
        </p:nvSpPr>
        <p:spPr>
          <a:xfrm>
            <a:off x="5897880" y="1188720"/>
            <a:ext cx="2788920" cy="1051560"/>
          </a:xfrm>
          <a:prstGeom prst="roundRect">
            <a:avLst>
              <a:gd name="adj" fmla="val 6957"/>
            </a:avLst>
          </a:prstGeom>
          <a:solidFill>
            <a:srgbClr val="1D2B42"/>
          </a:solidFill>
          <a:ln w="9525">
            <a:solidFill>
              <a:srgbClr val="2B3D57"/>
            </a:solidFill>
            <a:prstDash val="solid"/>
          </a:ln>
        </p:spPr>
      </p:sp>
      <p:sp>
        <p:nvSpPr>
          <p:cNvPr id="8" name="Text 4"/>
          <p:cNvSpPr txBox="1"/>
          <p:nvPr/>
        </p:nvSpPr>
        <p:spPr>
          <a:xfrm>
            <a:off x="6080760" y="1280160"/>
            <a:ext cx="2468880" cy="457200"/>
          </a:xfrm>
          <a:prstGeom prst="rect">
            <a:avLst/>
          </a:prstGeom>
          <a:noFill/>
          <a:ln/>
        </p:spPr>
        <p:txBody>
          <a:bodyPr wrap="square" lIns="0" tIns="0" rIns="0" bIns="0" rtlCol="0" anchor="ctr"/>
          <a:lstStyle/>
          <a:p>
            <a:pPr indent="0" marL="0">
              <a:buNone/>
            </a:pPr>
            <a:r>
              <a:rPr lang="en-US" sz="2400" b="1" dirty="0">
                <a:solidFill>
                  <a:srgbClr val="F2B24F"/>
                </a:solidFill>
                <a:latin typeface="Calibri" pitchFamily="34" charset="0"/>
                <a:ea typeface="Calibri" pitchFamily="34" charset="-122"/>
                <a:cs typeface="Calibri" pitchFamily="34" charset="-120"/>
              </a:rPr>
              <a:t>4 s vs 2 days</a:t>
            </a:r>
            <a:endParaRPr lang="en-US" sz="2400" dirty="0"/>
          </a:p>
        </p:txBody>
      </p:sp>
      <p:sp>
        <p:nvSpPr>
          <p:cNvPr id="9" name="Text 5"/>
          <p:cNvSpPr txBox="1"/>
          <p:nvPr/>
        </p:nvSpPr>
        <p:spPr>
          <a:xfrm>
            <a:off x="6080760" y="1755648"/>
            <a:ext cx="2468880" cy="457200"/>
          </a:xfrm>
          <a:prstGeom prst="rect">
            <a:avLst/>
          </a:prstGeom>
          <a:noFill/>
          <a:ln/>
        </p:spPr>
        <p:txBody>
          <a:bodyPr wrap="square" lIns="0" tIns="0" rIns="0" bIns="0" rtlCol="0" anchor="t"/>
          <a:lstStyle/>
          <a:p>
            <a:pPr indent="0" marL="0">
              <a:buNone/>
            </a:pPr>
            <a:r>
              <a:rPr lang="en-US" sz="1050" dirty="0">
                <a:solidFill>
                  <a:srgbClr val="9AAABE"/>
                </a:solidFill>
                <a:latin typeface="Calibri" pitchFamily="34" charset="0"/>
                <a:ea typeface="Calibri" pitchFamily="34" charset="-122"/>
                <a:cs typeface="Calibri" pitchFamily="34" charset="-120"/>
              </a:rPr>
              <a:t>hand-written vs AI-written queries, same questions</a:t>
            </a:r>
            <a:endParaRPr lang="en-US" sz="1050" dirty="0"/>
          </a:p>
        </p:txBody>
      </p:sp>
      <p:sp>
        <p:nvSpPr>
          <p:cNvPr id="10" name="Shape 6"/>
          <p:cNvSpPr/>
          <p:nvPr/>
        </p:nvSpPr>
        <p:spPr>
          <a:xfrm>
            <a:off x="5897880" y="2359152"/>
            <a:ext cx="2788920" cy="1051560"/>
          </a:xfrm>
          <a:prstGeom prst="roundRect">
            <a:avLst>
              <a:gd name="adj" fmla="val 6957"/>
            </a:avLst>
          </a:prstGeom>
          <a:solidFill>
            <a:srgbClr val="1D2B42"/>
          </a:solidFill>
          <a:ln w="9525">
            <a:solidFill>
              <a:srgbClr val="2B3D57"/>
            </a:solidFill>
            <a:prstDash val="solid"/>
          </a:ln>
        </p:spPr>
      </p:sp>
      <p:sp>
        <p:nvSpPr>
          <p:cNvPr id="11" name="Text 7"/>
          <p:cNvSpPr txBox="1"/>
          <p:nvPr/>
        </p:nvSpPr>
        <p:spPr>
          <a:xfrm>
            <a:off x="6080760" y="2450592"/>
            <a:ext cx="2468880" cy="457200"/>
          </a:xfrm>
          <a:prstGeom prst="rect">
            <a:avLst/>
          </a:prstGeom>
          <a:noFill/>
          <a:ln/>
        </p:spPr>
        <p:txBody>
          <a:bodyPr wrap="square" lIns="0" tIns="0" rIns="0" bIns="0" rtlCol="0" anchor="ctr"/>
          <a:lstStyle/>
          <a:p>
            <a:pPr indent="0" marL="0">
              <a:buNone/>
            </a:pPr>
            <a:r>
              <a:rPr lang="en-US" sz="2400" b="1" dirty="0">
                <a:solidFill>
                  <a:srgbClr val="4CC38A"/>
                </a:solidFill>
                <a:latin typeface="Calibri" pitchFamily="34" charset="0"/>
                <a:ea typeface="Calibri" pitchFamily="34" charset="-122"/>
                <a:cs typeface="Calibri" pitchFamily="34" charset="-120"/>
              </a:rPr>
              <a:t>0</a:t>
            </a:r>
            <a:endParaRPr lang="en-US" sz="2400" dirty="0"/>
          </a:p>
        </p:txBody>
      </p:sp>
      <p:sp>
        <p:nvSpPr>
          <p:cNvPr id="12" name="Text 8"/>
          <p:cNvSpPr txBox="1"/>
          <p:nvPr/>
        </p:nvSpPr>
        <p:spPr>
          <a:xfrm>
            <a:off x="6080760" y="2926080"/>
            <a:ext cx="2468880" cy="457200"/>
          </a:xfrm>
          <a:prstGeom prst="rect">
            <a:avLst/>
          </a:prstGeom>
          <a:noFill/>
          <a:ln/>
        </p:spPr>
        <p:txBody>
          <a:bodyPr wrap="square" lIns="0" tIns="0" rIns="0" bIns="0" rtlCol="0" anchor="t"/>
          <a:lstStyle/>
          <a:p>
            <a:pPr indent="0" marL="0">
              <a:buNone/>
            </a:pPr>
            <a:r>
              <a:rPr lang="en-US" sz="1050" dirty="0">
                <a:solidFill>
                  <a:srgbClr val="9AAABE"/>
                </a:solidFill>
                <a:latin typeface="Calibri" pitchFamily="34" charset="0"/>
                <a:ea typeface="Calibri" pitchFamily="34" charset="-122"/>
                <a:cs typeface="Calibri" pitchFamily="34" charset="-120"/>
              </a:rPr>
              <a:t>made-up claims — by construction</a:t>
            </a:r>
            <a:endParaRPr lang="en-US" sz="1050" dirty="0"/>
          </a:p>
        </p:txBody>
      </p:sp>
      <p:sp>
        <p:nvSpPr>
          <p:cNvPr id="13" name="Shape 9"/>
          <p:cNvSpPr/>
          <p:nvPr/>
        </p:nvSpPr>
        <p:spPr>
          <a:xfrm>
            <a:off x="5897880" y="3529584"/>
            <a:ext cx="2788920" cy="1051560"/>
          </a:xfrm>
          <a:prstGeom prst="roundRect">
            <a:avLst>
              <a:gd name="adj" fmla="val 6957"/>
            </a:avLst>
          </a:prstGeom>
          <a:solidFill>
            <a:srgbClr val="1D2B42"/>
          </a:solidFill>
          <a:ln w="9525">
            <a:solidFill>
              <a:srgbClr val="2B3D57"/>
            </a:solidFill>
            <a:prstDash val="solid"/>
          </a:ln>
        </p:spPr>
      </p:sp>
      <p:sp>
        <p:nvSpPr>
          <p:cNvPr id="14" name="Text 10"/>
          <p:cNvSpPr txBox="1"/>
          <p:nvPr/>
        </p:nvSpPr>
        <p:spPr>
          <a:xfrm>
            <a:off x="6080760" y="3621024"/>
            <a:ext cx="2468880" cy="457200"/>
          </a:xfrm>
          <a:prstGeom prst="rect">
            <a:avLst/>
          </a:prstGeom>
          <a:noFill/>
          <a:ln/>
        </p:spPr>
        <p:txBody>
          <a:bodyPr wrap="square" lIns="0" tIns="0" rIns="0" bIns="0" rtlCol="0" anchor="ctr"/>
          <a:lstStyle/>
          <a:p>
            <a:pPr indent="0" marL="0">
              <a:buNone/>
            </a:pPr>
            <a:r>
              <a:rPr lang="en-US" sz="2400" b="1" dirty="0">
                <a:solidFill>
                  <a:srgbClr val="3FBFC5"/>
                </a:solidFill>
                <a:latin typeface="Calibri" pitchFamily="34" charset="0"/>
                <a:ea typeface="Calibri" pitchFamily="34" charset="-122"/>
                <a:cs typeface="Calibri" pitchFamily="34" charset="-120"/>
              </a:rPr>
              <a:t>240 / 240</a:t>
            </a:r>
            <a:endParaRPr lang="en-US" sz="2400" dirty="0"/>
          </a:p>
        </p:txBody>
      </p:sp>
      <p:sp>
        <p:nvSpPr>
          <p:cNvPr id="15" name="Text 11"/>
          <p:cNvSpPr txBox="1"/>
          <p:nvPr/>
        </p:nvSpPr>
        <p:spPr>
          <a:xfrm>
            <a:off x="6080760" y="4096512"/>
            <a:ext cx="2468880" cy="457200"/>
          </a:xfrm>
          <a:prstGeom prst="rect">
            <a:avLst/>
          </a:prstGeom>
          <a:noFill/>
          <a:ln/>
        </p:spPr>
        <p:txBody>
          <a:bodyPr wrap="square" lIns="0" tIns="0" rIns="0" bIns="0" rtlCol="0" anchor="t"/>
          <a:lstStyle/>
          <a:p>
            <a:pPr indent="0" marL="0">
              <a:buNone/>
            </a:pPr>
            <a:r>
              <a:rPr lang="en-US" sz="1050" dirty="0">
                <a:solidFill>
                  <a:srgbClr val="9AAABE"/>
                </a:solidFill>
                <a:latin typeface="Calibri" pitchFamily="34" charset="0"/>
                <a:ea typeface="Calibri" pitchFamily="34" charset="-122"/>
                <a:cs typeface="Calibri" pitchFamily="34" charset="-120"/>
              </a:rPr>
              <a:t>adversarial queries blocked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7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75320" y="256032"/>
            <a:ext cx="384048" cy="329184"/>
          </a:xfrm>
          <a:prstGeom prst="rect">
            <a:avLst/>
          </a:prstGeom>
        </p:spPr>
      </p:pic>
      <p:sp>
        <p:nvSpPr>
          <p:cNvPr id="3" name="Text 0"/>
          <p:cNvSpPr txBox="1"/>
          <p:nvPr/>
        </p:nvSpPr>
        <p:spPr>
          <a:xfrm>
            <a:off x="457200" y="292608"/>
            <a:ext cx="7680960" cy="685800"/>
          </a:xfrm>
          <a:prstGeom prst="rect">
            <a:avLst/>
          </a:prstGeom>
          <a:noFill/>
          <a:ln/>
        </p:spPr>
        <p:txBody>
          <a:bodyPr wrap="square" lIns="0" tIns="0" rIns="0" bIns="0" rtlCol="0" anchor="ctr"/>
          <a:lstStyle/>
          <a:p>
            <a:pPr indent="0" marL="0">
              <a:buNone/>
            </a:pPr>
            <a:r>
              <a:rPr lang="en-US" sz="2400" b="1" dirty="0">
                <a:solidFill>
                  <a:srgbClr val="F3F6FA"/>
                </a:solidFill>
                <a:latin typeface="Calibri" pitchFamily="34" charset="0"/>
                <a:ea typeface="Calibri" pitchFamily="34" charset="-122"/>
                <a:cs typeface="Calibri" pitchFamily="34" charset="-120"/>
              </a:rPr>
              <a:t>Adding a database is a spec sheet, not a project</a:t>
            </a:r>
            <a:endParaRPr lang="en-US" sz="2400" dirty="0"/>
          </a:p>
        </p:txBody>
      </p:sp>
      <p:sp>
        <p:nvSpPr>
          <p:cNvPr id="4" name="Shape 1"/>
          <p:cNvSpPr/>
          <p:nvPr/>
        </p:nvSpPr>
        <p:spPr>
          <a:xfrm>
            <a:off x="457200" y="1188720"/>
            <a:ext cx="3931920" cy="3429000"/>
          </a:xfrm>
          <a:prstGeom prst="roundRect">
            <a:avLst>
              <a:gd name="adj" fmla="val 2133"/>
            </a:avLst>
          </a:prstGeom>
          <a:solidFill>
            <a:srgbClr val="172236"/>
          </a:solidFill>
          <a:ln w="9525">
            <a:solidFill>
              <a:srgbClr val="2B3D57"/>
            </a:solidFill>
            <a:prstDash val="solid"/>
          </a:ln>
        </p:spPr>
      </p:sp>
      <p:sp>
        <p:nvSpPr>
          <p:cNvPr id="5" name="Shape 2"/>
          <p:cNvSpPr/>
          <p:nvPr/>
        </p:nvSpPr>
        <p:spPr>
          <a:xfrm>
            <a:off x="685800" y="1508760"/>
            <a:ext cx="1600200" cy="640080"/>
          </a:xfrm>
          <a:prstGeom prst="roundRect">
            <a:avLst>
              <a:gd name="adj" fmla="val 11429"/>
            </a:avLst>
          </a:prstGeom>
          <a:solidFill>
            <a:srgbClr val="1D2B42"/>
          </a:solidFill>
          <a:ln w="9525">
            <a:solidFill>
              <a:srgbClr val="2B3D57"/>
            </a:solidFill>
            <a:prstDash val="solid"/>
          </a:ln>
        </p:spPr>
      </p:sp>
      <p:pic>
        <p:nvPicPr>
          <p:cNvPr id="6" name="Image 1" descr="preencoded.png">    </p:cNvPr>
          <p:cNvPicPr>
            <a:picLocks noChangeAspect="1"/>
          </p:cNvPicPr>
          <p:nvPr/>
        </p:nvPicPr>
        <p:blipFill>
          <a:blip r:embed="rId2"/>
          <a:stretch>
            <a:fillRect/>
          </a:stretch>
        </p:blipFill>
        <p:spPr>
          <a:xfrm>
            <a:off x="804672" y="1691640"/>
            <a:ext cx="274320" cy="274320"/>
          </a:xfrm>
          <a:prstGeom prst="rect">
            <a:avLst/>
          </a:prstGeom>
        </p:spPr>
      </p:pic>
      <p:sp>
        <p:nvSpPr>
          <p:cNvPr id="7" name="Text 3"/>
          <p:cNvSpPr txBox="1"/>
          <p:nvPr/>
        </p:nvSpPr>
        <p:spPr>
          <a:xfrm>
            <a:off x="1143000" y="1508760"/>
            <a:ext cx="1097280" cy="640080"/>
          </a:xfrm>
          <a:prstGeom prst="rect">
            <a:avLst/>
          </a:prstGeom>
          <a:noFill/>
          <a:ln/>
        </p:spPr>
        <p:txBody>
          <a:bodyPr wrap="square" lIns="0" tIns="0" rIns="0" bIns="0" rtlCol="0" anchor="ctr"/>
          <a:lstStyle/>
          <a:p>
            <a:pPr indent="0" marL="0">
              <a:buNone/>
            </a:pPr>
            <a:r>
              <a:rPr lang="en-US" sz="1000" b="1" dirty="0">
                <a:solidFill>
                  <a:srgbClr val="F3F6FA"/>
                </a:solidFill>
                <a:latin typeface="Calibri" pitchFamily="34" charset="0"/>
                <a:ea typeface="Calibri" pitchFamily="34" charset="-122"/>
                <a:cs typeface="Calibri" pitchFamily="34" charset="-120"/>
              </a:rPr>
              <a:t>ATT&amp;CK</a:t>
            </a:r>
            <a:endParaRPr lang="en-US" sz="1000" dirty="0"/>
          </a:p>
          <a:p>
            <a:pPr indent="0" marL="0">
              <a:buNone/>
            </a:pPr>
            <a:r>
              <a:rPr lang="en-US" sz="1000" dirty="0">
                <a:solidFill>
                  <a:srgbClr val="9AAABE"/>
                </a:solidFill>
                <a:latin typeface="Calibri" pitchFamily="34" charset="0"/>
                <a:ea typeface="Calibri" pitchFamily="34" charset="-122"/>
                <a:cs typeface="Calibri" pitchFamily="34" charset="-120"/>
              </a:rPr>
              <a:t>Neo4j · Cypher</a:t>
            </a:r>
            <a:endParaRPr lang="en-US" sz="1000" dirty="0"/>
          </a:p>
        </p:txBody>
      </p:sp>
      <p:sp>
        <p:nvSpPr>
          <p:cNvPr id="8" name="Shape 4"/>
          <p:cNvSpPr/>
          <p:nvPr/>
        </p:nvSpPr>
        <p:spPr>
          <a:xfrm>
            <a:off x="2286000" y="1828800"/>
            <a:ext cx="777240" cy="0"/>
          </a:xfrm>
          <a:prstGeom prst="line">
            <a:avLst/>
          </a:prstGeom>
          <a:noFill/>
          <a:ln w="19050">
            <a:solidFill>
              <a:srgbClr val="D9922F"/>
            </a:solidFill>
            <a:prstDash val="dash"/>
          </a:ln>
        </p:spPr>
      </p:sp>
      <p:sp>
        <p:nvSpPr>
          <p:cNvPr id="9" name="Shape 5"/>
          <p:cNvSpPr/>
          <p:nvPr/>
        </p:nvSpPr>
        <p:spPr>
          <a:xfrm>
            <a:off x="685800" y="2377440"/>
            <a:ext cx="1600200" cy="640080"/>
          </a:xfrm>
          <a:prstGeom prst="roundRect">
            <a:avLst>
              <a:gd name="adj" fmla="val 11429"/>
            </a:avLst>
          </a:prstGeom>
          <a:solidFill>
            <a:srgbClr val="1D2B42"/>
          </a:solidFill>
          <a:ln w="9525">
            <a:solidFill>
              <a:srgbClr val="2B3D57"/>
            </a:solidFill>
            <a:prstDash val="solid"/>
          </a:ln>
        </p:spPr>
      </p:sp>
      <p:pic>
        <p:nvPicPr>
          <p:cNvPr id="10" name="Image 2" descr="preencoded.png">    </p:cNvPr>
          <p:cNvPicPr>
            <a:picLocks noChangeAspect="1"/>
          </p:cNvPicPr>
          <p:nvPr/>
        </p:nvPicPr>
        <p:blipFill>
          <a:blip r:embed="rId3"/>
          <a:stretch>
            <a:fillRect/>
          </a:stretch>
        </p:blipFill>
        <p:spPr>
          <a:xfrm>
            <a:off x="804672" y="2560320"/>
            <a:ext cx="274320" cy="274320"/>
          </a:xfrm>
          <a:prstGeom prst="rect">
            <a:avLst/>
          </a:prstGeom>
        </p:spPr>
      </p:pic>
      <p:sp>
        <p:nvSpPr>
          <p:cNvPr id="11" name="Text 6"/>
          <p:cNvSpPr txBox="1"/>
          <p:nvPr/>
        </p:nvSpPr>
        <p:spPr>
          <a:xfrm>
            <a:off x="1143000" y="2377440"/>
            <a:ext cx="1097280" cy="640080"/>
          </a:xfrm>
          <a:prstGeom prst="rect">
            <a:avLst/>
          </a:prstGeom>
          <a:noFill/>
          <a:ln/>
        </p:spPr>
        <p:txBody>
          <a:bodyPr wrap="square" lIns="0" tIns="0" rIns="0" bIns="0" rtlCol="0" anchor="ctr"/>
          <a:lstStyle/>
          <a:p>
            <a:pPr indent="0" marL="0">
              <a:buNone/>
            </a:pPr>
            <a:r>
              <a:rPr lang="en-US" sz="1000" b="1" dirty="0">
                <a:solidFill>
                  <a:srgbClr val="F3F6FA"/>
                </a:solidFill>
                <a:latin typeface="Calibri" pitchFamily="34" charset="0"/>
                <a:ea typeface="Calibri" pitchFamily="34" charset="-122"/>
                <a:cs typeface="Calibri" pitchFamily="34" charset="-120"/>
              </a:rPr>
              <a:t>CAPEC</a:t>
            </a:r>
            <a:endParaRPr lang="en-US" sz="1000" dirty="0"/>
          </a:p>
          <a:p>
            <a:pPr indent="0" marL="0">
              <a:buNone/>
            </a:pPr>
            <a:r>
              <a:rPr lang="en-US" sz="1000" dirty="0">
                <a:solidFill>
                  <a:srgbClr val="9AAABE"/>
                </a:solidFill>
                <a:latin typeface="Calibri" pitchFamily="34" charset="0"/>
                <a:ea typeface="Calibri" pitchFamily="34" charset="-122"/>
                <a:cs typeface="Calibri" pitchFamily="34" charset="-120"/>
              </a:rPr>
              <a:t>Gremlin</a:t>
            </a:r>
            <a:endParaRPr lang="en-US" sz="1000" dirty="0"/>
          </a:p>
        </p:txBody>
      </p:sp>
      <p:sp>
        <p:nvSpPr>
          <p:cNvPr id="12" name="Shape 7"/>
          <p:cNvSpPr/>
          <p:nvPr/>
        </p:nvSpPr>
        <p:spPr>
          <a:xfrm>
            <a:off x="2286000" y="2697480"/>
            <a:ext cx="777240" cy="0"/>
          </a:xfrm>
          <a:prstGeom prst="line">
            <a:avLst/>
          </a:prstGeom>
          <a:noFill/>
          <a:ln w="19050">
            <a:solidFill>
              <a:srgbClr val="D9922F"/>
            </a:solidFill>
            <a:prstDash val="dash"/>
          </a:ln>
        </p:spPr>
      </p:sp>
      <p:sp>
        <p:nvSpPr>
          <p:cNvPr id="13" name="Shape 8"/>
          <p:cNvSpPr/>
          <p:nvPr/>
        </p:nvSpPr>
        <p:spPr>
          <a:xfrm>
            <a:off x="685800" y="3246120"/>
            <a:ext cx="1600200" cy="640080"/>
          </a:xfrm>
          <a:prstGeom prst="roundRect">
            <a:avLst>
              <a:gd name="adj" fmla="val 11429"/>
            </a:avLst>
          </a:prstGeom>
          <a:solidFill>
            <a:srgbClr val="1D2B42"/>
          </a:solidFill>
          <a:ln w="9525">
            <a:solidFill>
              <a:srgbClr val="2B3D57"/>
            </a:solidFill>
            <a:prstDash val="solid"/>
          </a:ln>
        </p:spPr>
      </p:sp>
      <p:pic>
        <p:nvPicPr>
          <p:cNvPr id="14" name="Image 3" descr="preencoded.png">    </p:cNvPr>
          <p:cNvPicPr>
            <a:picLocks noChangeAspect="1"/>
          </p:cNvPicPr>
          <p:nvPr/>
        </p:nvPicPr>
        <p:blipFill>
          <a:blip r:embed="rId4"/>
          <a:stretch>
            <a:fillRect/>
          </a:stretch>
        </p:blipFill>
        <p:spPr>
          <a:xfrm>
            <a:off x="804672" y="3429000"/>
            <a:ext cx="274320" cy="274320"/>
          </a:xfrm>
          <a:prstGeom prst="rect">
            <a:avLst/>
          </a:prstGeom>
        </p:spPr>
      </p:pic>
      <p:sp>
        <p:nvSpPr>
          <p:cNvPr id="15" name="Text 9"/>
          <p:cNvSpPr txBox="1"/>
          <p:nvPr/>
        </p:nvSpPr>
        <p:spPr>
          <a:xfrm>
            <a:off x="1143000" y="3246120"/>
            <a:ext cx="1097280" cy="640080"/>
          </a:xfrm>
          <a:prstGeom prst="rect">
            <a:avLst/>
          </a:prstGeom>
          <a:noFill/>
          <a:ln/>
        </p:spPr>
        <p:txBody>
          <a:bodyPr wrap="square" lIns="0" tIns="0" rIns="0" bIns="0" rtlCol="0" anchor="ctr"/>
          <a:lstStyle/>
          <a:p>
            <a:pPr indent="0" marL="0">
              <a:buNone/>
            </a:pPr>
            <a:r>
              <a:rPr lang="en-US" sz="1000" b="1" dirty="0">
                <a:solidFill>
                  <a:srgbClr val="F3F6FA"/>
                </a:solidFill>
                <a:latin typeface="Calibri" pitchFamily="34" charset="0"/>
                <a:ea typeface="Calibri" pitchFamily="34" charset="-122"/>
                <a:cs typeface="Calibri" pitchFamily="34" charset="-120"/>
              </a:rPr>
              <a:t>Identity graph</a:t>
            </a:r>
            <a:endParaRPr lang="en-US" sz="1000" dirty="0"/>
          </a:p>
          <a:p>
            <a:pPr indent="0" marL="0">
              <a:buNone/>
            </a:pPr>
            <a:r>
              <a:rPr lang="en-US" sz="1000" dirty="0">
                <a:solidFill>
                  <a:srgbClr val="9AAABE"/>
                </a:solidFill>
                <a:latin typeface="Calibri" pitchFamily="34" charset="0"/>
                <a:ea typeface="Calibri" pitchFamily="34" charset="-122"/>
                <a:cs typeface="Calibri" pitchFamily="34" charset="-120"/>
              </a:rPr>
              <a:t>Neo4j · Cypher</a:t>
            </a:r>
            <a:endParaRPr lang="en-US" sz="1000" dirty="0"/>
          </a:p>
        </p:txBody>
      </p:sp>
      <p:sp>
        <p:nvSpPr>
          <p:cNvPr id="16" name="Shape 10"/>
          <p:cNvSpPr/>
          <p:nvPr/>
        </p:nvSpPr>
        <p:spPr>
          <a:xfrm>
            <a:off x="2286000" y="3566160"/>
            <a:ext cx="777240" cy="0"/>
          </a:xfrm>
          <a:prstGeom prst="line">
            <a:avLst/>
          </a:prstGeom>
          <a:noFill/>
          <a:ln w="19050">
            <a:solidFill>
              <a:srgbClr val="D9922F"/>
            </a:solidFill>
            <a:prstDash val="dash"/>
          </a:ln>
        </p:spPr>
      </p:sp>
      <p:sp>
        <p:nvSpPr>
          <p:cNvPr id="17" name="Shape 11"/>
          <p:cNvSpPr/>
          <p:nvPr/>
        </p:nvSpPr>
        <p:spPr>
          <a:xfrm>
            <a:off x="3063240" y="1828800"/>
            <a:ext cx="0" cy="1737360"/>
          </a:xfrm>
          <a:prstGeom prst="line">
            <a:avLst/>
          </a:prstGeom>
          <a:noFill/>
          <a:ln w="19050">
            <a:solidFill>
              <a:srgbClr val="D9922F"/>
            </a:solidFill>
            <a:prstDash val="dash"/>
          </a:ln>
        </p:spPr>
      </p:sp>
      <p:sp>
        <p:nvSpPr>
          <p:cNvPr id="18" name="Shape 12"/>
          <p:cNvSpPr/>
          <p:nvPr/>
        </p:nvSpPr>
        <p:spPr>
          <a:xfrm>
            <a:off x="3063240" y="2697480"/>
            <a:ext cx="137160" cy="0"/>
          </a:xfrm>
          <a:prstGeom prst="line">
            <a:avLst/>
          </a:prstGeom>
          <a:noFill/>
          <a:ln w="19050">
            <a:solidFill>
              <a:srgbClr val="D9922F"/>
            </a:solidFill>
            <a:prstDash val="dash"/>
          </a:ln>
        </p:spPr>
      </p:sp>
      <p:sp>
        <p:nvSpPr>
          <p:cNvPr id="19" name="Shape 13"/>
          <p:cNvSpPr/>
          <p:nvPr/>
        </p:nvSpPr>
        <p:spPr>
          <a:xfrm>
            <a:off x="3200400" y="2212848"/>
            <a:ext cx="960120" cy="960120"/>
          </a:xfrm>
          <a:prstGeom prst="ellipse">
            <a:avLst/>
          </a:prstGeom>
          <a:solidFill>
            <a:srgbClr val="1D2B42"/>
          </a:solidFill>
          <a:ln w="19050">
            <a:solidFill>
              <a:srgbClr val="21868C"/>
            </a:solidFill>
            <a:prstDash val="solid"/>
          </a:ln>
        </p:spPr>
      </p:sp>
      <p:pic>
        <p:nvPicPr>
          <p:cNvPr id="20" name="Image 4" descr="preencoded.png">    </p:cNvPr>
          <p:cNvPicPr>
            <a:picLocks noChangeAspect="1"/>
          </p:cNvPicPr>
          <p:nvPr/>
        </p:nvPicPr>
        <p:blipFill>
          <a:blip r:embed="rId5"/>
          <a:stretch>
            <a:fillRect/>
          </a:stretch>
        </p:blipFill>
        <p:spPr>
          <a:xfrm>
            <a:off x="3383280" y="2377440"/>
            <a:ext cx="594360" cy="512064"/>
          </a:xfrm>
          <a:prstGeom prst="rect">
            <a:avLst/>
          </a:prstGeom>
        </p:spPr>
      </p:pic>
      <p:sp>
        <p:nvSpPr>
          <p:cNvPr id="21" name="Text 14"/>
          <p:cNvSpPr txBox="1"/>
          <p:nvPr/>
        </p:nvSpPr>
        <p:spPr>
          <a:xfrm>
            <a:off x="685800" y="4069080"/>
            <a:ext cx="3474720" cy="365760"/>
          </a:xfrm>
          <a:prstGeom prst="rect">
            <a:avLst/>
          </a:prstGeom>
          <a:noFill/>
          <a:ln/>
        </p:spPr>
        <p:txBody>
          <a:bodyPr wrap="square" lIns="0" tIns="0" rIns="0" bIns="0" rtlCol="0" anchor="ctr"/>
          <a:lstStyle/>
          <a:p>
            <a:pPr algn="ctr" indent="0" marL="0">
              <a:buNone/>
            </a:pPr>
            <a:r>
              <a:rPr lang="en-US" sz="1100" i="1" dirty="0">
                <a:solidFill>
                  <a:srgbClr val="9AAABE"/>
                </a:solidFill>
                <a:latin typeface="Calibri" pitchFamily="34" charset="0"/>
                <a:ea typeface="Calibri" pitchFamily="34" charset="-122"/>
                <a:cs typeface="Calibri" pitchFamily="34" charset="-120"/>
              </a:rPr>
              <a:t>one process · one answer</a:t>
            </a:r>
            <a:endParaRPr lang="en-US" sz="1100" dirty="0"/>
          </a:p>
        </p:txBody>
      </p:sp>
      <p:sp>
        <p:nvSpPr>
          <p:cNvPr id="22" name="Shape 15"/>
          <p:cNvSpPr/>
          <p:nvPr/>
        </p:nvSpPr>
        <p:spPr>
          <a:xfrm>
            <a:off x="4617720" y="1188720"/>
            <a:ext cx="4069080" cy="1051560"/>
          </a:xfrm>
          <a:prstGeom prst="roundRect">
            <a:avLst>
              <a:gd name="adj" fmla="val 6957"/>
            </a:avLst>
          </a:prstGeom>
          <a:solidFill>
            <a:srgbClr val="1D2B42"/>
          </a:solidFill>
          <a:ln w="9525">
            <a:solidFill>
              <a:srgbClr val="2B3D57"/>
            </a:solidFill>
            <a:prstDash val="solid"/>
          </a:ln>
        </p:spPr>
      </p:sp>
      <p:sp>
        <p:nvSpPr>
          <p:cNvPr id="23" name="Text 16"/>
          <p:cNvSpPr txBox="1"/>
          <p:nvPr/>
        </p:nvSpPr>
        <p:spPr>
          <a:xfrm>
            <a:off x="4800600" y="1280160"/>
            <a:ext cx="3749040" cy="457200"/>
          </a:xfrm>
          <a:prstGeom prst="rect">
            <a:avLst/>
          </a:prstGeom>
          <a:noFill/>
          <a:ln/>
        </p:spPr>
        <p:txBody>
          <a:bodyPr wrap="square" lIns="0" tIns="0" rIns="0" bIns="0" rtlCol="0" anchor="ctr"/>
          <a:lstStyle/>
          <a:p>
            <a:pPr indent="0" marL="0">
              <a:buNone/>
            </a:pPr>
            <a:r>
              <a:rPr lang="en-US" sz="1900" b="1" dirty="0">
                <a:solidFill>
                  <a:srgbClr val="3FBFC5"/>
                </a:solidFill>
                <a:latin typeface="Calibri" pitchFamily="34" charset="0"/>
                <a:ea typeface="Calibri" pitchFamily="34" charset="-122"/>
                <a:cs typeface="Calibri" pitchFamily="34" charset="-120"/>
              </a:rPr>
              <a:t>3 databases · 2 languages · 1 process</a:t>
            </a:r>
            <a:endParaRPr lang="en-US" sz="1900" dirty="0"/>
          </a:p>
        </p:txBody>
      </p:sp>
      <p:sp>
        <p:nvSpPr>
          <p:cNvPr id="24" name="Text 17"/>
          <p:cNvSpPr txBox="1"/>
          <p:nvPr/>
        </p:nvSpPr>
        <p:spPr>
          <a:xfrm>
            <a:off x="4800600" y="1755648"/>
            <a:ext cx="3749040" cy="411480"/>
          </a:xfrm>
          <a:prstGeom prst="rect">
            <a:avLst/>
          </a:prstGeom>
          <a:noFill/>
          <a:ln/>
        </p:spPr>
        <p:txBody>
          <a:bodyPr wrap="square" lIns="0" tIns="0" rIns="0" bIns="0" rtlCol="0" anchor="t"/>
          <a:lstStyle/>
          <a:p>
            <a:pPr indent="0" marL="0">
              <a:buNone/>
            </a:pPr>
            <a:r>
              <a:rPr lang="en-US" sz="1100" dirty="0">
                <a:solidFill>
                  <a:srgbClr val="9AAABE"/>
                </a:solidFill>
                <a:latin typeface="Calibri" pitchFamily="34" charset="0"/>
                <a:ea typeface="Calibri" pitchFamily="34" charset="-122"/>
                <a:cs typeface="Calibri" pitchFamily="34" charset="-120"/>
              </a:rPr>
              <a:t>nothing changed when the third was added</a:t>
            </a:r>
            <a:endParaRPr lang="en-US" sz="1100" dirty="0"/>
          </a:p>
        </p:txBody>
      </p:sp>
      <p:sp>
        <p:nvSpPr>
          <p:cNvPr id="25" name="Shape 18"/>
          <p:cNvSpPr/>
          <p:nvPr/>
        </p:nvSpPr>
        <p:spPr>
          <a:xfrm>
            <a:off x="4617720" y="2359152"/>
            <a:ext cx="4069080" cy="1051560"/>
          </a:xfrm>
          <a:prstGeom prst="roundRect">
            <a:avLst>
              <a:gd name="adj" fmla="val 6957"/>
            </a:avLst>
          </a:prstGeom>
          <a:solidFill>
            <a:srgbClr val="1D2B42"/>
          </a:solidFill>
          <a:ln w="9525">
            <a:solidFill>
              <a:srgbClr val="2B3D57"/>
            </a:solidFill>
            <a:prstDash val="solid"/>
          </a:ln>
        </p:spPr>
      </p:sp>
      <p:sp>
        <p:nvSpPr>
          <p:cNvPr id="26" name="Text 19"/>
          <p:cNvSpPr txBox="1"/>
          <p:nvPr/>
        </p:nvSpPr>
        <p:spPr>
          <a:xfrm>
            <a:off x="4800600" y="2450592"/>
            <a:ext cx="3749040" cy="457200"/>
          </a:xfrm>
          <a:prstGeom prst="rect">
            <a:avLst/>
          </a:prstGeom>
          <a:noFill/>
          <a:ln/>
        </p:spPr>
        <p:txBody>
          <a:bodyPr wrap="square" lIns="0" tIns="0" rIns="0" bIns="0" rtlCol="0" anchor="ctr"/>
          <a:lstStyle/>
          <a:p>
            <a:pPr indent="0" marL="0">
              <a:buNone/>
            </a:pPr>
            <a:r>
              <a:rPr lang="en-US" sz="1900" b="1" dirty="0">
                <a:solidFill>
                  <a:srgbClr val="F2B24F"/>
                </a:solidFill>
                <a:latin typeface="Calibri" pitchFamily="34" charset="0"/>
                <a:ea typeface="Calibri" pitchFamily="34" charset="-122"/>
                <a:cs typeface="Calibri" pitchFamily="34" charset="-120"/>
              </a:rPr>
              <a:t>0 vs 1,083</a:t>
            </a:r>
            <a:endParaRPr lang="en-US" sz="1900" dirty="0"/>
          </a:p>
        </p:txBody>
      </p:sp>
      <p:sp>
        <p:nvSpPr>
          <p:cNvPr id="27" name="Text 20"/>
          <p:cNvSpPr txBox="1"/>
          <p:nvPr/>
        </p:nvSpPr>
        <p:spPr>
          <a:xfrm>
            <a:off x="4800600" y="2926080"/>
            <a:ext cx="3749040" cy="411480"/>
          </a:xfrm>
          <a:prstGeom prst="rect">
            <a:avLst/>
          </a:prstGeom>
          <a:noFill/>
          <a:ln/>
        </p:spPr>
        <p:txBody>
          <a:bodyPr wrap="square" lIns="0" tIns="0" rIns="0" bIns="0" rtlCol="0" anchor="t"/>
          <a:lstStyle/>
          <a:p>
            <a:pPr indent="0" marL="0">
              <a:buNone/>
            </a:pPr>
            <a:r>
              <a:rPr lang="en-US" sz="1100" dirty="0">
                <a:solidFill>
                  <a:srgbClr val="9AAABE"/>
                </a:solidFill>
                <a:latin typeface="Calibri" pitchFamily="34" charset="0"/>
                <a:ea typeface="Calibri" pitchFamily="34" charset="-122"/>
                <a:cs typeface="Calibri" pitchFamily="34" charset="-120"/>
              </a:rPr>
              <a:t>records rewritten: federating vs merging</a:t>
            </a:r>
            <a:endParaRPr lang="en-US" sz="1100" dirty="0"/>
          </a:p>
        </p:txBody>
      </p:sp>
      <p:sp>
        <p:nvSpPr>
          <p:cNvPr id="28" name="Shape 21"/>
          <p:cNvSpPr/>
          <p:nvPr/>
        </p:nvSpPr>
        <p:spPr>
          <a:xfrm>
            <a:off x="4617720" y="3529584"/>
            <a:ext cx="4069080" cy="1051560"/>
          </a:xfrm>
          <a:prstGeom prst="roundRect">
            <a:avLst>
              <a:gd name="adj" fmla="val 6957"/>
            </a:avLst>
          </a:prstGeom>
          <a:solidFill>
            <a:srgbClr val="1D2B42"/>
          </a:solidFill>
          <a:ln w="9525">
            <a:solidFill>
              <a:srgbClr val="2B3D57"/>
            </a:solidFill>
            <a:prstDash val="solid"/>
          </a:ln>
        </p:spPr>
      </p:sp>
      <p:sp>
        <p:nvSpPr>
          <p:cNvPr id="29" name="Text 22"/>
          <p:cNvSpPr txBox="1"/>
          <p:nvPr/>
        </p:nvSpPr>
        <p:spPr>
          <a:xfrm>
            <a:off x="4800600" y="3621024"/>
            <a:ext cx="3749040" cy="457200"/>
          </a:xfrm>
          <a:prstGeom prst="rect">
            <a:avLst/>
          </a:prstGeom>
          <a:noFill/>
          <a:ln/>
        </p:spPr>
        <p:txBody>
          <a:bodyPr wrap="square" lIns="0" tIns="0" rIns="0" bIns="0" rtlCol="0" anchor="ctr"/>
          <a:lstStyle/>
          <a:p>
            <a:pPr indent="0" marL="0">
              <a:buNone/>
            </a:pPr>
            <a:r>
              <a:rPr lang="en-US" sz="1900" b="1" dirty="0">
                <a:solidFill>
                  <a:srgbClr val="3FBFC5"/>
                </a:solidFill>
                <a:latin typeface="Calibri" pitchFamily="34" charset="0"/>
                <a:ea typeface="Calibri" pitchFamily="34" charset="-122"/>
                <a:cs typeface="Calibri" pitchFamily="34" charset="-120"/>
              </a:rPr>
              <a:t>Next: Neptune, Spanner Graph</a:t>
            </a:r>
            <a:endParaRPr lang="en-US" sz="1900" dirty="0"/>
          </a:p>
        </p:txBody>
      </p:sp>
      <p:sp>
        <p:nvSpPr>
          <p:cNvPr id="30" name="Text 23"/>
          <p:cNvSpPr txBox="1"/>
          <p:nvPr/>
        </p:nvSpPr>
        <p:spPr>
          <a:xfrm>
            <a:off x="4800600" y="4096512"/>
            <a:ext cx="3749040" cy="411480"/>
          </a:xfrm>
          <a:prstGeom prst="rect">
            <a:avLst/>
          </a:prstGeom>
          <a:noFill/>
          <a:ln/>
        </p:spPr>
        <p:txBody>
          <a:bodyPr wrap="square" lIns="0" tIns="0" rIns="0" bIns="0" rtlCol="0" anchor="t"/>
          <a:lstStyle/>
          <a:p>
            <a:pPr indent="0" marL="0">
              <a:buNone/>
            </a:pPr>
            <a:r>
              <a:rPr lang="en-US" sz="1100" dirty="0">
                <a:solidFill>
                  <a:srgbClr val="9AAABE"/>
                </a:solidFill>
                <a:latin typeface="Calibri" pitchFamily="34" charset="0"/>
                <a:ea typeface="Calibri" pitchFamily="34" charset="-122"/>
                <a:cs typeface="Calibri" pitchFamily="34" charset="-120"/>
              </a:rPr>
              <a:t>four documented swap points per engine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7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75320" y="256032"/>
            <a:ext cx="384048" cy="329184"/>
          </a:xfrm>
          <a:prstGeom prst="rect">
            <a:avLst/>
          </a:prstGeom>
        </p:spPr>
      </p:pic>
      <p:sp>
        <p:nvSpPr>
          <p:cNvPr id="3" name="Text 0"/>
          <p:cNvSpPr txBox="1"/>
          <p:nvPr/>
        </p:nvSpPr>
        <p:spPr>
          <a:xfrm>
            <a:off x="457200" y="292608"/>
            <a:ext cx="7680960" cy="685800"/>
          </a:xfrm>
          <a:prstGeom prst="rect">
            <a:avLst/>
          </a:prstGeom>
          <a:noFill/>
          <a:ln/>
        </p:spPr>
        <p:txBody>
          <a:bodyPr wrap="square" lIns="0" tIns="0" rIns="0" bIns="0" rtlCol="0" anchor="ctr"/>
          <a:lstStyle/>
          <a:p>
            <a:pPr indent="0" marL="0">
              <a:buNone/>
            </a:pPr>
            <a:r>
              <a:rPr lang="en-US" sz="2400" b="1" dirty="0">
                <a:solidFill>
                  <a:srgbClr val="F3F6FA"/>
                </a:solidFill>
                <a:latin typeface="Calibri" pitchFamily="34" charset="0"/>
                <a:ea typeface="Calibri" pitchFamily="34" charset="-122"/>
                <a:cs typeface="Calibri" pitchFamily="34" charset="-120"/>
              </a:rPr>
              <a:t>It already runs on ReliaQuest's own schema</a:t>
            </a:r>
            <a:endParaRPr lang="en-US" sz="2400" dirty="0"/>
          </a:p>
        </p:txBody>
      </p:sp>
      <p:sp>
        <p:nvSpPr>
          <p:cNvPr id="4" name="Shape 1"/>
          <p:cNvSpPr/>
          <p:nvPr/>
        </p:nvSpPr>
        <p:spPr>
          <a:xfrm>
            <a:off x="457200" y="1188720"/>
            <a:ext cx="2651760" cy="3429000"/>
          </a:xfrm>
          <a:prstGeom prst="roundRect">
            <a:avLst>
              <a:gd name="adj" fmla="val 2759"/>
            </a:avLst>
          </a:prstGeom>
          <a:solidFill>
            <a:srgbClr val="172236"/>
          </a:solidFill>
          <a:ln w="9525">
            <a:solidFill>
              <a:srgbClr val="2B3D57"/>
            </a:solidFill>
            <a:prstDash val="solid"/>
          </a:ln>
        </p:spPr>
      </p:sp>
      <p:pic>
        <p:nvPicPr>
          <p:cNvPr id="5" name="Image 1" descr="preencoded.png">    </p:cNvPr>
          <p:cNvPicPr>
            <a:picLocks noChangeAspect="1"/>
          </p:cNvPicPr>
          <p:nvPr/>
        </p:nvPicPr>
        <p:blipFill>
          <a:blip r:embed="rId2"/>
          <a:stretch>
            <a:fillRect/>
          </a:stretch>
        </p:blipFill>
        <p:spPr>
          <a:xfrm>
            <a:off x="640080" y="1325880"/>
            <a:ext cx="292608" cy="292608"/>
          </a:xfrm>
          <a:prstGeom prst="rect">
            <a:avLst/>
          </a:prstGeom>
        </p:spPr>
      </p:pic>
      <p:sp>
        <p:nvSpPr>
          <p:cNvPr id="6" name="Text 2"/>
          <p:cNvSpPr txBox="1"/>
          <p:nvPr/>
        </p:nvSpPr>
        <p:spPr>
          <a:xfrm>
            <a:off x="1024128" y="1280160"/>
            <a:ext cx="2011680" cy="384048"/>
          </a:xfrm>
          <a:prstGeom prst="rect">
            <a:avLst/>
          </a:prstGeom>
          <a:noFill/>
          <a:ln/>
        </p:spPr>
        <p:txBody>
          <a:bodyPr wrap="square" lIns="0" tIns="0" rIns="0" bIns="0" rtlCol="0" anchor="ctr"/>
          <a:lstStyle/>
          <a:p>
            <a:pPr indent="0" marL="0">
              <a:buNone/>
            </a:pPr>
            <a:r>
              <a:rPr lang="en-US" sz="1350" b="1" dirty="0">
                <a:solidFill>
                  <a:srgbClr val="F3F6FA"/>
                </a:solidFill>
                <a:latin typeface="Calibri" pitchFamily="34" charset="0"/>
                <a:ea typeface="Calibri" pitchFamily="34" charset="-122"/>
                <a:cs typeface="Calibri" pitchFamily="34" charset="-120"/>
              </a:rPr>
              <a:t>What we received</a:t>
            </a:r>
            <a:endParaRPr lang="en-US" sz="1350" dirty="0"/>
          </a:p>
        </p:txBody>
      </p:sp>
      <p:sp>
        <p:nvSpPr>
          <p:cNvPr id="7" name="Text 3"/>
          <p:cNvSpPr txBox="1"/>
          <p:nvPr/>
        </p:nvSpPr>
        <p:spPr>
          <a:xfrm>
            <a:off x="640080" y="1783080"/>
            <a:ext cx="2286000" cy="457200"/>
          </a:xfrm>
          <a:prstGeom prst="rect">
            <a:avLst/>
          </a:prstGeom>
          <a:noFill/>
          <a:ln/>
        </p:spPr>
        <p:txBody>
          <a:bodyPr wrap="square" lIns="0" tIns="0" rIns="0" bIns="0" rtlCol="0" anchor="ctr"/>
          <a:lstStyle/>
          <a:p>
            <a:pPr indent="0" marL="0">
              <a:buNone/>
            </a:pPr>
            <a:r>
              <a:rPr lang="en-US" sz="2400" b="1" dirty="0">
                <a:solidFill>
                  <a:srgbClr val="3FBFC5"/>
                </a:solidFill>
                <a:latin typeface="Calibri" pitchFamily="34" charset="0"/>
                <a:ea typeface="Calibri" pitchFamily="34" charset="-122"/>
                <a:cs typeface="Calibri" pitchFamily="34" charset="-120"/>
              </a:rPr>
              <a:t>72</a:t>
            </a:r>
            <a:endParaRPr lang="en-US" sz="2400" dirty="0"/>
          </a:p>
        </p:txBody>
      </p:sp>
      <p:sp>
        <p:nvSpPr>
          <p:cNvPr id="8" name="Text 4"/>
          <p:cNvSpPr txBox="1"/>
          <p:nvPr/>
        </p:nvSpPr>
        <p:spPr>
          <a:xfrm>
            <a:off x="640080" y="2240280"/>
            <a:ext cx="2286000" cy="457200"/>
          </a:xfrm>
          <a:prstGeom prst="rect">
            <a:avLst/>
          </a:prstGeom>
          <a:noFill/>
          <a:ln/>
        </p:spPr>
        <p:txBody>
          <a:bodyPr wrap="square" lIns="0" tIns="0" rIns="0" bIns="0" rtlCol="0" anchor="t"/>
          <a:lstStyle/>
          <a:p>
            <a:pPr indent="0" marL="0">
              <a:buNone/>
            </a:pPr>
            <a:r>
              <a:rPr lang="en-US" sz="1050" dirty="0">
                <a:solidFill>
                  <a:srgbClr val="9AAABE"/>
                </a:solidFill>
                <a:latin typeface="Calibri" pitchFamily="34" charset="0"/>
                <a:ea typeface="Calibri" pitchFamily="34" charset="-122"/>
                <a:cs typeface="Calibri" pitchFamily="34" charset="-120"/>
              </a:rPr>
              <a:t>node types</a:t>
            </a:r>
            <a:endParaRPr lang="en-US" sz="1050" dirty="0"/>
          </a:p>
        </p:txBody>
      </p:sp>
      <p:sp>
        <p:nvSpPr>
          <p:cNvPr id="9" name="Text 5"/>
          <p:cNvSpPr txBox="1"/>
          <p:nvPr/>
        </p:nvSpPr>
        <p:spPr>
          <a:xfrm>
            <a:off x="640080" y="2743200"/>
            <a:ext cx="2286000" cy="457200"/>
          </a:xfrm>
          <a:prstGeom prst="rect">
            <a:avLst/>
          </a:prstGeom>
          <a:noFill/>
          <a:ln/>
        </p:spPr>
        <p:txBody>
          <a:bodyPr wrap="square" lIns="0" tIns="0" rIns="0" bIns="0" rtlCol="0" anchor="ctr"/>
          <a:lstStyle/>
          <a:p>
            <a:pPr indent="0" marL="0">
              <a:buNone/>
            </a:pPr>
            <a:r>
              <a:rPr lang="en-US" sz="2400" b="1" dirty="0">
                <a:solidFill>
                  <a:srgbClr val="3FBFC5"/>
                </a:solidFill>
                <a:latin typeface="Calibri" pitchFamily="34" charset="0"/>
                <a:ea typeface="Calibri" pitchFamily="34" charset="-122"/>
                <a:cs typeface="Calibri" pitchFamily="34" charset="-120"/>
              </a:rPr>
              <a:t>5</a:t>
            </a:r>
            <a:endParaRPr lang="en-US" sz="2400" dirty="0"/>
          </a:p>
        </p:txBody>
      </p:sp>
      <p:sp>
        <p:nvSpPr>
          <p:cNvPr id="10" name="Text 6"/>
          <p:cNvSpPr txBox="1"/>
          <p:nvPr/>
        </p:nvSpPr>
        <p:spPr>
          <a:xfrm>
            <a:off x="640080" y="3200400"/>
            <a:ext cx="2286000" cy="457200"/>
          </a:xfrm>
          <a:prstGeom prst="rect">
            <a:avLst/>
          </a:prstGeom>
          <a:noFill/>
          <a:ln/>
        </p:spPr>
        <p:txBody>
          <a:bodyPr wrap="square" lIns="0" tIns="0" rIns="0" bIns="0" rtlCol="0" anchor="t"/>
          <a:lstStyle/>
          <a:p>
            <a:pPr indent="0" marL="0">
              <a:buNone/>
            </a:pPr>
            <a:r>
              <a:rPr lang="en-US" sz="1050" dirty="0">
                <a:solidFill>
                  <a:srgbClr val="9AAABE"/>
                </a:solidFill>
                <a:latin typeface="Calibri" pitchFamily="34" charset="0"/>
                <a:ea typeface="Calibri" pitchFamily="34" charset="-122"/>
                <a:cs typeface="Calibri" pitchFamily="34" charset="-120"/>
              </a:rPr>
              <a:t>identity systems: AD · Entra · Okta · AWS · GCP</a:t>
            </a:r>
            <a:endParaRPr lang="en-US" sz="1050" dirty="0"/>
          </a:p>
        </p:txBody>
      </p:sp>
      <p:sp>
        <p:nvSpPr>
          <p:cNvPr id="11" name="Text 7"/>
          <p:cNvSpPr txBox="1"/>
          <p:nvPr/>
        </p:nvSpPr>
        <p:spPr>
          <a:xfrm>
            <a:off x="640080" y="3703320"/>
            <a:ext cx="2286000" cy="457200"/>
          </a:xfrm>
          <a:prstGeom prst="rect">
            <a:avLst/>
          </a:prstGeom>
          <a:noFill/>
          <a:ln/>
        </p:spPr>
        <p:txBody>
          <a:bodyPr wrap="square" lIns="0" tIns="0" rIns="0" bIns="0" rtlCol="0" anchor="ctr"/>
          <a:lstStyle/>
          <a:p>
            <a:pPr indent="0" marL="0">
              <a:buNone/>
            </a:pPr>
            <a:r>
              <a:rPr lang="en-US" sz="2400" b="1" dirty="0">
                <a:solidFill>
                  <a:srgbClr val="3FBFC5"/>
                </a:solidFill>
                <a:latin typeface="Calibri" pitchFamily="34" charset="0"/>
                <a:ea typeface="Calibri" pitchFamily="34" charset="-122"/>
                <a:cs typeface="Calibri" pitchFamily="34" charset="-120"/>
              </a:rPr>
              <a:t>0</a:t>
            </a:r>
            <a:endParaRPr lang="en-US" sz="2400" dirty="0"/>
          </a:p>
        </p:txBody>
      </p:sp>
      <p:sp>
        <p:nvSpPr>
          <p:cNvPr id="12" name="Text 8"/>
          <p:cNvSpPr txBox="1"/>
          <p:nvPr/>
        </p:nvSpPr>
        <p:spPr>
          <a:xfrm>
            <a:off x="640080" y="4160520"/>
            <a:ext cx="2286000" cy="457200"/>
          </a:xfrm>
          <a:prstGeom prst="rect">
            <a:avLst/>
          </a:prstGeom>
          <a:noFill/>
          <a:ln/>
        </p:spPr>
        <p:txBody>
          <a:bodyPr wrap="square" lIns="0" tIns="0" rIns="0" bIns="0" rtlCol="0" anchor="t"/>
          <a:lstStyle/>
          <a:p>
            <a:pPr indent="0" marL="0">
              <a:buNone/>
            </a:pPr>
            <a:r>
              <a:rPr lang="en-US" sz="1050" dirty="0">
                <a:solidFill>
                  <a:srgbClr val="9AAABE"/>
                </a:solidFill>
                <a:latin typeface="Calibri" pitchFamily="34" charset="0"/>
                <a:ea typeface="Calibri" pitchFamily="34" charset="-122"/>
                <a:cs typeface="Calibri" pitchFamily="34" charset="-120"/>
              </a:rPr>
              <a:t>customer records — the spec sheet is enough</a:t>
            </a:r>
            <a:endParaRPr lang="en-US" sz="1050" dirty="0"/>
          </a:p>
        </p:txBody>
      </p:sp>
      <p:sp>
        <p:nvSpPr>
          <p:cNvPr id="13" name="Shape 9"/>
          <p:cNvSpPr/>
          <p:nvPr/>
        </p:nvSpPr>
        <p:spPr>
          <a:xfrm>
            <a:off x="3246120" y="1188720"/>
            <a:ext cx="2651760" cy="3429000"/>
          </a:xfrm>
          <a:prstGeom prst="roundRect">
            <a:avLst>
              <a:gd name="adj" fmla="val 2759"/>
            </a:avLst>
          </a:prstGeom>
          <a:solidFill>
            <a:srgbClr val="1D2B42"/>
          </a:solidFill>
          <a:ln w="9525">
            <a:solidFill>
              <a:srgbClr val="2B3D57"/>
            </a:solidFill>
            <a:prstDash val="solid"/>
          </a:ln>
        </p:spPr>
      </p:sp>
      <p:pic>
        <p:nvPicPr>
          <p:cNvPr id="14" name="Image 2" descr="preencoded.png">    </p:cNvPr>
          <p:cNvPicPr>
            <a:picLocks noChangeAspect="1"/>
          </p:cNvPicPr>
          <p:nvPr/>
        </p:nvPicPr>
        <p:blipFill>
          <a:blip r:embed="rId3"/>
          <a:stretch>
            <a:fillRect/>
          </a:stretch>
        </p:blipFill>
        <p:spPr>
          <a:xfrm>
            <a:off x="3429000" y="1325880"/>
            <a:ext cx="292608" cy="292608"/>
          </a:xfrm>
          <a:prstGeom prst="rect">
            <a:avLst/>
          </a:prstGeom>
        </p:spPr>
      </p:pic>
      <p:sp>
        <p:nvSpPr>
          <p:cNvPr id="15" name="Text 10"/>
          <p:cNvSpPr txBox="1"/>
          <p:nvPr/>
        </p:nvSpPr>
        <p:spPr>
          <a:xfrm>
            <a:off x="3813048" y="1280160"/>
            <a:ext cx="2011680" cy="384048"/>
          </a:xfrm>
          <a:prstGeom prst="rect">
            <a:avLst/>
          </a:prstGeom>
          <a:noFill/>
          <a:ln/>
        </p:spPr>
        <p:txBody>
          <a:bodyPr wrap="square" lIns="0" tIns="0" rIns="0" bIns="0" rtlCol="0" anchor="ctr"/>
          <a:lstStyle/>
          <a:p>
            <a:pPr indent="0" marL="0">
              <a:buNone/>
            </a:pPr>
            <a:r>
              <a:rPr lang="en-US" sz="1350" b="1" dirty="0">
                <a:solidFill>
                  <a:srgbClr val="F3F6FA"/>
                </a:solidFill>
                <a:latin typeface="Calibri" pitchFamily="34" charset="0"/>
                <a:ea typeface="Calibri" pitchFamily="34" charset="-122"/>
                <a:cs typeface="Calibri" pitchFamily="34" charset="-120"/>
              </a:rPr>
              <a:t>What happened</a:t>
            </a:r>
            <a:endParaRPr lang="en-US" sz="1350" dirty="0"/>
          </a:p>
        </p:txBody>
      </p:sp>
      <p:sp>
        <p:nvSpPr>
          <p:cNvPr id="16" name="Text 11"/>
          <p:cNvSpPr txBox="1"/>
          <p:nvPr/>
        </p:nvSpPr>
        <p:spPr>
          <a:xfrm>
            <a:off x="3429000" y="1783080"/>
            <a:ext cx="2286000" cy="457200"/>
          </a:xfrm>
          <a:prstGeom prst="rect">
            <a:avLst/>
          </a:prstGeom>
          <a:noFill/>
          <a:ln/>
        </p:spPr>
        <p:txBody>
          <a:bodyPr wrap="square" lIns="0" tIns="0" rIns="0" bIns="0" rtlCol="0" anchor="ctr"/>
          <a:lstStyle/>
          <a:p>
            <a:pPr indent="0" marL="0">
              <a:buNone/>
            </a:pPr>
            <a:r>
              <a:rPr lang="en-US" sz="2400" b="1" dirty="0">
                <a:solidFill>
                  <a:srgbClr val="3FBFC5"/>
                </a:solidFill>
                <a:latin typeface="Calibri" pitchFamily="34" charset="0"/>
                <a:ea typeface="Calibri" pitchFamily="34" charset="-122"/>
                <a:cs typeface="Calibri" pitchFamily="34" charset="-120"/>
              </a:rPr>
              <a:t>0.66 vs 0.13</a:t>
            </a:r>
            <a:endParaRPr lang="en-US" sz="2400" dirty="0"/>
          </a:p>
        </p:txBody>
      </p:sp>
      <p:sp>
        <p:nvSpPr>
          <p:cNvPr id="17" name="Text 12"/>
          <p:cNvSpPr txBox="1"/>
          <p:nvPr/>
        </p:nvSpPr>
        <p:spPr>
          <a:xfrm>
            <a:off x="3429000" y="2240280"/>
            <a:ext cx="2286000" cy="457200"/>
          </a:xfrm>
          <a:prstGeom prst="rect">
            <a:avLst/>
          </a:prstGeom>
          <a:noFill/>
          <a:ln/>
        </p:spPr>
        <p:txBody>
          <a:bodyPr wrap="square" lIns="0" tIns="0" rIns="0" bIns="0" rtlCol="0" anchor="t"/>
          <a:lstStyle/>
          <a:p>
            <a:pPr indent="0" marL="0">
              <a:buNone/>
            </a:pPr>
            <a:r>
              <a:rPr lang="en-US" sz="1050" dirty="0">
                <a:solidFill>
                  <a:srgbClr val="9AAABE"/>
                </a:solidFill>
                <a:latin typeface="Calibri" pitchFamily="34" charset="0"/>
                <a:ea typeface="Calibri" pitchFamily="34" charset="-122"/>
                <a:cs typeface="Calibri" pitchFamily="34" charset="-120"/>
              </a:rPr>
              <a:t>right records found: reading the schema vs hand-written queries</a:t>
            </a:r>
            <a:endParaRPr lang="en-US" sz="1050" dirty="0"/>
          </a:p>
        </p:txBody>
      </p:sp>
      <p:sp>
        <p:nvSpPr>
          <p:cNvPr id="18" name="Text 13"/>
          <p:cNvSpPr txBox="1"/>
          <p:nvPr/>
        </p:nvSpPr>
        <p:spPr>
          <a:xfrm>
            <a:off x="3429000" y="2743200"/>
            <a:ext cx="2286000" cy="457200"/>
          </a:xfrm>
          <a:prstGeom prst="rect">
            <a:avLst/>
          </a:prstGeom>
          <a:noFill/>
          <a:ln/>
        </p:spPr>
        <p:txBody>
          <a:bodyPr wrap="square" lIns="0" tIns="0" rIns="0" bIns="0" rtlCol="0" anchor="ctr"/>
          <a:lstStyle/>
          <a:p>
            <a:pPr indent="0" marL="0">
              <a:buNone/>
            </a:pPr>
            <a:r>
              <a:rPr lang="en-US" sz="2400" b="1" dirty="0">
                <a:solidFill>
                  <a:srgbClr val="3FBFC5"/>
                </a:solidFill>
                <a:latin typeface="Calibri" pitchFamily="34" charset="0"/>
                <a:ea typeface="Calibri" pitchFamily="34" charset="-122"/>
                <a:cs typeface="Calibri" pitchFamily="34" charset="-120"/>
              </a:rPr>
              <a:t>12 / 12</a:t>
            </a:r>
            <a:endParaRPr lang="en-US" sz="2400" dirty="0"/>
          </a:p>
        </p:txBody>
      </p:sp>
      <p:sp>
        <p:nvSpPr>
          <p:cNvPr id="19" name="Text 14"/>
          <p:cNvSpPr txBox="1"/>
          <p:nvPr/>
        </p:nvSpPr>
        <p:spPr>
          <a:xfrm>
            <a:off x="3429000" y="3200400"/>
            <a:ext cx="2286000" cy="457200"/>
          </a:xfrm>
          <a:prstGeom prst="rect">
            <a:avLst/>
          </a:prstGeom>
          <a:noFill/>
          <a:ln/>
        </p:spPr>
        <p:txBody>
          <a:bodyPr wrap="square" lIns="0" tIns="0" rIns="0" bIns="0" rtlCol="0" anchor="t"/>
          <a:lstStyle/>
          <a:p>
            <a:pPr indent="0" marL="0">
              <a:buNone/>
            </a:pPr>
            <a:r>
              <a:rPr lang="en-US" sz="1050" dirty="0">
                <a:solidFill>
                  <a:srgbClr val="9AAABE"/>
                </a:solidFill>
                <a:latin typeface="Calibri" pitchFamily="34" charset="0"/>
                <a:ea typeface="Calibri" pitchFamily="34" charset="-122"/>
                <a:cs typeface="Calibri" pitchFamily="34" charset="-120"/>
              </a:rPr>
              <a:t>unanswerable questions refused — no false claims</a:t>
            </a:r>
            <a:endParaRPr lang="en-US" sz="1050" dirty="0"/>
          </a:p>
        </p:txBody>
      </p:sp>
      <p:sp>
        <p:nvSpPr>
          <p:cNvPr id="20" name="Shape 15"/>
          <p:cNvSpPr/>
          <p:nvPr/>
        </p:nvSpPr>
        <p:spPr>
          <a:xfrm>
            <a:off x="6035040" y="1188720"/>
            <a:ext cx="2651760" cy="3429000"/>
          </a:xfrm>
          <a:prstGeom prst="roundRect">
            <a:avLst>
              <a:gd name="adj" fmla="val 2759"/>
            </a:avLst>
          </a:prstGeom>
          <a:solidFill>
            <a:srgbClr val="172236"/>
          </a:solidFill>
          <a:ln w="9525">
            <a:solidFill>
              <a:srgbClr val="2B3D57"/>
            </a:solidFill>
            <a:prstDash val="solid"/>
          </a:ln>
        </p:spPr>
      </p:sp>
      <p:pic>
        <p:nvPicPr>
          <p:cNvPr id="21" name="Image 3" descr="preencoded.png">    </p:cNvPr>
          <p:cNvPicPr>
            <a:picLocks noChangeAspect="1"/>
          </p:cNvPicPr>
          <p:nvPr/>
        </p:nvPicPr>
        <p:blipFill>
          <a:blip r:embed="rId4"/>
          <a:stretch>
            <a:fillRect/>
          </a:stretch>
        </p:blipFill>
        <p:spPr>
          <a:xfrm>
            <a:off x="6217920" y="1325880"/>
            <a:ext cx="292608" cy="292608"/>
          </a:xfrm>
          <a:prstGeom prst="rect">
            <a:avLst/>
          </a:prstGeom>
        </p:spPr>
      </p:pic>
      <p:sp>
        <p:nvSpPr>
          <p:cNvPr id="22" name="Text 16"/>
          <p:cNvSpPr txBox="1"/>
          <p:nvPr/>
        </p:nvSpPr>
        <p:spPr>
          <a:xfrm>
            <a:off x="6601968" y="1280160"/>
            <a:ext cx="2011680" cy="384048"/>
          </a:xfrm>
          <a:prstGeom prst="rect">
            <a:avLst/>
          </a:prstGeom>
          <a:noFill/>
          <a:ln/>
        </p:spPr>
        <p:txBody>
          <a:bodyPr wrap="square" lIns="0" tIns="0" rIns="0" bIns="0" rtlCol="0" anchor="ctr"/>
          <a:lstStyle/>
          <a:p>
            <a:pPr indent="0" marL="0">
              <a:buNone/>
            </a:pPr>
            <a:r>
              <a:rPr lang="en-US" sz="1350" b="1" dirty="0">
                <a:solidFill>
                  <a:srgbClr val="F3F6FA"/>
                </a:solidFill>
                <a:latin typeface="Calibri" pitchFamily="34" charset="0"/>
                <a:ea typeface="Calibri" pitchFamily="34" charset="-122"/>
                <a:cs typeface="Calibri" pitchFamily="34" charset="-120"/>
              </a:rPr>
              <a:t>Bridge to ATT&amp;CK</a:t>
            </a:r>
            <a:endParaRPr lang="en-US" sz="1350" dirty="0"/>
          </a:p>
        </p:txBody>
      </p:sp>
      <p:sp>
        <p:nvSpPr>
          <p:cNvPr id="23" name="Text 17"/>
          <p:cNvSpPr txBox="1"/>
          <p:nvPr/>
        </p:nvSpPr>
        <p:spPr>
          <a:xfrm>
            <a:off x="6217920" y="1783080"/>
            <a:ext cx="2286000" cy="457200"/>
          </a:xfrm>
          <a:prstGeom prst="rect">
            <a:avLst/>
          </a:prstGeom>
          <a:noFill/>
          <a:ln/>
        </p:spPr>
        <p:txBody>
          <a:bodyPr wrap="square" lIns="0" tIns="0" rIns="0" bIns="0" rtlCol="0" anchor="ctr"/>
          <a:lstStyle/>
          <a:p>
            <a:pPr indent="0" marL="0">
              <a:buNone/>
            </a:pPr>
            <a:r>
              <a:rPr lang="en-US" sz="1900" b="1" dirty="0">
                <a:solidFill>
                  <a:srgbClr val="3FBFC5"/>
                </a:solidFill>
                <a:latin typeface="Calibri" pitchFamily="34" charset="0"/>
                <a:ea typeface="Calibri" pitchFamily="34" charset="-122"/>
                <a:cs typeface="Calibri" pitchFamily="34" charset="-120"/>
              </a:rPr>
              <a:t>DC_SYNC = T1003.006</a:t>
            </a:r>
            <a:endParaRPr lang="en-US" sz="1900" dirty="0"/>
          </a:p>
        </p:txBody>
      </p:sp>
      <p:sp>
        <p:nvSpPr>
          <p:cNvPr id="24" name="Text 18"/>
          <p:cNvSpPr txBox="1"/>
          <p:nvPr/>
        </p:nvSpPr>
        <p:spPr>
          <a:xfrm>
            <a:off x="6217920" y="2240280"/>
            <a:ext cx="2286000" cy="457200"/>
          </a:xfrm>
          <a:prstGeom prst="rect">
            <a:avLst/>
          </a:prstGeom>
          <a:noFill/>
          <a:ln/>
        </p:spPr>
        <p:txBody>
          <a:bodyPr wrap="square" lIns="0" tIns="0" rIns="0" bIns="0" rtlCol="0" anchor="t"/>
          <a:lstStyle/>
          <a:p>
            <a:pPr indent="0" marL="0">
              <a:buNone/>
            </a:pPr>
            <a:r>
              <a:rPr lang="en-US" sz="1050" dirty="0">
                <a:solidFill>
                  <a:srgbClr val="9AAABE"/>
                </a:solidFill>
                <a:latin typeface="Calibri" pitchFamily="34" charset="0"/>
                <a:ea typeface="Calibri" pitchFamily="34" charset="-122"/>
                <a:cs typeface="Calibri" pitchFamily="34" charset="-120"/>
              </a:rPr>
              <a:t>a relationship in your graph is a technique in theirs</a:t>
            </a:r>
            <a:endParaRPr lang="en-US" sz="1050" dirty="0"/>
          </a:p>
        </p:txBody>
      </p:sp>
      <p:sp>
        <p:nvSpPr>
          <p:cNvPr id="25" name="Text 19"/>
          <p:cNvSpPr txBox="1"/>
          <p:nvPr/>
        </p:nvSpPr>
        <p:spPr>
          <a:xfrm>
            <a:off x="6217920" y="2743200"/>
            <a:ext cx="2286000" cy="914400"/>
          </a:xfrm>
          <a:prstGeom prst="rect">
            <a:avLst/>
          </a:prstGeom>
          <a:noFill/>
          <a:ln/>
        </p:spPr>
        <p:txBody>
          <a:bodyPr wrap="square" lIns="0" tIns="0" rIns="0" bIns="0" rtlCol="0" anchor="ctr"/>
          <a:lstStyle/>
          <a:p>
            <a:pPr indent="0" marL="0">
              <a:buNone/>
            </a:pPr>
            <a:r>
              <a:rPr lang="en-US" sz="1150" b="1" i="1" dirty="0">
                <a:solidFill>
                  <a:srgbClr val="F3F6FA"/>
                </a:solidFill>
                <a:latin typeface="Calibri" pitchFamily="34" charset="0"/>
                <a:ea typeface="Calibri" pitchFamily="34" charset="-122"/>
                <a:cs typeface="Calibri" pitchFamily="34" charset="-120"/>
              </a:rPr>
              <a:t>“Which technique is what Domain Admins can do with DC_SYNC — and what mitigates it?”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7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75320" y="256032"/>
            <a:ext cx="384048" cy="329184"/>
          </a:xfrm>
          <a:prstGeom prst="rect">
            <a:avLst/>
          </a:prstGeom>
        </p:spPr>
      </p:pic>
      <p:sp>
        <p:nvSpPr>
          <p:cNvPr id="3" name="Text 0"/>
          <p:cNvSpPr txBox="1"/>
          <p:nvPr/>
        </p:nvSpPr>
        <p:spPr>
          <a:xfrm>
            <a:off x="457200" y="292608"/>
            <a:ext cx="7680960" cy="685800"/>
          </a:xfrm>
          <a:prstGeom prst="rect">
            <a:avLst/>
          </a:prstGeom>
          <a:noFill/>
          <a:ln/>
        </p:spPr>
        <p:txBody>
          <a:bodyPr wrap="square" lIns="0" tIns="0" rIns="0" bIns="0" rtlCol="0" anchor="ctr"/>
          <a:lstStyle/>
          <a:p>
            <a:pPr indent="0" marL="0">
              <a:buNone/>
            </a:pPr>
            <a:r>
              <a:rPr lang="en-US" sz="2400" b="1" dirty="0">
                <a:solidFill>
                  <a:srgbClr val="F3F6FA"/>
                </a:solidFill>
                <a:latin typeface="Calibri" pitchFamily="34" charset="0"/>
                <a:ea typeface="Calibri" pitchFamily="34" charset="-122"/>
                <a:cs typeface="Calibri" pitchFamily="34" charset="-120"/>
              </a:rPr>
              <a:t>We know where it breaks — that is the next step</a:t>
            </a:r>
            <a:endParaRPr lang="en-US" sz="2400" dirty="0"/>
          </a:p>
        </p:txBody>
      </p:sp>
      <p:sp>
        <p:nvSpPr>
          <p:cNvPr id="4" name="Shape 1"/>
          <p:cNvSpPr/>
          <p:nvPr/>
        </p:nvSpPr>
        <p:spPr>
          <a:xfrm>
            <a:off x="457200" y="1188720"/>
            <a:ext cx="8229600" cy="1097280"/>
          </a:xfrm>
          <a:prstGeom prst="roundRect">
            <a:avLst>
              <a:gd name="adj" fmla="val 6667"/>
            </a:avLst>
          </a:prstGeom>
          <a:solidFill>
            <a:srgbClr val="1D2B42"/>
          </a:solidFill>
          <a:ln w="9525">
            <a:solidFill>
              <a:srgbClr val="2B3D57"/>
            </a:solidFill>
            <a:prstDash val="solid"/>
          </a:ln>
        </p:spPr>
      </p:sp>
      <p:sp>
        <p:nvSpPr>
          <p:cNvPr id="5" name="Text 2"/>
          <p:cNvSpPr txBox="1"/>
          <p:nvPr/>
        </p:nvSpPr>
        <p:spPr>
          <a:xfrm>
            <a:off x="640080" y="1298448"/>
            <a:ext cx="2560320" cy="365760"/>
          </a:xfrm>
          <a:prstGeom prst="rect">
            <a:avLst/>
          </a:prstGeom>
          <a:noFill/>
          <a:ln/>
        </p:spPr>
        <p:txBody>
          <a:bodyPr wrap="square" lIns="0" tIns="0" rIns="0" bIns="0" rtlCol="0" anchor="ctr"/>
          <a:lstStyle/>
          <a:p>
            <a:pPr indent="0" marL="0">
              <a:buNone/>
            </a:pPr>
            <a:r>
              <a:rPr lang="en-US" sz="1200" dirty="0">
                <a:solidFill>
                  <a:srgbClr val="9AAABE"/>
                </a:solidFill>
                <a:latin typeface="Calibri" pitchFamily="34" charset="0"/>
                <a:ea typeface="Calibri" pitchFamily="34" charset="-122"/>
                <a:cs typeface="Calibri" pitchFamily="34" charset="-120"/>
              </a:rPr>
              <a:t>Ask by identifier</a:t>
            </a:r>
            <a:endParaRPr lang="en-US" sz="1200" dirty="0"/>
          </a:p>
        </p:txBody>
      </p:sp>
      <p:sp>
        <p:nvSpPr>
          <p:cNvPr id="6" name="Text 3"/>
          <p:cNvSpPr txBox="1"/>
          <p:nvPr/>
        </p:nvSpPr>
        <p:spPr>
          <a:xfrm>
            <a:off x="640080" y="1645920"/>
            <a:ext cx="2560320" cy="502920"/>
          </a:xfrm>
          <a:prstGeom prst="rect">
            <a:avLst/>
          </a:prstGeom>
          <a:noFill/>
          <a:ln/>
        </p:spPr>
        <p:txBody>
          <a:bodyPr wrap="square" lIns="0" tIns="0" rIns="0" bIns="0" rtlCol="0" anchor="ctr"/>
          <a:lstStyle/>
          <a:p>
            <a:pPr indent="0" marL="0">
              <a:buNone/>
            </a:pPr>
            <a:r>
              <a:rPr lang="en-US" sz="2200" b="1" dirty="0">
                <a:solidFill>
                  <a:srgbClr val="4CC38A"/>
                </a:solidFill>
                <a:latin typeface="Calibri" pitchFamily="34" charset="0"/>
                <a:ea typeface="Calibri" pitchFamily="34" charset="-122"/>
                <a:cs typeface="Calibri" pitchFamily="34" charset="-120"/>
              </a:rPr>
              <a:t>works</a:t>
            </a:r>
            <a:endParaRPr lang="en-US" sz="2200" dirty="0"/>
          </a:p>
        </p:txBody>
      </p:sp>
      <p:sp>
        <p:nvSpPr>
          <p:cNvPr id="7" name="Text 4"/>
          <p:cNvSpPr txBox="1"/>
          <p:nvPr/>
        </p:nvSpPr>
        <p:spPr>
          <a:xfrm>
            <a:off x="3337560" y="1298448"/>
            <a:ext cx="2560320" cy="365760"/>
          </a:xfrm>
          <a:prstGeom prst="rect">
            <a:avLst/>
          </a:prstGeom>
          <a:noFill/>
          <a:ln/>
        </p:spPr>
        <p:txBody>
          <a:bodyPr wrap="square" lIns="0" tIns="0" rIns="0" bIns="0" rtlCol="0" anchor="ctr"/>
          <a:lstStyle/>
          <a:p>
            <a:pPr indent="0" marL="0">
              <a:buNone/>
            </a:pPr>
            <a:r>
              <a:rPr lang="en-US" sz="1200" dirty="0">
                <a:solidFill>
                  <a:srgbClr val="9AAABE"/>
                </a:solidFill>
                <a:latin typeface="Calibri" pitchFamily="34" charset="0"/>
                <a:ea typeface="Calibri" pitchFamily="34" charset="-122"/>
                <a:cs typeface="Calibri" pitchFamily="34" charset="-120"/>
              </a:rPr>
              <a:t>Reword the question</a:t>
            </a:r>
            <a:endParaRPr lang="en-US" sz="1200" dirty="0"/>
          </a:p>
        </p:txBody>
      </p:sp>
      <p:sp>
        <p:nvSpPr>
          <p:cNvPr id="8" name="Text 5"/>
          <p:cNvSpPr txBox="1"/>
          <p:nvPr/>
        </p:nvSpPr>
        <p:spPr>
          <a:xfrm>
            <a:off x="3337560" y="1645920"/>
            <a:ext cx="2560320" cy="502920"/>
          </a:xfrm>
          <a:prstGeom prst="rect">
            <a:avLst/>
          </a:prstGeom>
          <a:noFill/>
          <a:ln/>
        </p:spPr>
        <p:txBody>
          <a:bodyPr wrap="square" lIns="0" tIns="0" rIns="0" bIns="0" rtlCol="0" anchor="ctr"/>
          <a:lstStyle/>
          <a:p>
            <a:pPr indent="0" marL="0">
              <a:buNone/>
            </a:pPr>
            <a:r>
              <a:rPr lang="en-US" sz="2200" b="1" dirty="0">
                <a:solidFill>
                  <a:srgbClr val="F2B24F"/>
                </a:solidFill>
                <a:latin typeface="Calibri" pitchFamily="34" charset="0"/>
                <a:ea typeface="Calibri" pitchFamily="34" charset="-122"/>
                <a:cs typeface="Calibri" pitchFamily="34" charset="-120"/>
              </a:rPr>
              <a:t>about half</a:t>
            </a:r>
            <a:endParaRPr lang="en-US" sz="2200" dirty="0"/>
          </a:p>
        </p:txBody>
      </p:sp>
      <p:sp>
        <p:nvSpPr>
          <p:cNvPr id="9" name="Text 6"/>
          <p:cNvSpPr txBox="1"/>
          <p:nvPr/>
        </p:nvSpPr>
        <p:spPr>
          <a:xfrm>
            <a:off x="6035040" y="1298448"/>
            <a:ext cx="2560320" cy="365760"/>
          </a:xfrm>
          <a:prstGeom prst="rect">
            <a:avLst/>
          </a:prstGeom>
          <a:noFill/>
          <a:ln/>
        </p:spPr>
        <p:txBody>
          <a:bodyPr wrap="square" lIns="0" tIns="0" rIns="0" bIns="0" rtlCol="0" anchor="ctr"/>
          <a:lstStyle/>
          <a:p>
            <a:pPr indent="0" marL="0">
              <a:buNone/>
            </a:pPr>
            <a:r>
              <a:rPr lang="en-US" sz="1200" dirty="0">
                <a:solidFill>
                  <a:srgbClr val="9AAABE"/>
                </a:solidFill>
                <a:latin typeface="Calibri" pitchFamily="34" charset="0"/>
                <a:ea typeface="Calibri" pitchFamily="34" charset="-122"/>
                <a:cs typeface="Calibri" pitchFamily="34" charset="-120"/>
              </a:rPr>
              <a:t>Paraphrase the name</a:t>
            </a:r>
            <a:endParaRPr lang="en-US" sz="1200" dirty="0"/>
          </a:p>
        </p:txBody>
      </p:sp>
      <p:sp>
        <p:nvSpPr>
          <p:cNvPr id="10" name="Text 7"/>
          <p:cNvSpPr txBox="1"/>
          <p:nvPr/>
        </p:nvSpPr>
        <p:spPr>
          <a:xfrm>
            <a:off x="6035040" y="1645920"/>
            <a:ext cx="2560320" cy="502920"/>
          </a:xfrm>
          <a:prstGeom prst="rect">
            <a:avLst/>
          </a:prstGeom>
          <a:noFill/>
          <a:ln/>
        </p:spPr>
        <p:txBody>
          <a:bodyPr wrap="square" lIns="0" tIns="0" rIns="0" bIns="0" rtlCol="0" anchor="ctr"/>
          <a:lstStyle/>
          <a:p>
            <a:pPr indent="0" marL="0">
              <a:buNone/>
            </a:pPr>
            <a:r>
              <a:rPr lang="en-US" sz="2200" b="1" dirty="0">
                <a:solidFill>
                  <a:srgbClr val="E0655A"/>
                </a:solidFill>
                <a:latin typeface="Calibri" pitchFamily="34" charset="0"/>
                <a:ea typeface="Calibri" pitchFamily="34" charset="-122"/>
                <a:cs typeface="Calibri" pitchFamily="34" charset="-120"/>
              </a:rPr>
              <a:t>0 of 104</a:t>
            </a:r>
            <a:endParaRPr lang="en-US" sz="2200" dirty="0"/>
          </a:p>
        </p:txBody>
      </p:sp>
      <p:sp>
        <p:nvSpPr>
          <p:cNvPr id="11" name="Shape 8"/>
          <p:cNvSpPr/>
          <p:nvPr/>
        </p:nvSpPr>
        <p:spPr>
          <a:xfrm>
            <a:off x="457200" y="2560320"/>
            <a:ext cx="1965960" cy="1645920"/>
          </a:xfrm>
          <a:prstGeom prst="roundRect">
            <a:avLst>
              <a:gd name="adj" fmla="val 4444"/>
            </a:avLst>
          </a:prstGeom>
          <a:solidFill>
            <a:srgbClr val="172236"/>
          </a:solidFill>
          <a:ln w="9525">
            <a:solidFill>
              <a:srgbClr val="2B3D57"/>
            </a:solidFill>
            <a:prstDash val="solid"/>
          </a:ln>
        </p:spPr>
      </p:sp>
      <p:sp>
        <p:nvSpPr>
          <p:cNvPr id="12" name="Shape 9"/>
          <p:cNvSpPr/>
          <p:nvPr/>
        </p:nvSpPr>
        <p:spPr>
          <a:xfrm>
            <a:off x="640080" y="2743200"/>
            <a:ext cx="365760" cy="365760"/>
          </a:xfrm>
          <a:prstGeom prst="ellipse">
            <a:avLst/>
          </a:prstGeom>
          <a:solidFill>
            <a:srgbClr val="D9922F"/>
          </a:solidFill>
          <a:ln w="12700">
            <a:solidFill>
              <a:srgbClr val="D9922F"/>
            </a:solidFill>
            <a:prstDash val="solid"/>
          </a:ln>
        </p:spPr>
      </p:sp>
      <p:sp>
        <p:nvSpPr>
          <p:cNvPr id="13" name="Text 10"/>
          <p:cNvSpPr txBox="1"/>
          <p:nvPr/>
        </p:nvSpPr>
        <p:spPr>
          <a:xfrm>
            <a:off x="640080" y="2743200"/>
            <a:ext cx="365760" cy="365760"/>
          </a:xfrm>
          <a:prstGeom prst="rect">
            <a:avLst/>
          </a:prstGeom>
          <a:noFill/>
          <a:ln/>
        </p:spPr>
        <p:txBody>
          <a:bodyPr wrap="square" lIns="0" tIns="0" rIns="0" bIns="0" rtlCol="0" anchor="ctr"/>
          <a:lstStyle/>
          <a:p>
            <a:pPr algn="ctr" indent="0" marL="0">
              <a:buNone/>
            </a:pPr>
            <a:r>
              <a:rPr lang="en-US" sz="1300" b="1" dirty="0">
                <a:solidFill>
                  <a:srgbClr val="0E1726"/>
                </a:solidFill>
                <a:latin typeface="Calibri" pitchFamily="34" charset="0"/>
                <a:ea typeface="Calibri" pitchFamily="34" charset="-122"/>
                <a:cs typeface="Calibri" pitchFamily="34" charset="-120"/>
              </a:rPr>
              <a:t>1</a:t>
            </a:r>
            <a:endParaRPr lang="en-US" sz="1300" dirty="0"/>
          </a:p>
        </p:txBody>
      </p:sp>
      <p:pic>
        <p:nvPicPr>
          <p:cNvPr id="14" name="Image 1" descr="preencoded.png">    </p:cNvPr>
          <p:cNvPicPr>
            <a:picLocks noChangeAspect="1"/>
          </p:cNvPicPr>
          <p:nvPr/>
        </p:nvPicPr>
        <p:blipFill>
          <a:blip r:embed="rId2"/>
          <a:stretch>
            <a:fillRect/>
          </a:stretch>
        </p:blipFill>
        <p:spPr>
          <a:xfrm>
            <a:off x="1874520" y="2761488"/>
            <a:ext cx="329184" cy="329184"/>
          </a:xfrm>
          <a:prstGeom prst="rect">
            <a:avLst/>
          </a:prstGeom>
        </p:spPr>
      </p:pic>
      <p:sp>
        <p:nvSpPr>
          <p:cNvPr id="15" name="Text 11"/>
          <p:cNvSpPr txBox="1"/>
          <p:nvPr/>
        </p:nvSpPr>
        <p:spPr>
          <a:xfrm>
            <a:off x="640080" y="3246120"/>
            <a:ext cx="1645920" cy="822960"/>
          </a:xfrm>
          <a:prstGeom prst="rect">
            <a:avLst/>
          </a:prstGeom>
          <a:noFill/>
          <a:ln/>
        </p:spPr>
        <p:txBody>
          <a:bodyPr wrap="square" lIns="0" tIns="0" rIns="0" bIns="0" rtlCol="0" anchor="t"/>
          <a:lstStyle/>
          <a:p>
            <a:pPr indent="0" marL="0">
              <a:buNone/>
            </a:pPr>
            <a:r>
              <a:rPr lang="en-US" sz="1500" b="1" dirty="0">
                <a:solidFill>
                  <a:srgbClr val="F3F6FA"/>
                </a:solidFill>
                <a:latin typeface="Calibri" pitchFamily="34" charset="0"/>
                <a:ea typeface="Calibri" pitchFamily="34" charset="-122"/>
                <a:cs typeface="Calibri" pitchFamily="34" charset="-120"/>
              </a:rPr>
              <a:t>Close the vocabulary gap</a:t>
            </a:r>
            <a:endParaRPr lang="en-US" sz="1500" dirty="0"/>
          </a:p>
        </p:txBody>
      </p:sp>
      <p:sp>
        <p:nvSpPr>
          <p:cNvPr id="16" name="Shape 12"/>
          <p:cNvSpPr/>
          <p:nvPr/>
        </p:nvSpPr>
        <p:spPr>
          <a:xfrm>
            <a:off x="2560320" y="2560320"/>
            <a:ext cx="1965960" cy="1645920"/>
          </a:xfrm>
          <a:prstGeom prst="roundRect">
            <a:avLst>
              <a:gd name="adj" fmla="val 4444"/>
            </a:avLst>
          </a:prstGeom>
          <a:solidFill>
            <a:srgbClr val="172236"/>
          </a:solidFill>
          <a:ln w="9525">
            <a:solidFill>
              <a:srgbClr val="2B3D57"/>
            </a:solidFill>
            <a:prstDash val="solid"/>
          </a:ln>
        </p:spPr>
      </p:sp>
      <p:sp>
        <p:nvSpPr>
          <p:cNvPr id="17" name="Shape 13"/>
          <p:cNvSpPr/>
          <p:nvPr/>
        </p:nvSpPr>
        <p:spPr>
          <a:xfrm>
            <a:off x="2743200" y="2743200"/>
            <a:ext cx="365760" cy="365760"/>
          </a:xfrm>
          <a:prstGeom prst="ellipse">
            <a:avLst/>
          </a:prstGeom>
          <a:solidFill>
            <a:srgbClr val="D9922F"/>
          </a:solidFill>
          <a:ln w="12700">
            <a:solidFill>
              <a:srgbClr val="D9922F"/>
            </a:solidFill>
            <a:prstDash val="solid"/>
          </a:ln>
        </p:spPr>
      </p:sp>
      <p:sp>
        <p:nvSpPr>
          <p:cNvPr id="18" name="Text 14"/>
          <p:cNvSpPr txBox="1"/>
          <p:nvPr/>
        </p:nvSpPr>
        <p:spPr>
          <a:xfrm>
            <a:off x="2743200" y="2743200"/>
            <a:ext cx="365760" cy="365760"/>
          </a:xfrm>
          <a:prstGeom prst="rect">
            <a:avLst/>
          </a:prstGeom>
          <a:noFill/>
          <a:ln/>
        </p:spPr>
        <p:txBody>
          <a:bodyPr wrap="square" lIns="0" tIns="0" rIns="0" bIns="0" rtlCol="0" anchor="ctr"/>
          <a:lstStyle/>
          <a:p>
            <a:pPr algn="ctr" indent="0" marL="0">
              <a:buNone/>
            </a:pPr>
            <a:r>
              <a:rPr lang="en-US" sz="1300" b="1" dirty="0">
                <a:solidFill>
                  <a:srgbClr val="0E1726"/>
                </a:solidFill>
                <a:latin typeface="Calibri" pitchFamily="34" charset="0"/>
                <a:ea typeface="Calibri" pitchFamily="34" charset="-122"/>
                <a:cs typeface="Calibri" pitchFamily="34" charset="-120"/>
              </a:rPr>
              <a:t>2</a:t>
            </a:r>
            <a:endParaRPr lang="en-US" sz="1300" dirty="0"/>
          </a:p>
        </p:txBody>
      </p:sp>
      <p:pic>
        <p:nvPicPr>
          <p:cNvPr id="19" name="Image 2" descr="preencoded.png">    </p:cNvPr>
          <p:cNvPicPr>
            <a:picLocks noChangeAspect="1"/>
          </p:cNvPicPr>
          <p:nvPr/>
        </p:nvPicPr>
        <p:blipFill>
          <a:blip r:embed="rId3"/>
          <a:stretch>
            <a:fillRect/>
          </a:stretch>
        </p:blipFill>
        <p:spPr>
          <a:xfrm>
            <a:off x="3977640" y="2761488"/>
            <a:ext cx="329184" cy="329184"/>
          </a:xfrm>
          <a:prstGeom prst="rect">
            <a:avLst/>
          </a:prstGeom>
        </p:spPr>
      </p:pic>
      <p:sp>
        <p:nvSpPr>
          <p:cNvPr id="20" name="Text 15"/>
          <p:cNvSpPr txBox="1"/>
          <p:nvPr/>
        </p:nvSpPr>
        <p:spPr>
          <a:xfrm>
            <a:off x="2743200" y="3246120"/>
            <a:ext cx="1645920" cy="822960"/>
          </a:xfrm>
          <a:prstGeom prst="rect">
            <a:avLst/>
          </a:prstGeom>
          <a:noFill/>
          <a:ln/>
        </p:spPr>
        <p:txBody>
          <a:bodyPr wrap="square" lIns="0" tIns="0" rIns="0" bIns="0" rtlCol="0" anchor="t"/>
          <a:lstStyle/>
          <a:p>
            <a:pPr indent="0" marL="0">
              <a:buNone/>
            </a:pPr>
            <a:r>
              <a:rPr lang="en-US" sz="1500" b="1" dirty="0">
                <a:solidFill>
                  <a:srgbClr val="F3F6FA"/>
                </a:solidFill>
                <a:latin typeface="Calibri" pitchFamily="34" charset="0"/>
                <a:ea typeface="Calibri" pitchFamily="34" charset="-122"/>
                <a:cs typeface="Calibri" pitchFamily="34" charset="-120"/>
              </a:rPr>
              <a:t>Put a person in the loop</a:t>
            </a:r>
            <a:endParaRPr lang="en-US" sz="1500" dirty="0"/>
          </a:p>
        </p:txBody>
      </p:sp>
      <p:sp>
        <p:nvSpPr>
          <p:cNvPr id="21" name="Shape 16"/>
          <p:cNvSpPr/>
          <p:nvPr/>
        </p:nvSpPr>
        <p:spPr>
          <a:xfrm>
            <a:off x="4663440" y="2560320"/>
            <a:ext cx="1965960" cy="1645920"/>
          </a:xfrm>
          <a:prstGeom prst="roundRect">
            <a:avLst>
              <a:gd name="adj" fmla="val 4444"/>
            </a:avLst>
          </a:prstGeom>
          <a:solidFill>
            <a:srgbClr val="172236"/>
          </a:solidFill>
          <a:ln w="9525">
            <a:solidFill>
              <a:srgbClr val="2B3D57"/>
            </a:solidFill>
            <a:prstDash val="solid"/>
          </a:ln>
        </p:spPr>
      </p:sp>
      <p:sp>
        <p:nvSpPr>
          <p:cNvPr id="22" name="Shape 17"/>
          <p:cNvSpPr/>
          <p:nvPr/>
        </p:nvSpPr>
        <p:spPr>
          <a:xfrm>
            <a:off x="4846320" y="2743200"/>
            <a:ext cx="365760" cy="365760"/>
          </a:xfrm>
          <a:prstGeom prst="ellipse">
            <a:avLst/>
          </a:prstGeom>
          <a:solidFill>
            <a:srgbClr val="D9922F"/>
          </a:solidFill>
          <a:ln w="12700">
            <a:solidFill>
              <a:srgbClr val="D9922F"/>
            </a:solidFill>
            <a:prstDash val="solid"/>
          </a:ln>
        </p:spPr>
      </p:sp>
      <p:sp>
        <p:nvSpPr>
          <p:cNvPr id="23" name="Text 18"/>
          <p:cNvSpPr txBox="1"/>
          <p:nvPr/>
        </p:nvSpPr>
        <p:spPr>
          <a:xfrm>
            <a:off x="4846320" y="2743200"/>
            <a:ext cx="365760" cy="365760"/>
          </a:xfrm>
          <a:prstGeom prst="rect">
            <a:avLst/>
          </a:prstGeom>
          <a:noFill/>
          <a:ln/>
        </p:spPr>
        <p:txBody>
          <a:bodyPr wrap="square" lIns="0" tIns="0" rIns="0" bIns="0" rtlCol="0" anchor="ctr"/>
          <a:lstStyle/>
          <a:p>
            <a:pPr algn="ctr" indent="0" marL="0">
              <a:buNone/>
            </a:pPr>
            <a:r>
              <a:rPr lang="en-US" sz="1300" b="1" dirty="0">
                <a:solidFill>
                  <a:srgbClr val="0E1726"/>
                </a:solidFill>
                <a:latin typeface="Calibri" pitchFamily="34" charset="0"/>
                <a:ea typeface="Calibri" pitchFamily="34" charset="-122"/>
                <a:cs typeface="Calibri" pitchFamily="34" charset="-120"/>
              </a:rPr>
              <a:t>3</a:t>
            </a:r>
            <a:endParaRPr lang="en-US" sz="1300" dirty="0"/>
          </a:p>
        </p:txBody>
      </p:sp>
      <p:pic>
        <p:nvPicPr>
          <p:cNvPr id="24" name="Image 3" descr="preencoded.png">    </p:cNvPr>
          <p:cNvPicPr>
            <a:picLocks noChangeAspect="1"/>
          </p:cNvPicPr>
          <p:nvPr/>
        </p:nvPicPr>
        <p:blipFill>
          <a:blip r:embed="rId4"/>
          <a:stretch>
            <a:fillRect/>
          </a:stretch>
        </p:blipFill>
        <p:spPr>
          <a:xfrm>
            <a:off x="6080760" y="2761488"/>
            <a:ext cx="329184" cy="329184"/>
          </a:xfrm>
          <a:prstGeom prst="rect">
            <a:avLst/>
          </a:prstGeom>
        </p:spPr>
      </p:pic>
      <p:sp>
        <p:nvSpPr>
          <p:cNvPr id="25" name="Text 19"/>
          <p:cNvSpPr txBox="1"/>
          <p:nvPr/>
        </p:nvSpPr>
        <p:spPr>
          <a:xfrm>
            <a:off x="4846320" y="3246120"/>
            <a:ext cx="1645920" cy="822960"/>
          </a:xfrm>
          <a:prstGeom prst="rect">
            <a:avLst/>
          </a:prstGeom>
          <a:noFill/>
          <a:ln/>
        </p:spPr>
        <p:txBody>
          <a:bodyPr wrap="square" lIns="0" tIns="0" rIns="0" bIns="0" rtlCol="0" anchor="t"/>
          <a:lstStyle/>
          <a:p>
            <a:pPr indent="0" marL="0">
              <a:buNone/>
            </a:pPr>
            <a:r>
              <a:rPr lang="en-US" sz="1500" b="1" dirty="0">
                <a:solidFill>
                  <a:srgbClr val="F3F6FA"/>
                </a:solidFill>
                <a:latin typeface="Calibri" pitchFamily="34" charset="0"/>
                <a:ea typeface="Calibri" pitchFamily="34" charset="-122"/>
                <a:cs typeface="Calibri" pitchFamily="34" charset="-120"/>
              </a:rPr>
              <a:t>Pilot inside ReliaQuest</a:t>
            </a:r>
            <a:endParaRPr lang="en-US" sz="1500" dirty="0"/>
          </a:p>
        </p:txBody>
      </p:sp>
      <p:sp>
        <p:nvSpPr>
          <p:cNvPr id="26" name="Shape 20"/>
          <p:cNvSpPr/>
          <p:nvPr/>
        </p:nvSpPr>
        <p:spPr>
          <a:xfrm>
            <a:off x="6766560" y="2560320"/>
            <a:ext cx="1965960" cy="1645920"/>
          </a:xfrm>
          <a:prstGeom prst="roundRect">
            <a:avLst>
              <a:gd name="adj" fmla="val 4444"/>
            </a:avLst>
          </a:prstGeom>
          <a:solidFill>
            <a:srgbClr val="172236"/>
          </a:solidFill>
          <a:ln w="9525">
            <a:solidFill>
              <a:srgbClr val="2B3D57"/>
            </a:solidFill>
            <a:prstDash val="solid"/>
          </a:ln>
        </p:spPr>
      </p:sp>
      <p:sp>
        <p:nvSpPr>
          <p:cNvPr id="27" name="Shape 21"/>
          <p:cNvSpPr/>
          <p:nvPr/>
        </p:nvSpPr>
        <p:spPr>
          <a:xfrm>
            <a:off x="6949440" y="2743200"/>
            <a:ext cx="365760" cy="365760"/>
          </a:xfrm>
          <a:prstGeom prst="ellipse">
            <a:avLst/>
          </a:prstGeom>
          <a:solidFill>
            <a:srgbClr val="D9922F"/>
          </a:solidFill>
          <a:ln w="12700">
            <a:solidFill>
              <a:srgbClr val="D9922F"/>
            </a:solidFill>
            <a:prstDash val="solid"/>
          </a:ln>
        </p:spPr>
      </p:sp>
      <p:sp>
        <p:nvSpPr>
          <p:cNvPr id="28" name="Text 22"/>
          <p:cNvSpPr txBox="1"/>
          <p:nvPr/>
        </p:nvSpPr>
        <p:spPr>
          <a:xfrm>
            <a:off x="6949440" y="2743200"/>
            <a:ext cx="365760" cy="365760"/>
          </a:xfrm>
          <a:prstGeom prst="rect">
            <a:avLst/>
          </a:prstGeom>
          <a:noFill/>
          <a:ln/>
        </p:spPr>
        <p:txBody>
          <a:bodyPr wrap="square" lIns="0" tIns="0" rIns="0" bIns="0" rtlCol="0" anchor="ctr"/>
          <a:lstStyle/>
          <a:p>
            <a:pPr algn="ctr" indent="0" marL="0">
              <a:buNone/>
            </a:pPr>
            <a:r>
              <a:rPr lang="en-US" sz="1300" b="1" dirty="0">
                <a:solidFill>
                  <a:srgbClr val="0E1726"/>
                </a:solidFill>
                <a:latin typeface="Calibri" pitchFamily="34" charset="0"/>
                <a:ea typeface="Calibri" pitchFamily="34" charset="-122"/>
                <a:cs typeface="Calibri" pitchFamily="34" charset="-120"/>
              </a:rPr>
              <a:t>4</a:t>
            </a:r>
            <a:endParaRPr lang="en-US" sz="1300" dirty="0"/>
          </a:p>
        </p:txBody>
      </p:sp>
      <p:pic>
        <p:nvPicPr>
          <p:cNvPr id="29" name="Image 4" descr="preencoded.png">    </p:cNvPr>
          <p:cNvPicPr>
            <a:picLocks noChangeAspect="1"/>
          </p:cNvPicPr>
          <p:nvPr/>
        </p:nvPicPr>
        <p:blipFill>
          <a:blip r:embed="rId5"/>
          <a:stretch>
            <a:fillRect/>
          </a:stretch>
        </p:blipFill>
        <p:spPr>
          <a:xfrm>
            <a:off x="8183880" y="2761488"/>
            <a:ext cx="329184" cy="329184"/>
          </a:xfrm>
          <a:prstGeom prst="rect">
            <a:avLst/>
          </a:prstGeom>
        </p:spPr>
      </p:pic>
      <p:sp>
        <p:nvSpPr>
          <p:cNvPr id="30" name="Text 23"/>
          <p:cNvSpPr txBox="1"/>
          <p:nvPr/>
        </p:nvSpPr>
        <p:spPr>
          <a:xfrm>
            <a:off x="6949440" y="3246120"/>
            <a:ext cx="1645920" cy="822960"/>
          </a:xfrm>
          <a:prstGeom prst="rect">
            <a:avLst/>
          </a:prstGeom>
          <a:noFill/>
          <a:ln/>
        </p:spPr>
        <p:txBody>
          <a:bodyPr wrap="square" lIns="0" tIns="0" rIns="0" bIns="0" rtlCol="0" anchor="t"/>
          <a:lstStyle/>
          <a:p>
            <a:pPr indent="0" marL="0">
              <a:buNone/>
            </a:pPr>
            <a:r>
              <a:rPr lang="en-US" sz="1500" b="1" dirty="0">
                <a:solidFill>
                  <a:srgbClr val="F3F6FA"/>
                </a:solidFill>
                <a:latin typeface="Calibri" pitchFamily="34" charset="0"/>
                <a:ea typeface="Calibri" pitchFamily="34" charset="-122"/>
                <a:cs typeface="Calibri" pitchFamily="34" charset="-120"/>
              </a:rPr>
              <a:t>Neptune and Spanner Graph</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7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1097280"/>
            <a:ext cx="1097280" cy="950976"/>
          </a:xfrm>
          <a:prstGeom prst="rect">
            <a:avLst/>
          </a:prstGeom>
        </p:spPr>
      </p:pic>
      <p:sp>
        <p:nvSpPr>
          <p:cNvPr id="3" name="Text 0"/>
          <p:cNvSpPr txBox="1"/>
          <p:nvPr/>
        </p:nvSpPr>
        <p:spPr>
          <a:xfrm>
            <a:off x="457200" y="2286000"/>
            <a:ext cx="8229600" cy="822960"/>
          </a:xfrm>
          <a:prstGeom prst="rect">
            <a:avLst/>
          </a:prstGeom>
          <a:noFill/>
          <a:ln/>
        </p:spPr>
        <p:txBody>
          <a:bodyPr wrap="square" lIns="0" tIns="0" rIns="0" bIns="0" rtlCol="0" anchor="ctr"/>
          <a:lstStyle/>
          <a:p>
            <a:pPr algn="ctr" indent="0" marL="0">
              <a:buNone/>
            </a:pPr>
            <a:r>
              <a:rPr lang="en-US" sz="4000" b="1" dirty="0">
                <a:solidFill>
                  <a:srgbClr val="F3F6FA"/>
                </a:solidFill>
                <a:latin typeface="Calibri" pitchFamily="34" charset="0"/>
                <a:ea typeface="Calibri" pitchFamily="34" charset="-122"/>
                <a:cs typeface="Calibri" pitchFamily="34" charset="-120"/>
              </a:rPr>
              <a:t>Questions?</a:t>
            </a:r>
            <a:endParaRPr lang="en-US" sz="4000" dirty="0"/>
          </a:p>
        </p:txBody>
      </p:sp>
      <p:sp>
        <p:nvSpPr>
          <p:cNvPr id="4" name="Text 1"/>
          <p:cNvSpPr txBox="1"/>
          <p:nvPr/>
        </p:nvSpPr>
        <p:spPr>
          <a:xfrm>
            <a:off x="457200" y="3154680"/>
            <a:ext cx="8229600" cy="365760"/>
          </a:xfrm>
          <a:prstGeom prst="rect">
            <a:avLst/>
          </a:prstGeom>
          <a:noFill/>
          <a:ln/>
        </p:spPr>
        <p:txBody>
          <a:bodyPr wrap="square" lIns="0" tIns="0" rIns="0" bIns="0" rtlCol="0" anchor="ctr"/>
          <a:lstStyle/>
          <a:p>
            <a:pPr algn="ctr" indent="0" marL="0">
              <a:buNone/>
            </a:pPr>
            <a:r>
              <a:rPr lang="en-US" sz="1200" dirty="0">
                <a:solidFill>
                  <a:srgbClr val="9AAABE"/>
                </a:solidFill>
                <a:latin typeface="Calibri" pitchFamily="34" charset="0"/>
                <a:ea typeface="Calibri" pitchFamily="34" charset="-122"/>
                <a:cs typeface="Calibri" pitchFamily="34" charset="-120"/>
              </a:rPr>
              <a:t>Olmo S. Zavala Romero  ·  Brendon DGR  ·  FSU Scientific Computing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457200" y="2011680"/>
            <a:ext cx="8229600" cy="731520"/>
          </a:xfrm>
          <a:prstGeom prst="rect">
            <a:avLst/>
          </a:prstGeom>
          <a:noFill/>
          <a:ln/>
        </p:spPr>
        <p:txBody>
          <a:bodyPr wrap="square" lIns="0" tIns="0" rIns="0" bIns="0" rtlCol="0" anchor="ctr"/>
          <a:lstStyle/>
          <a:p>
            <a:pPr algn="ctr" indent="0" marL="0">
              <a:buNone/>
            </a:pPr>
            <a:r>
              <a:rPr lang="en-US" sz="3600" b="1" dirty="0">
                <a:solidFill>
                  <a:srgbClr val="F3F6FA"/>
                </a:solidFill>
                <a:latin typeface="Calibri" pitchFamily="34" charset="0"/>
                <a:ea typeface="Calibri" pitchFamily="34" charset="-122"/>
                <a:cs typeface="Calibri" pitchFamily="34" charset="-120"/>
              </a:rPr>
              <a:t>Backup</a:t>
            </a:r>
            <a:endParaRPr lang="en-US" sz="3600" dirty="0"/>
          </a:p>
        </p:txBody>
      </p:sp>
      <p:sp>
        <p:nvSpPr>
          <p:cNvPr id="3" name="Text 1"/>
          <p:cNvSpPr txBox="1"/>
          <p:nvPr/>
        </p:nvSpPr>
        <p:spPr>
          <a:xfrm>
            <a:off x="457200" y="2743200"/>
            <a:ext cx="8229600" cy="365760"/>
          </a:xfrm>
          <a:prstGeom prst="rect">
            <a:avLst/>
          </a:prstGeom>
          <a:noFill/>
          <a:ln/>
        </p:spPr>
        <p:txBody>
          <a:bodyPr wrap="square" lIns="0" tIns="0" rIns="0" bIns="0" rtlCol="0" anchor="ctr"/>
          <a:lstStyle/>
          <a:p>
            <a:pPr algn="ctr" indent="0" marL="0">
              <a:buNone/>
            </a:pPr>
            <a:r>
              <a:rPr lang="en-US" sz="1300" dirty="0">
                <a:solidFill>
                  <a:srgbClr val="9AAABE"/>
                </a:solidFill>
                <a:latin typeface="Calibri" pitchFamily="34" charset="0"/>
                <a:ea typeface="Calibri" pitchFamily="34" charset="-122"/>
                <a:cs typeface="Calibri" pitchFamily="34" charset="-120"/>
              </a:rPr>
              <a:t>For questions. Every number sourced to the research record.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7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75320" y="256032"/>
            <a:ext cx="384048" cy="329184"/>
          </a:xfrm>
          <a:prstGeom prst="rect">
            <a:avLst/>
          </a:prstGeom>
        </p:spPr>
      </p:pic>
      <p:sp>
        <p:nvSpPr>
          <p:cNvPr id="3" name="Text 0"/>
          <p:cNvSpPr txBox="1"/>
          <p:nvPr/>
        </p:nvSpPr>
        <p:spPr>
          <a:xfrm>
            <a:off x="457200" y="292608"/>
            <a:ext cx="7680960" cy="685800"/>
          </a:xfrm>
          <a:prstGeom prst="rect">
            <a:avLst/>
          </a:prstGeom>
          <a:noFill/>
          <a:ln/>
        </p:spPr>
        <p:txBody>
          <a:bodyPr wrap="square" lIns="0" tIns="0" rIns="0" bIns="0" rtlCol="0" anchor="ctr"/>
          <a:lstStyle/>
          <a:p>
            <a:pPr indent="0" marL="0">
              <a:buNone/>
            </a:pPr>
            <a:r>
              <a:rPr lang="en-US" sz="2200" b="1" dirty="0">
                <a:solidFill>
                  <a:srgbClr val="F3F6FA"/>
                </a:solidFill>
                <a:latin typeface="Calibri" pitchFamily="34" charset="0"/>
                <a:ea typeface="Calibri" pitchFamily="34" charset="-122"/>
                <a:cs typeface="Calibri" pitchFamily="34" charset="-120"/>
              </a:rPr>
              <a:t>Backup · The full blind comparison</a:t>
            </a:r>
            <a:endParaRPr lang="en-US" sz="2200" dirty="0"/>
          </a:p>
        </p:txBody>
      </p:sp>
      <p:sp>
        <p:nvSpPr>
          <p:cNvPr id="4" name="Text 1"/>
          <p:cNvSpPr txBox="1"/>
          <p:nvPr/>
        </p:nvSpPr>
        <p:spPr>
          <a:xfrm>
            <a:off x="457200" y="932688"/>
            <a:ext cx="7680960" cy="347472"/>
          </a:xfrm>
          <a:prstGeom prst="rect">
            <a:avLst/>
          </a:prstGeom>
          <a:noFill/>
          <a:ln/>
        </p:spPr>
        <p:txBody>
          <a:bodyPr wrap="square" lIns="0" tIns="0" rIns="0" bIns="0" rtlCol="0" anchor="t"/>
          <a:lstStyle/>
          <a:p>
            <a:pPr indent="0" marL="0">
              <a:buNone/>
            </a:pPr>
            <a:r>
              <a:rPr lang="en-US" sz="1300" dirty="0">
                <a:solidFill>
                  <a:srgbClr val="9AAABE"/>
                </a:solidFill>
                <a:latin typeface="Calibri" pitchFamily="34" charset="0"/>
                <a:ea typeface="Calibri" pitchFamily="34" charset="-122"/>
                <a:cs typeface="Calibri" pitchFamily="34" charset="-120"/>
              </a:rPr>
              <a:t>288 held-out questions (never seen, never graded before this run) and the 284-question development half. Paired bootstrap, 2,000 resamples.</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3566160"/>
                <a:gridCol w="1188720"/>
                <a:gridCol w="1188720"/>
                <a:gridCol w="1188720"/>
                <a:gridCol w="1097280"/>
              </a:tblGrid>
              <a:tr h="384048">
                <a:tc>
                  <a:txBody>
                    <a:bodyPr/>
                    <a:lstStyle/>
                    <a:p>
                      <a:pPr algn="l" indent="0" marL="0">
                        <a:buNone/>
                      </a:pPr>
                      <a:r>
                        <a:rPr lang="en-US" sz="1050" b="1" dirty="0">
                          <a:solidFill>
                            <a:srgbClr val="F3F6FA"/>
                          </a:solidFill>
                          <a:latin typeface="Calibri" pitchFamily="34" charset="0"/>
                          <a:ea typeface="Calibri" pitchFamily="34" charset="-122"/>
                          <a:cs typeface="Calibri" pitchFamily="34" charset="-120"/>
                        </a:rPr>
                        <a:t>Way of answering</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D2B42"/>
                    </a:solidFill>
                  </a:tcPr>
                </a:tc>
                <a:tc>
                  <a:txBody>
                    <a:bodyPr/>
                    <a:lstStyle/>
                    <a:p>
                      <a:pPr algn="ctr" indent="0" marL="0">
                        <a:buNone/>
                      </a:pPr>
                      <a:r>
                        <a:rPr lang="en-US" sz="1050" b="1" dirty="0">
                          <a:solidFill>
                            <a:srgbClr val="F3F6FA"/>
                          </a:solidFill>
                          <a:latin typeface="Calibri" pitchFamily="34" charset="0"/>
                          <a:ea typeface="Calibri" pitchFamily="34" charset="-122"/>
                          <a:cs typeface="Calibri" pitchFamily="34" charset="-120"/>
                        </a:rPr>
                        <a:t>Held-out (n=288)</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D2B42"/>
                    </a:solidFill>
                  </a:tcPr>
                </a:tc>
                <a:tc>
                  <a:txBody>
                    <a:bodyPr/>
                    <a:lstStyle/>
                    <a:p>
                      <a:pPr algn="ctr" indent="0" marL="0">
                        <a:buNone/>
                      </a:pPr>
                      <a:r>
                        <a:rPr lang="en-US" sz="1050" b="1" dirty="0">
                          <a:solidFill>
                            <a:srgbClr val="F3F6FA"/>
                          </a:solidFill>
                          <a:latin typeface="Calibri" pitchFamily="34" charset="0"/>
                          <a:ea typeface="Calibri" pitchFamily="34" charset="-122"/>
                          <a:cs typeface="Calibri" pitchFamily="34" charset="-120"/>
                        </a:rPr>
                        <a:t>95% CI</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D2B42"/>
                    </a:solidFill>
                  </a:tcPr>
                </a:tc>
                <a:tc>
                  <a:txBody>
                    <a:bodyPr/>
                    <a:lstStyle/>
                    <a:p>
                      <a:pPr algn="ctr" indent="0" marL="0">
                        <a:buNone/>
                      </a:pPr>
                      <a:r>
                        <a:rPr lang="en-US" sz="1050" b="1" dirty="0">
                          <a:solidFill>
                            <a:srgbClr val="F3F6FA"/>
                          </a:solidFill>
                          <a:latin typeface="Calibri" pitchFamily="34" charset="0"/>
                          <a:ea typeface="Calibri" pitchFamily="34" charset="-122"/>
                          <a:cs typeface="Calibri" pitchFamily="34" charset="-120"/>
                        </a:rPr>
                        <a:t>Dev half (n=284)</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D2B42"/>
                    </a:solidFill>
                  </a:tcPr>
                </a:tc>
                <a:tc>
                  <a:txBody>
                    <a:bodyPr/>
                    <a:lstStyle/>
                    <a:p>
                      <a:pPr algn="ctr" indent="0" marL="0">
                        <a:buNone/>
                      </a:pPr>
                      <a:r>
                        <a:rPr lang="en-US" sz="1050" b="1" dirty="0">
                          <a:solidFill>
                            <a:srgbClr val="F3F6FA"/>
                          </a:solidFill>
                          <a:latin typeface="Calibri" pitchFamily="34" charset="0"/>
                          <a:ea typeface="Calibri" pitchFamily="34" charset="-122"/>
                          <a:cs typeface="Calibri" pitchFamily="34" charset="-120"/>
                        </a:rPr>
                        <a:t>Second grader (gemma)</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D2B42"/>
                    </a:solidFill>
                  </a:tcPr>
                </a:tc>
              </a:tr>
              <a:tr h="502920">
                <a:tc>
                  <a:txBody>
                    <a:bodyPr/>
                    <a:lstStyle/>
                    <a:p>
                      <a:pPr algn="l" indent="0" marL="0">
                        <a:buNone/>
                      </a:pPr>
                      <a:r>
                        <a:rPr lang="en-US" sz="1050" dirty="0">
                          <a:solidFill>
                            <a:srgbClr val="F3F6FA"/>
                          </a:solidFill>
                          <a:latin typeface="Calibri" pitchFamily="34" charset="0"/>
                          <a:ea typeface="Calibri" pitchFamily="34" charset="-122"/>
                          <a:cs typeface="Calibri" pitchFamily="34" charset="-120"/>
                        </a:rPr>
                        <a:t>Reads the database's own structure (schema-assembled, no templates, no model)</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72236"/>
                    </a:solidFill>
                  </a:tcPr>
                </a:tc>
                <a:tc>
                  <a:txBody>
                    <a:bodyPr/>
                    <a:lstStyle/>
                    <a:p>
                      <a:pPr algn="ctr" indent="0" marL="0">
                        <a:buNone/>
                      </a:pPr>
                      <a:r>
                        <a:rPr lang="en-US" sz="1050" b="1" dirty="0">
                          <a:solidFill>
                            <a:srgbClr val="3FBFC5"/>
                          </a:solidFill>
                          <a:latin typeface="Calibri" pitchFamily="34" charset="0"/>
                          <a:ea typeface="Calibri" pitchFamily="34" charset="-122"/>
                          <a:cs typeface="Calibri" pitchFamily="34" charset="-120"/>
                        </a:rPr>
                        <a:t>0.6546</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72236"/>
                    </a:solidFill>
                  </a:tcPr>
                </a:tc>
                <a:tc>
                  <a:txBody>
                    <a:bodyPr/>
                    <a:lstStyle/>
                    <a:p>
                      <a:pPr algn="ctr" indent="0" marL="0">
                        <a:buNone/>
                      </a:pPr>
                      <a:r>
                        <a:rPr lang="en-US" sz="1050" dirty="0">
                          <a:solidFill>
                            <a:srgbClr val="F3F6FA"/>
                          </a:solidFill>
                          <a:latin typeface="Calibri" pitchFamily="34" charset="0"/>
                          <a:ea typeface="Calibri" pitchFamily="34" charset="-122"/>
                          <a:cs typeface="Calibri" pitchFamily="34" charset="-120"/>
                        </a:rPr>
                        <a:t>0.622 – 0.688</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72236"/>
                    </a:solidFill>
                  </a:tcPr>
                </a:tc>
                <a:tc>
                  <a:txBody>
                    <a:bodyPr/>
                    <a:lstStyle/>
                    <a:p>
                      <a:pPr algn="ctr" indent="0" marL="0">
                        <a:buNone/>
                      </a:pPr>
                      <a:r>
                        <a:rPr lang="en-US" sz="1050" dirty="0">
                          <a:solidFill>
                            <a:srgbClr val="F3F6FA"/>
                          </a:solidFill>
                          <a:latin typeface="Calibri" pitchFamily="34" charset="0"/>
                          <a:ea typeface="Calibri" pitchFamily="34" charset="-122"/>
                          <a:cs typeface="Calibri" pitchFamily="34" charset="-120"/>
                        </a:rPr>
                        <a:t>0.6569</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72236"/>
                    </a:solidFill>
                  </a:tcPr>
                </a:tc>
                <a:tc>
                  <a:txBody>
                    <a:bodyPr/>
                    <a:lstStyle/>
                    <a:p>
                      <a:pPr algn="ctr" indent="0" marL="0">
                        <a:buNone/>
                      </a:pPr>
                      <a:r>
                        <a:rPr lang="en-US" sz="1050" dirty="0">
                          <a:solidFill>
                            <a:srgbClr val="F3F6FA"/>
                          </a:solidFill>
                          <a:latin typeface="Calibri" pitchFamily="34" charset="0"/>
                          <a:ea typeface="Calibri" pitchFamily="34" charset="-122"/>
                          <a:cs typeface="Calibri" pitchFamily="34" charset="-120"/>
                        </a:rPr>
                        <a:t>0.6464</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72236"/>
                    </a:solidFill>
                  </a:tcPr>
                </a:tc>
              </a:tr>
              <a:tr h="384048">
                <a:tc>
                  <a:txBody>
                    <a:bodyPr/>
                    <a:lstStyle/>
                    <a:p>
                      <a:pPr algn="l" indent="0" marL="0">
                        <a:buNone/>
                      </a:pPr>
                      <a:r>
                        <a:rPr lang="en-US" sz="1050" dirty="0">
                          <a:solidFill>
                            <a:srgbClr val="F3F6FA"/>
                          </a:solidFill>
                          <a:latin typeface="Calibri" pitchFamily="34" charset="0"/>
                          <a:ea typeface="Calibri" pitchFamily="34" charset="-122"/>
                          <a:cs typeface="Calibri" pitchFamily="34" charset="-120"/>
                        </a:rPr>
                        <a:t>Hand-written queries (template cascade)</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72236"/>
                    </a:solidFill>
                  </a:tcPr>
                </a:tc>
                <a:tc>
                  <a:txBody>
                    <a:bodyPr/>
                    <a:lstStyle/>
                    <a:p>
                      <a:pPr algn="ctr" indent="0" marL="0">
                        <a:buNone/>
                      </a:pPr>
                      <a:r>
                        <a:rPr lang="en-US" sz="1050" b="1" dirty="0">
                          <a:solidFill>
                            <a:srgbClr val="F2B24F"/>
                          </a:solidFill>
                          <a:latin typeface="Calibri" pitchFamily="34" charset="0"/>
                          <a:ea typeface="Calibri" pitchFamily="34" charset="-122"/>
                          <a:cs typeface="Calibri" pitchFamily="34" charset="-120"/>
                        </a:rPr>
                        <a:t>0.4862</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72236"/>
                    </a:solidFill>
                  </a:tcPr>
                </a:tc>
                <a:tc>
                  <a:txBody>
                    <a:bodyPr/>
                    <a:lstStyle/>
                    <a:p>
                      <a:pPr algn="ctr" indent="0" marL="0">
                        <a:buNone/>
                      </a:pPr>
                      <a:r>
                        <a:rPr lang="en-US" sz="1050" dirty="0">
                          <a:solidFill>
                            <a:srgbClr val="F3F6FA"/>
                          </a:solidFill>
                          <a:latin typeface="Calibri" pitchFamily="34" charset="0"/>
                          <a:ea typeface="Calibri" pitchFamily="34" charset="-122"/>
                          <a:cs typeface="Calibri" pitchFamily="34" charset="-120"/>
                        </a:rPr>
                        <a:t>0.453 – 0.520</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72236"/>
                    </a:solidFill>
                  </a:tcPr>
                </a:tc>
                <a:tc>
                  <a:txBody>
                    <a:bodyPr/>
                    <a:lstStyle/>
                    <a:p>
                      <a:pPr algn="ctr" indent="0" marL="0">
                        <a:buNone/>
                      </a:pPr>
                      <a:r>
                        <a:rPr lang="en-US" sz="1050" dirty="0">
                          <a:solidFill>
                            <a:srgbClr val="F3F6FA"/>
                          </a:solidFill>
                          <a:latin typeface="Calibri" pitchFamily="34" charset="0"/>
                          <a:ea typeface="Calibri" pitchFamily="34" charset="-122"/>
                          <a:cs typeface="Calibri" pitchFamily="34" charset="-120"/>
                        </a:rPr>
                        <a:t>0.4946</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72236"/>
                    </a:solidFill>
                  </a:tcPr>
                </a:tc>
                <a:tc>
                  <a:txBody>
                    <a:bodyPr/>
                    <a:lstStyle/>
                    <a:p>
                      <a:pPr algn="ctr" indent="0" marL="0">
                        <a:buNone/>
                      </a:pPr>
                      <a:r>
                        <a:rPr lang="en-US" sz="1050" dirty="0">
                          <a:solidFill>
                            <a:srgbClr val="F3F6FA"/>
                          </a:solidFill>
                          <a:latin typeface="Calibri" pitchFamily="34" charset="0"/>
                          <a:ea typeface="Calibri" pitchFamily="34" charset="-122"/>
                          <a:cs typeface="Calibri" pitchFamily="34" charset="-120"/>
                        </a:rPr>
                        <a:t>0.4320</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72236"/>
                    </a:solidFill>
                  </a:tcPr>
                </a:tc>
              </a:tr>
              <a:tr h="502920">
                <a:tc>
                  <a:txBody>
                    <a:bodyPr/>
                    <a:lstStyle/>
                    <a:p>
                      <a:pPr algn="l" indent="0" marL="0">
                        <a:buNone/>
                      </a:pPr>
                      <a:r>
                        <a:rPr lang="en-US" sz="1050" dirty="0">
                          <a:solidFill>
                            <a:srgbClr val="F3F6FA"/>
                          </a:solidFill>
                          <a:latin typeface="Calibri" pitchFamily="34" charset="0"/>
                          <a:ea typeface="Calibri" pitchFamily="34" charset="-122"/>
                          <a:cs typeface="Calibri" pitchFamily="34" charset="-120"/>
                        </a:rPr>
                        <a:t>AI writes the query (given schema, seeds, constraints, repair loop)</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72236"/>
                    </a:solidFill>
                  </a:tcPr>
                </a:tc>
                <a:tc>
                  <a:txBody>
                    <a:bodyPr/>
                    <a:lstStyle/>
                    <a:p>
                      <a:pPr algn="ctr" indent="0" marL="0">
                        <a:buNone/>
                      </a:pPr>
                      <a:r>
                        <a:rPr lang="en-US" sz="1050" b="1" dirty="0">
                          <a:solidFill>
                            <a:srgbClr val="F3F6FA"/>
                          </a:solidFill>
                          <a:latin typeface="Calibri" pitchFamily="34" charset="0"/>
                          <a:ea typeface="Calibri" pitchFamily="34" charset="-122"/>
                          <a:cs typeface="Calibri" pitchFamily="34" charset="-120"/>
                        </a:rPr>
                        <a:t>0.4039</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72236"/>
                    </a:solidFill>
                  </a:tcPr>
                </a:tc>
                <a:tc>
                  <a:txBody>
                    <a:bodyPr/>
                    <a:lstStyle/>
                    <a:p>
                      <a:pPr algn="ctr" indent="0" marL="0">
                        <a:buNone/>
                      </a:pPr>
                      <a:r>
                        <a:rPr lang="en-US" sz="1050" dirty="0">
                          <a:solidFill>
                            <a:srgbClr val="F3F6FA"/>
                          </a:solidFill>
                          <a:latin typeface="Calibri" pitchFamily="34" charset="0"/>
                          <a:ea typeface="Calibri" pitchFamily="34" charset="-122"/>
                          <a:cs typeface="Calibri" pitchFamily="34" charset="-120"/>
                        </a:rPr>
                        <a:t>0.372 – 0.435 *</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72236"/>
                    </a:solidFill>
                  </a:tcPr>
                </a:tc>
                <a:tc>
                  <a:txBody>
                    <a:bodyPr/>
                    <a:lstStyle/>
                    <a:p>
                      <a:pPr algn="ctr" indent="0" marL="0">
                        <a:buNone/>
                      </a:pPr>
                      <a:r>
                        <a:rPr lang="en-US" sz="1050" dirty="0">
                          <a:solidFill>
                            <a:srgbClr val="F3F6FA"/>
                          </a:solidFill>
                          <a:latin typeface="Calibri" pitchFamily="34" charset="0"/>
                          <a:ea typeface="Calibri" pitchFamily="34" charset="-122"/>
                          <a:cs typeface="Calibri" pitchFamily="34" charset="-120"/>
                        </a:rPr>
                        <a:t>0.3781</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72236"/>
                    </a:solidFill>
                  </a:tcPr>
                </a:tc>
                <a:tc>
                  <a:txBody>
                    <a:bodyPr/>
                    <a:lstStyle/>
                    <a:p>
                      <a:pPr algn="ctr" indent="0" marL="0">
                        <a:buNone/>
                      </a:pPr>
                      <a:r>
                        <a:rPr lang="en-US" sz="1050" dirty="0">
                          <a:solidFill>
                            <a:srgbClr val="F3F6FA"/>
                          </a:solidFill>
                          <a:latin typeface="Calibri" pitchFamily="34" charset="0"/>
                          <a:ea typeface="Calibri" pitchFamily="34" charset="-122"/>
                          <a:cs typeface="Calibri" pitchFamily="34" charset="-120"/>
                        </a:rPr>
                        <a:t>0.3678</a:t>
                      </a:r>
                      <a:endParaRPr lang="en-US" sz="1050" dirty="0">
                        <a:latin typeface="Calibri" charset="0"/>
                        <a:ea typeface="Calibri" charset="0"/>
                        <a:cs typeface="Calibri" charset="0"/>
                      </a:endParaRPr>
                    </a:p>
                  </a:txBody>
                  <a:tcPr marL="91440" marR="91440" marT="45720" marB="45720" anchor="ctr">
                    <a:lnL w="6350" cap="flat" cmpd="sng" algn="ctr">
                      <a:solidFill>
                        <a:srgbClr val="2B3D57"/>
                      </a:solidFill>
                      <a:prstDash val="solid"/>
                      <a:round/>
                      <a:headEnd type="none" w="med" len="med"/>
                      <a:tailEnd type="none" w="med" len="med"/>
                    </a:lnL>
                    <a:lnR w="6350" cap="flat" cmpd="sng" algn="ctr">
                      <a:solidFill>
                        <a:srgbClr val="2B3D57"/>
                      </a:solidFill>
                      <a:prstDash val="solid"/>
                      <a:round/>
                      <a:headEnd type="none" w="med" len="med"/>
                      <a:tailEnd type="none" w="med" len="med"/>
                    </a:lnR>
                    <a:lnT w="6350" cap="flat" cmpd="sng" algn="ctr">
                      <a:solidFill>
                        <a:srgbClr val="2B3D57"/>
                      </a:solidFill>
                      <a:prstDash val="solid"/>
                      <a:round/>
                      <a:headEnd type="none" w="med" len="med"/>
                      <a:tailEnd type="none" w="med" len="med"/>
                    </a:lnT>
                    <a:lnB w="6350" cap="flat" cmpd="sng" algn="ctr">
                      <a:solidFill>
                        <a:srgbClr val="2B3D57"/>
                      </a:solidFill>
                      <a:prstDash val="solid"/>
                      <a:round/>
                      <a:headEnd type="none" w="med" len="med"/>
                      <a:tailEnd type="none" w="med" len="med"/>
                    </a:lnB>
                    <a:solidFill>
                      <a:srgbClr val="172236"/>
                    </a:solidFill>
                  </a:tcPr>
                </a:tc>
              </a:tr>
            </a:tbl>
          </a:graphicData>
        </a:graphic>
      </p:graphicFrame>
      <p:sp>
        <p:nvSpPr>
          <p:cNvPr id="6" name="Text 2"/>
          <p:cNvSpPr txBox="1"/>
          <p:nvPr/>
        </p:nvSpPr>
        <p:spPr>
          <a:xfrm>
            <a:off x="457200" y="3337560"/>
            <a:ext cx="8229600" cy="1325880"/>
          </a:xfrm>
          <a:prstGeom prst="rect">
            <a:avLst/>
          </a:prstGeom>
          <a:noFill/>
          <a:ln/>
        </p:spPr>
        <p:txBody>
          <a:bodyPr wrap="square" lIns="0" tIns="0" rIns="0" bIns="0" rtlCol="0" anchor="t"/>
          <a:lstStyle/>
          <a:p>
            <a:pPr indent="0" marL="0">
              <a:spcAft>
                <a:spcPts val="400"/>
              </a:spcAft>
              <a:buNone/>
            </a:pPr>
            <a:r>
              <a:rPr lang="en-US" sz="1000" b="1" dirty="0">
                <a:solidFill>
                  <a:srgbClr val="F3F6FA"/>
                </a:solidFill>
                <a:latin typeface="Calibri" pitchFamily="34" charset="0"/>
                <a:ea typeface="Calibri" pitchFamily="34" charset="-122"/>
                <a:cs typeface="Calibri" pitchFamily="34" charset="-120"/>
              </a:rPr>
              <a:t>Contrasts (held-out, qwen38-27B-v2): </a:t>
            </a:r>
            <a:pPr indent="0" marL="0">
              <a:spcAft>
                <a:spcPts val="400"/>
              </a:spcAft>
              <a:buNone/>
            </a:pPr>
            <a:r>
              <a:rPr lang="en-US" sz="1000" dirty="0">
                <a:solidFill>
                  <a:srgbClr val="9AAABE"/>
                </a:solidFill>
                <a:latin typeface="Calibri" pitchFamily="34" charset="0"/>
                <a:ea typeface="Calibri" pitchFamily="34" charset="-122"/>
                <a:cs typeface="Calibri" pitchFamily="34" charset="-120"/>
              </a:rPr>
              <a:t>schema − hand-written +0.168 [+0.134, +0.205] · schema − AI-written +0.251 [+0.203, +0.300] · hand-written − AI-written +0.082 [+0.036, +0.131] (positive under both graders; significant under one). * CI from the first grading pass (0.4031); completed two-family pass reads 0.4039.</a:t>
            </a:r>
            <a:endParaRPr lang="en-US" sz="1000" dirty="0"/>
          </a:p>
          <a:p>
            <a:pPr indent="0" marL="0">
              <a:spcAft>
                <a:spcPts val="400"/>
              </a:spcAft>
              <a:buNone/>
            </a:pPr>
            <a:r>
              <a:rPr lang="en-US" sz="1000" b="1" dirty="0">
                <a:solidFill>
                  <a:srgbClr val="F3F6FA"/>
                </a:solidFill>
                <a:latin typeface="Calibri" pitchFamily="34" charset="0"/>
                <a:ea typeface="Calibri" pitchFamily="34" charset="-122"/>
                <a:cs typeface="Calibri" pitchFamily="34" charset="-120"/>
              </a:rPr>
              <a:t>Cost: </a:t>
            </a:r>
            <a:pPr indent="0" marL="0">
              <a:spcAft>
                <a:spcPts val="400"/>
              </a:spcAft>
              <a:buNone/>
            </a:pPr>
            <a:r>
              <a:rPr lang="en-US" sz="1000" dirty="0">
                <a:solidFill>
                  <a:srgbClr val="9AAABE"/>
                </a:solidFill>
                <a:latin typeface="Calibri" pitchFamily="34" charset="0"/>
                <a:ea typeface="Calibri" pitchFamily="34" charset="-122"/>
                <a:cs typeface="Calibri" pitchFamily="34" charset="-120"/>
              </a:rPr>
              <a:t>hand-written ≈ 4 s for 284 questions; AI-written ≈ 2 days of machine time (five attempts to make the baseline fair, all recorded).</a:t>
            </a:r>
            <a:endParaRPr lang="en-US" sz="1000" dirty="0"/>
          </a:p>
          <a:p>
            <a:pPr indent="0" marL="0">
              <a:spcAft>
                <a:spcPts val="400"/>
              </a:spcAft>
              <a:buNone/>
            </a:pPr>
            <a:r>
              <a:rPr lang="en-US" sz="1000" b="1" dirty="0">
                <a:solidFill>
                  <a:srgbClr val="F3F6FA"/>
                </a:solidFill>
                <a:latin typeface="Calibri" pitchFamily="34" charset="0"/>
                <a:ea typeface="Calibri" pitchFamily="34" charset="-122"/>
                <a:cs typeface="Calibri" pitchFamily="34" charset="-120"/>
              </a:rPr>
              <a:t>Why these are lower than July's 0.99: </a:t>
            </a:r>
            <a:pPr indent="0" marL="0">
              <a:spcAft>
                <a:spcPts val="400"/>
              </a:spcAft>
              <a:buNone/>
            </a:pPr>
            <a:r>
              <a:rPr lang="en-US" sz="1000" dirty="0">
                <a:solidFill>
                  <a:srgbClr val="9AAABE"/>
                </a:solidFill>
                <a:latin typeface="Calibri" pitchFamily="34" charset="0"/>
                <a:ea typeface="Calibri" pitchFamily="34" charset="-122"/>
                <a:cs typeface="Calibri" pitchFamily="34" charset="-120"/>
              </a:rPr>
              <a:t>July's 120 questions were co-authored with the code (bias measured at +0.03 to +0.05, same system, same grader). These are blind and hard on purpose. The finding is the ordering, which survives two grader families.</a:t>
            </a:r>
            <a:endParaRPr lang="en-US" sz="1000" dirty="0"/>
          </a:p>
        </p:txBody>
      </p:sp>
      <p:sp>
        <p:nvSpPr>
          <p:cNvPr id="8" name="Text 3"/>
          <p:cNvSpPr txBox="1"/>
          <p:nvPr/>
        </p:nvSpPr>
        <p:spPr>
          <a:xfrm>
            <a:off x="457200" y="4773168"/>
            <a:ext cx="8229600" cy="256032"/>
          </a:xfrm>
          <a:prstGeom prst="rect">
            <a:avLst/>
          </a:prstGeom>
          <a:noFill/>
          <a:ln/>
        </p:spPr>
        <p:txBody>
          <a:bodyPr wrap="square" lIns="0" tIns="0" rIns="0" bIns="0" rtlCol="0" anchor="ctr"/>
          <a:lstStyle/>
          <a:p>
            <a:pPr indent="0" marL="0">
              <a:buNone/>
            </a:pPr>
            <a:r>
              <a:rPr lang="en-US" sz="850" dirty="0">
                <a:solidFill>
                  <a:srgbClr val="6B7C93"/>
                </a:solidFill>
                <a:latin typeface="Calibri" pitchFamily="34" charset="0"/>
                <a:ea typeface="Calibri" pitchFamily="34" charset="-122"/>
                <a:cs typeface="Calibri" pitchFamily="34" charset="-120"/>
              </a:rPr>
              <a:t>Sources: EXP-2026-09-007 data/judged-two-family-final.json (final) · EXP-2026-09-007/RESULTS.md (CIs) · docs/reports/2026-09-06-overnight-report.md · docs/reports/2026-09-05-full-report.md · C-021 (co-authorship bias)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7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75320" y="256032"/>
            <a:ext cx="384048" cy="329184"/>
          </a:xfrm>
          <a:prstGeom prst="rect">
            <a:avLst/>
          </a:prstGeom>
        </p:spPr>
      </p:pic>
      <p:sp>
        <p:nvSpPr>
          <p:cNvPr id="3" name="Text 0"/>
          <p:cNvSpPr txBox="1"/>
          <p:nvPr/>
        </p:nvSpPr>
        <p:spPr>
          <a:xfrm>
            <a:off x="457200" y="292608"/>
            <a:ext cx="7680960" cy="685800"/>
          </a:xfrm>
          <a:prstGeom prst="rect">
            <a:avLst/>
          </a:prstGeom>
          <a:noFill/>
          <a:ln/>
        </p:spPr>
        <p:txBody>
          <a:bodyPr wrap="square" lIns="0" tIns="0" rIns="0" bIns="0" rtlCol="0" anchor="ctr"/>
          <a:lstStyle/>
          <a:p>
            <a:pPr indent="0" marL="0">
              <a:buNone/>
            </a:pPr>
            <a:r>
              <a:rPr lang="en-US" sz="2200" b="1" dirty="0">
                <a:solidFill>
                  <a:srgbClr val="F3F6FA"/>
                </a:solidFill>
                <a:latin typeface="Calibri" pitchFamily="34" charset="0"/>
                <a:ea typeface="Calibri" pitchFamily="34" charset="-122"/>
                <a:cs typeface="Calibri" pitchFamily="34" charset="-120"/>
              </a:rPr>
              <a:t>Backup · The July study, kept as history</a:t>
            </a:r>
            <a:endParaRPr lang="en-US" sz="2200" dirty="0"/>
          </a:p>
        </p:txBody>
      </p:sp>
      <p:sp>
        <p:nvSpPr>
          <p:cNvPr id="4" name="Text 1"/>
          <p:cNvSpPr txBox="1"/>
          <p:nvPr/>
        </p:nvSpPr>
        <p:spPr>
          <a:xfrm>
            <a:off x="457200" y="932688"/>
            <a:ext cx="7680960" cy="347472"/>
          </a:xfrm>
          <a:prstGeom prst="rect">
            <a:avLst/>
          </a:prstGeom>
          <a:noFill/>
          <a:ln/>
        </p:spPr>
        <p:txBody>
          <a:bodyPr wrap="square" lIns="0" tIns="0" rIns="0" bIns="0" rtlCol="0" anchor="t"/>
          <a:lstStyle/>
          <a:p>
            <a:pPr indent="0" marL="0">
              <a:buNone/>
            </a:pPr>
            <a:r>
              <a:rPr lang="en-US" sz="1300" dirty="0">
                <a:solidFill>
                  <a:srgbClr val="9AAABE"/>
                </a:solidFill>
                <a:latin typeface="Calibri" pitchFamily="34" charset="0"/>
                <a:ea typeface="Calibri" pitchFamily="34" charset="-122"/>
                <a:cs typeface="Calibri" pitchFamily="34" charset="-120"/>
              </a:rPr>
              <a:t>What we showed in August, and why we no longer lead with it.</a:t>
            </a:r>
            <a:endParaRPr lang="en-US" sz="1300" dirty="0"/>
          </a:p>
        </p:txBody>
      </p:sp>
      <p:graphicFrame>
        <p:nvGraphicFramePr>
          <p:cNvPr id="5" name="Chart 0" descr=""/>
          <p:cNvGraphicFramePr/>
          <p:nvPr/>
        </p:nvGraphicFramePr>
        <p:xfrm>
          <a:off x="457200" y="1371600"/>
          <a:ext cx="4937760" cy="320040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5577840" y="1371600"/>
            <a:ext cx="3108960" cy="3200400"/>
          </a:xfrm>
          <a:prstGeom prst="rect">
            <a:avLst/>
          </a:prstGeom>
          <a:noFill/>
          <a:ln/>
        </p:spPr>
        <p:txBody>
          <a:bodyPr wrap="square" lIns="0" tIns="0" rIns="0" bIns="0" rtlCol="0" anchor="t"/>
          <a:lstStyle/>
          <a:p>
            <a:pPr indent="0" marL="0">
              <a:spcAft>
                <a:spcPts val="200"/>
              </a:spcAft>
              <a:buNone/>
            </a:pPr>
            <a:r>
              <a:rPr lang="en-US" sz="950" b="1" dirty="0">
                <a:solidFill>
                  <a:srgbClr val="3FBFC5"/>
                </a:solidFill>
                <a:latin typeface="Calibri" pitchFamily="34" charset="0"/>
                <a:ea typeface="Calibri" pitchFamily="34" charset="-122"/>
                <a:cs typeface="Calibri" pitchFamily="34" charset="-120"/>
              </a:rPr>
              <a:t>What still stands</a:t>
            </a:r>
            <a:endParaRPr lang="en-US" sz="950" dirty="0"/>
          </a:p>
          <a:p>
            <a:pPr indent="0" marL="0">
              <a:spcAft>
                <a:spcPts val="200"/>
              </a:spcAft>
              <a:buNone/>
            </a:pPr>
            <a:r>
              <a:rPr lang="en-US" sz="950" dirty="0">
                <a:solidFill>
                  <a:srgbClr val="F3F6FA"/>
                </a:solidFill>
                <a:latin typeface="Calibri" pitchFamily="34" charset="0"/>
                <a:ea typeface="Calibri" pitchFamily="34" charset="-122"/>
                <a:cs typeface="Calibri" pitchFamily="34" charset="-120"/>
              </a:rPr>
              <a:t>• Letting the AI plan is the biggest single loss (−0.12 to −0.14).</a:t>
            </a:r>
            <a:endParaRPr lang="en-US" sz="950" dirty="0"/>
          </a:p>
          <a:p>
            <a:pPr indent="0" marL="0">
              <a:spcAft>
                <a:spcPts val="200"/>
              </a:spcAft>
              <a:buNone/>
            </a:pPr>
            <a:r>
              <a:rPr lang="en-US" sz="950" dirty="0">
                <a:solidFill>
                  <a:srgbClr val="F3F6FA"/>
                </a:solidFill>
                <a:latin typeface="Calibri" pitchFamily="34" charset="0"/>
                <a:ea typeface="Calibri" pitchFamily="34" charset="-122"/>
                <a:cs typeface="Calibri" pitchFamily="34" charset="-120"/>
              </a:rPr>
              <a:t>• Binding the AI narrator to verified claims costs 0.0015 — readable prose is free.</a:t>
            </a:r>
            <a:endParaRPr lang="en-US" sz="950" dirty="0"/>
          </a:p>
          <a:p>
            <a:pPr indent="0" marL="0">
              <a:spcAft>
                <a:spcPts val="200"/>
              </a:spcAft>
              <a:buNone/>
            </a:pPr>
            <a:r>
              <a:rPr lang="en-US" sz="950" dirty="0">
                <a:solidFill>
                  <a:srgbClr val="F3F6FA"/>
                </a:solidFill>
                <a:latin typeface="Calibri" pitchFamily="34" charset="0"/>
                <a:ea typeface="Calibri" pitchFamily="34" charset="-122"/>
                <a:cs typeface="Calibri" pitchFamily="34" charset="-120"/>
              </a:rPr>
              <a:t>• Only 2 of 36 failures were the AI making things up; 26 were planning or retrieval.</a:t>
            </a:r>
            <a:endParaRPr lang="en-US" sz="950" dirty="0"/>
          </a:p>
          <a:p>
            <a:pPr indent="0" marL="0">
              <a:spcAft>
                <a:spcPts val="200"/>
              </a:spcAft>
              <a:buNone/>
            </a:pPr>
            <a:r>
              <a:rPr lang="en-US" sz="500" dirty="0">
                <a:solidFill>
                  <a:srgbClr val="000000"/>
                </a:solidFill>
                <a:latin typeface="Calibri" pitchFamily="34" charset="0"/>
                <a:ea typeface="Calibri" pitchFamily="34" charset="-122"/>
                <a:cs typeface="Calibri" pitchFamily="34" charset="-120"/>
              </a:rPr>
              <a:t> </a:t>
            </a:r>
            <a:endParaRPr lang="en-US" sz="950" dirty="0"/>
          </a:p>
          <a:p>
            <a:pPr indent="0" marL="0">
              <a:spcAft>
                <a:spcPts val="200"/>
              </a:spcAft>
              <a:buNone/>
            </a:pPr>
            <a:r>
              <a:rPr lang="en-US" sz="950" b="1" dirty="0">
                <a:solidFill>
                  <a:srgbClr val="F2B24F"/>
                </a:solidFill>
                <a:latin typeface="Calibri" pitchFamily="34" charset="0"/>
                <a:ea typeface="Calibri" pitchFamily="34" charset="-122"/>
                <a:cs typeface="Calibri" pitchFamily="34" charset="-120"/>
              </a:rPr>
              <a:t>What does not stand</a:t>
            </a:r>
            <a:endParaRPr lang="en-US" sz="950" dirty="0"/>
          </a:p>
          <a:p>
            <a:pPr indent="0" marL="0">
              <a:spcAft>
                <a:spcPts val="200"/>
              </a:spcAft>
              <a:buNone/>
            </a:pPr>
            <a:r>
              <a:rPr lang="en-US" sz="950" dirty="0">
                <a:solidFill>
                  <a:srgbClr val="F3F6FA"/>
                </a:solidFill>
                <a:latin typeface="Calibri" pitchFamily="34" charset="0"/>
                <a:ea typeface="Calibri" pitchFamily="34" charset="-122"/>
                <a:cs typeface="Calibri" pitchFamily="34" charset="-120"/>
              </a:rPr>
              <a:t>• The 0.99 level: on 30 blind questions the same system scored 0.69. The questions were co-authored with the code.</a:t>
            </a:r>
            <a:endParaRPr lang="en-US" sz="950" dirty="0"/>
          </a:p>
          <a:p>
            <a:pPr indent="0" marL="0">
              <a:spcAft>
                <a:spcPts val="200"/>
              </a:spcAft>
              <a:buNone/>
            </a:pPr>
            <a:r>
              <a:rPr lang="en-US" sz="950" dirty="0">
                <a:solidFill>
                  <a:srgbClr val="F3F6FA"/>
                </a:solidFill>
                <a:latin typeface="Calibri" pitchFamily="34" charset="0"/>
                <a:ea typeface="Calibri" pitchFamily="34" charset="-122"/>
                <a:cs typeface="Calibri" pitchFamily="34" charset="-120"/>
              </a:rPr>
              <a:t>• 'The templates hold the accuracy' (C-003): refuted. A schema-read path matches them on MITRE and beats them by roughly 0.5 on ReliaQuest's schema.</a:t>
            </a:r>
            <a:endParaRPr lang="en-US" sz="950" dirty="0"/>
          </a:p>
          <a:p>
            <a:pPr indent="0" marL="0">
              <a:spcAft>
                <a:spcPts val="200"/>
              </a:spcAft>
              <a:buNone/>
            </a:pPr>
            <a:r>
              <a:rPr lang="en-US" sz="950" dirty="0">
                <a:solidFill>
                  <a:srgbClr val="F3F6FA"/>
                </a:solidFill>
                <a:latin typeface="Calibri" pitchFamily="34" charset="0"/>
                <a:ea typeface="Calibri" pitchFamily="34" charset="-122"/>
                <a:cs typeface="Calibri" pitchFamily="34" charset="-120"/>
              </a:rPr>
              <a:t>• The model that ran the AI-planned arms no longer exists behind that endpoint; the grader was an independent Sonnet 5 panel.</a:t>
            </a:r>
            <a:endParaRPr lang="en-US" sz="950" dirty="0"/>
          </a:p>
        </p:txBody>
      </p:sp>
      <p:sp>
        <p:nvSpPr>
          <p:cNvPr id="8" name="Text 3"/>
          <p:cNvSpPr txBox="1"/>
          <p:nvPr/>
        </p:nvSpPr>
        <p:spPr>
          <a:xfrm>
            <a:off x="457200" y="4773168"/>
            <a:ext cx="8229600" cy="256032"/>
          </a:xfrm>
          <a:prstGeom prst="rect">
            <a:avLst/>
          </a:prstGeom>
          <a:noFill/>
          <a:ln/>
        </p:spPr>
        <p:txBody>
          <a:bodyPr wrap="square" lIns="0" tIns="0" rIns="0" bIns="0" rtlCol="0" anchor="ctr"/>
          <a:lstStyle/>
          <a:p>
            <a:pPr indent="0" marL="0">
              <a:buNone/>
            </a:pPr>
            <a:r>
              <a:rPr lang="en-US" sz="850" dirty="0">
                <a:solidFill>
                  <a:srgbClr val="6B7C93"/>
                </a:solidFill>
                <a:latin typeface="Calibri" pitchFamily="34" charset="0"/>
                <a:ea typeface="Calibri" pitchFamily="34" charset="-122"/>
                <a:cs typeface="Calibri" pitchFamily="34" charset="-120"/>
              </a:rPr>
              <a:t>Sources: docs/evaluation/2026-07-26/README.md · docs/research/CLAIMS.md (C-001, C-002, C-003, C-005, C-013, C-016) · README.md 'The July arm study, kept as history'</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7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75320" y="256032"/>
            <a:ext cx="384048" cy="329184"/>
          </a:xfrm>
          <a:prstGeom prst="rect">
            <a:avLst/>
          </a:prstGeom>
        </p:spPr>
      </p:pic>
      <p:sp>
        <p:nvSpPr>
          <p:cNvPr id="3" name="Text 0"/>
          <p:cNvSpPr txBox="1"/>
          <p:nvPr/>
        </p:nvSpPr>
        <p:spPr>
          <a:xfrm>
            <a:off x="457200" y="292608"/>
            <a:ext cx="7680960" cy="685800"/>
          </a:xfrm>
          <a:prstGeom prst="rect">
            <a:avLst/>
          </a:prstGeom>
          <a:noFill/>
          <a:ln/>
        </p:spPr>
        <p:txBody>
          <a:bodyPr wrap="square" lIns="0" tIns="0" rIns="0" bIns="0" rtlCol="0" anchor="ctr"/>
          <a:lstStyle/>
          <a:p>
            <a:pPr indent="0" marL="0">
              <a:buNone/>
            </a:pPr>
            <a:r>
              <a:rPr lang="en-US" sz="2200" b="1" dirty="0">
                <a:solidFill>
                  <a:srgbClr val="F3F6FA"/>
                </a:solidFill>
                <a:latin typeface="Calibri" pitchFamily="34" charset="0"/>
                <a:ea typeface="Calibri" pitchFamily="34" charset="-122"/>
                <a:cs typeface="Calibri" pitchFamily="34" charset="-120"/>
              </a:rPr>
              <a:t>Backup · Federate vs. merge, and the safety audit</a:t>
            </a:r>
            <a:endParaRPr lang="en-US" sz="2200" dirty="0"/>
          </a:p>
        </p:txBody>
      </p:sp>
      <p:sp>
        <p:nvSpPr>
          <p:cNvPr id="4" name="Shape 1"/>
          <p:cNvSpPr/>
          <p:nvPr/>
        </p:nvSpPr>
        <p:spPr>
          <a:xfrm>
            <a:off x="457200" y="1097280"/>
            <a:ext cx="4023360" cy="3520440"/>
          </a:xfrm>
          <a:prstGeom prst="roundRect">
            <a:avLst>
              <a:gd name="adj" fmla="val 2078"/>
            </a:avLst>
          </a:prstGeom>
          <a:solidFill>
            <a:srgbClr val="172236"/>
          </a:solidFill>
          <a:ln w="9525">
            <a:solidFill>
              <a:srgbClr val="2B3D57"/>
            </a:solidFill>
            <a:prstDash val="solid"/>
          </a:ln>
        </p:spPr>
      </p:sp>
      <p:sp>
        <p:nvSpPr>
          <p:cNvPr id="5" name="Text 2"/>
          <p:cNvSpPr txBox="1"/>
          <p:nvPr/>
        </p:nvSpPr>
        <p:spPr>
          <a:xfrm>
            <a:off x="640080" y="1188720"/>
            <a:ext cx="3657600" cy="365760"/>
          </a:xfrm>
          <a:prstGeom prst="rect">
            <a:avLst/>
          </a:prstGeom>
          <a:noFill/>
          <a:ln/>
        </p:spPr>
        <p:txBody>
          <a:bodyPr wrap="square" lIns="0" tIns="0" rIns="0" bIns="0" rtlCol="0" anchor="ctr"/>
          <a:lstStyle/>
          <a:p>
            <a:pPr indent="0" marL="0">
              <a:buNone/>
            </a:pPr>
            <a:r>
              <a:rPr lang="en-US" sz="1250" b="1" dirty="0">
                <a:solidFill>
                  <a:srgbClr val="F3F6FA"/>
                </a:solidFill>
                <a:latin typeface="Calibri" pitchFamily="34" charset="0"/>
                <a:ea typeface="Calibri" pitchFamily="34" charset="-122"/>
                <a:cs typeface="Calibri" pitchFamily="34" charset="-120"/>
              </a:rPr>
              <a:t>Federating vs. merging into one warehouse</a:t>
            </a:r>
            <a:endParaRPr lang="en-US" sz="1250" dirty="0"/>
          </a:p>
        </p:txBody>
      </p:sp>
      <p:sp>
        <p:nvSpPr>
          <p:cNvPr id="6" name="Text 3"/>
          <p:cNvSpPr txBox="1"/>
          <p:nvPr/>
        </p:nvSpPr>
        <p:spPr>
          <a:xfrm>
            <a:off x="640080" y="1572768"/>
            <a:ext cx="3657600" cy="2971800"/>
          </a:xfrm>
          <a:prstGeom prst="rect">
            <a:avLst/>
          </a:prstGeom>
          <a:noFill/>
          <a:ln/>
        </p:spPr>
        <p:txBody>
          <a:bodyPr wrap="square" lIns="0" tIns="0" rIns="0" bIns="0" rtlCol="0" anchor="t"/>
          <a:lstStyle/>
          <a:p>
            <a:pPr indent="0" marL="0">
              <a:buNone/>
            </a:pPr>
            <a:r>
              <a:rPr lang="en-US" sz="950" b="1" dirty="0">
                <a:solidFill>
                  <a:srgbClr val="F3F6FA"/>
                </a:solidFill>
                <a:latin typeface="Calibri" pitchFamily="34" charset="0"/>
                <a:ea typeface="Calibri" pitchFamily="34" charset="-122"/>
                <a:cs typeface="Calibri" pitchFamily="34" charset="-120"/>
              </a:rPr>
              <a:t>Accuracy: no demonstrable difference. </a:t>
            </a:r>
            <a:pPr indent="0" marL="0">
              <a:buNone/>
            </a:pPr>
            <a:r>
              <a:rPr lang="en-US" sz="950" dirty="0">
                <a:solidFill>
                  <a:srgbClr val="9AAABE"/>
                </a:solidFill>
                <a:latin typeface="Calibri" pitchFamily="34" charset="0"/>
                <a:ea typeface="Calibri" pitchFamily="34" charset="-122"/>
                <a:cs typeface="Calibri" pitchFamily="34" charset="-120"/>
              </a:rPr>
              <a:t>Six readings across two blind banks and three graders — federation at or above merging in all six (0.00 to +0.06), demonstrably ahead in none (±0.06 question-sampling floor at n=30). We do not claim federation is more accurate.</a:t>
            </a:r>
            <a:endParaRPr lang="en-US" sz="950" dirty="0"/>
          </a:p>
          <a:p>
            <a:pPr indent="0" marL="0">
              <a:buNone/>
            </a:pPr>
            <a:r>
              <a:rPr lang="en-US" sz="500" dirty="0">
                <a:solidFill>
                  <a:srgbClr val="000000"/>
                </a:solidFill>
                <a:latin typeface="Calibri" pitchFamily="34" charset="0"/>
                <a:ea typeface="Calibri" pitchFamily="34" charset="-122"/>
                <a:cs typeface="Calibri" pitchFamily="34" charset="-120"/>
              </a:rPr>
              <a:t> </a:t>
            </a:r>
            <a:endParaRPr lang="en-US" sz="950" dirty="0"/>
          </a:p>
          <a:p>
            <a:pPr indent="0" marL="0">
              <a:buNone/>
            </a:pPr>
            <a:r>
              <a:rPr lang="en-US" sz="950" b="1" dirty="0">
                <a:solidFill>
                  <a:srgbClr val="F3F6FA"/>
                </a:solidFill>
                <a:latin typeface="Calibri" pitchFamily="34" charset="0"/>
                <a:ea typeface="Calibri" pitchFamily="34" charset="-122"/>
                <a:cs typeface="Calibri" pitchFamily="34" charset="-120"/>
              </a:rPr>
              <a:t>Structure: the difference is real. </a:t>
            </a:r>
            <a:pPr indent="0" marL="0">
              <a:buNone/>
            </a:pPr>
            <a:r>
              <a:rPr lang="en-US" sz="950" dirty="0">
                <a:solidFill>
                  <a:srgbClr val="9AAABE"/>
                </a:solidFill>
                <a:latin typeface="Calibri" pitchFamily="34" charset="0"/>
                <a:ea typeface="Calibri" pitchFamily="34" charset="-122"/>
                <a:cs typeface="Calibri" pitchFamily="34" charset="-120"/>
              </a:rPr>
              <a:t>Merging ATT&amp;CK and CAPEC into one store required adding a property to 1,083 of 9,138 nodes (894 CAPEC nodes given an identifier the upstream record does not carry; 189 ATT&amp;CK entries re-prefixed). The store is no longer what MITRE published, the edit must be re-applied on every release, and a consumer cannot tell the publisher's field from ours. Federation edited 0. The customer identity graph loaded unmodified.</a:t>
            </a:r>
            <a:endParaRPr lang="en-US" sz="950" dirty="0"/>
          </a:p>
          <a:p>
            <a:pPr indent="0" marL="0">
              <a:buNone/>
            </a:pPr>
            <a:r>
              <a:rPr lang="en-US" sz="500" dirty="0">
                <a:solidFill>
                  <a:srgbClr val="000000"/>
                </a:solidFill>
                <a:latin typeface="Calibri" pitchFamily="34" charset="0"/>
                <a:ea typeface="Calibri" pitchFamily="34" charset="-122"/>
                <a:cs typeface="Calibri" pitchFamily="34" charset="-120"/>
              </a:rPr>
              <a:t> </a:t>
            </a:r>
            <a:endParaRPr lang="en-US" sz="950" dirty="0"/>
          </a:p>
          <a:p>
            <a:pPr indent="0" marL="0">
              <a:buNone/>
            </a:pPr>
            <a:r>
              <a:rPr lang="en-US" sz="950" b="1" dirty="0">
                <a:solidFill>
                  <a:srgbClr val="F2B24F"/>
                </a:solidFill>
                <a:latin typeface="Calibri" pitchFamily="34" charset="0"/>
                <a:ea typeface="Calibri" pitchFamily="34" charset="-122"/>
                <a:cs typeface="Calibri" pitchFamily="34" charset="-120"/>
              </a:rPr>
              <a:t>Why it matters for ReliaQuest: </a:t>
            </a:r>
            <a:pPr indent="0" marL="0">
              <a:buNone/>
            </a:pPr>
            <a:r>
              <a:rPr lang="en-US" sz="950" dirty="0">
                <a:solidFill>
                  <a:srgbClr val="9AAABE"/>
                </a:solidFill>
                <a:latin typeface="Calibri" pitchFamily="34" charset="0"/>
                <a:ea typeface="Calibri" pitchFamily="34" charset="-122"/>
                <a:cs typeface="Calibri" pitchFamily="34" charset="-120"/>
              </a:rPr>
              <a:t>customer telemetry and licensed feeds have different owners, retention rules and access controls. They cannot always be copied. They can always be asked.</a:t>
            </a:r>
            <a:endParaRPr lang="en-US" sz="950" dirty="0"/>
          </a:p>
        </p:txBody>
      </p:sp>
      <p:sp>
        <p:nvSpPr>
          <p:cNvPr id="7" name="Shape 4"/>
          <p:cNvSpPr/>
          <p:nvPr/>
        </p:nvSpPr>
        <p:spPr>
          <a:xfrm>
            <a:off x="4663440" y="1097280"/>
            <a:ext cx="4023360" cy="3520440"/>
          </a:xfrm>
          <a:prstGeom prst="roundRect">
            <a:avLst>
              <a:gd name="adj" fmla="val 2078"/>
            </a:avLst>
          </a:prstGeom>
          <a:solidFill>
            <a:srgbClr val="1D2B42"/>
          </a:solidFill>
          <a:ln w="9525">
            <a:solidFill>
              <a:srgbClr val="2B3D57"/>
            </a:solidFill>
            <a:prstDash val="solid"/>
          </a:ln>
        </p:spPr>
      </p:sp>
      <p:sp>
        <p:nvSpPr>
          <p:cNvPr id="8" name="Text 5"/>
          <p:cNvSpPr txBox="1"/>
          <p:nvPr/>
        </p:nvSpPr>
        <p:spPr>
          <a:xfrm>
            <a:off x="4846320" y="1188720"/>
            <a:ext cx="3657600" cy="365760"/>
          </a:xfrm>
          <a:prstGeom prst="rect">
            <a:avLst/>
          </a:prstGeom>
          <a:noFill/>
          <a:ln/>
        </p:spPr>
        <p:txBody>
          <a:bodyPr wrap="square" lIns="0" tIns="0" rIns="0" bIns="0" rtlCol="0" anchor="ctr"/>
          <a:lstStyle/>
          <a:p>
            <a:pPr indent="0" marL="0">
              <a:buNone/>
            </a:pPr>
            <a:r>
              <a:rPr lang="en-US" sz="1250" b="1" dirty="0">
                <a:solidFill>
                  <a:srgbClr val="F3F6FA"/>
                </a:solidFill>
                <a:latin typeface="Calibri" pitchFamily="34" charset="0"/>
                <a:ea typeface="Calibri" pitchFamily="34" charset="-122"/>
                <a:cs typeface="Calibri" pitchFamily="34" charset="-120"/>
              </a:rPr>
              <a:t>Query safety audit</a:t>
            </a:r>
            <a:endParaRPr lang="en-US" sz="1250" dirty="0"/>
          </a:p>
        </p:txBody>
      </p:sp>
      <p:sp>
        <p:nvSpPr>
          <p:cNvPr id="9" name="Text 6"/>
          <p:cNvSpPr txBox="1"/>
          <p:nvPr/>
        </p:nvSpPr>
        <p:spPr>
          <a:xfrm>
            <a:off x="4846320" y="1554480"/>
            <a:ext cx="1737360" cy="566928"/>
          </a:xfrm>
          <a:prstGeom prst="rect">
            <a:avLst/>
          </a:prstGeom>
          <a:noFill/>
          <a:ln/>
        </p:spPr>
        <p:txBody>
          <a:bodyPr wrap="square" lIns="0" tIns="0" rIns="0" bIns="0" rtlCol="0" anchor="b"/>
          <a:lstStyle/>
          <a:p>
            <a:pPr indent="0" marL="0">
              <a:buNone/>
            </a:pPr>
            <a:r>
              <a:rPr lang="en-US" sz="2600" b="1" dirty="0">
                <a:solidFill>
                  <a:srgbClr val="4CC38A"/>
                </a:solidFill>
                <a:latin typeface="Calibri" pitchFamily="34" charset="0"/>
                <a:ea typeface="Calibri" pitchFamily="34" charset="-122"/>
                <a:cs typeface="Calibri" pitchFamily="34" charset="-120"/>
              </a:rPr>
              <a:t>240 / 240</a:t>
            </a:r>
            <a:endParaRPr lang="en-US" sz="2600" dirty="0"/>
          </a:p>
        </p:txBody>
      </p:sp>
      <p:sp>
        <p:nvSpPr>
          <p:cNvPr id="10" name="Text 7"/>
          <p:cNvSpPr txBox="1"/>
          <p:nvPr/>
        </p:nvSpPr>
        <p:spPr>
          <a:xfrm>
            <a:off x="4846320" y="2139696"/>
            <a:ext cx="1737360" cy="457200"/>
          </a:xfrm>
          <a:prstGeom prst="rect">
            <a:avLst/>
          </a:prstGeom>
          <a:noFill/>
          <a:ln/>
        </p:spPr>
        <p:txBody>
          <a:bodyPr wrap="square" lIns="0" tIns="0" rIns="0" bIns="0" rtlCol="0" anchor="t"/>
          <a:lstStyle/>
          <a:p>
            <a:pPr indent="0" marL="0">
              <a:buNone/>
            </a:pPr>
            <a:r>
              <a:rPr lang="en-US" sz="1100" dirty="0">
                <a:solidFill>
                  <a:srgbClr val="9AAABE"/>
                </a:solidFill>
                <a:latin typeface="Calibri" pitchFamily="34" charset="0"/>
                <a:ea typeface="Calibri" pitchFamily="34" charset="-122"/>
                <a:cs typeface="Calibri" pitchFamily="34" charset="-120"/>
              </a:rPr>
              <a:t>adversarial probes blocked, 0 leaks</a:t>
            </a:r>
            <a:endParaRPr lang="en-US" sz="1100" dirty="0"/>
          </a:p>
        </p:txBody>
      </p:sp>
      <p:sp>
        <p:nvSpPr>
          <p:cNvPr id="11" name="Text 8"/>
          <p:cNvSpPr txBox="1"/>
          <p:nvPr/>
        </p:nvSpPr>
        <p:spPr>
          <a:xfrm>
            <a:off x="6675120" y="1554480"/>
            <a:ext cx="1828800" cy="566928"/>
          </a:xfrm>
          <a:prstGeom prst="rect">
            <a:avLst/>
          </a:prstGeom>
          <a:noFill/>
          <a:ln/>
        </p:spPr>
        <p:txBody>
          <a:bodyPr wrap="square" lIns="0" tIns="0" rIns="0" bIns="0" rtlCol="0" anchor="b"/>
          <a:lstStyle/>
          <a:p>
            <a:pPr indent="0" marL="0">
              <a:buNone/>
            </a:pPr>
            <a:r>
              <a:rPr lang="en-US" sz="2600" b="1" dirty="0">
                <a:solidFill>
                  <a:srgbClr val="F2B24F"/>
                </a:solidFill>
                <a:latin typeface="Calibri" pitchFamily="34" charset="0"/>
                <a:ea typeface="Calibri" pitchFamily="34" charset="-122"/>
                <a:cs typeface="Calibri" pitchFamily="34" charset="-120"/>
              </a:rPr>
              <a:t>15</a:t>
            </a:r>
            <a:endParaRPr lang="en-US" sz="2600" dirty="0"/>
          </a:p>
        </p:txBody>
      </p:sp>
      <p:sp>
        <p:nvSpPr>
          <p:cNvPr id="12" name="Text 9"/>
          <p:cNvSpPr txBox="1"/>
          <p:nvPr/>
        </p:nvSpPr>
        <p:spPr>
          <a:xfrm>
            <a:off x="6675120" y="2139696"/>
            <a:ext cx="1828800" cy="457200"/>
          </a:xfrm>
          <a:prstGeom prst="rect">
            <a:avLst/>
          </a:prstGeom>
          <a:noFill/>
          <a:ln/>
        </p:spPr>
        <p:txBody>
          <a:bodyPr wrap="square" lIns="0" tIns="0" rIns="0" bIns="0" rtlCol="0" anchor="t"/>
          <a:lstStyle/>
          <a:p>
            <a:pPr indent="0" marL="0">
              <a:buNone/>
            </a:pPr>
            <a:r>
              <a:rPr lang="en-US" sz="1100" dirty="0">
                <a:solidFill>
                  <a:srgbClr val="9AAABE"/>
                </a:solidFill>
                <a:latin typeface="Calibri" pitchFamily="34" charset="0"/>
                <a:ea typeface="Calibri" pitchFamily="34" charset="-122"/>
                <a:cs typeface="Calibri" pitchFamily="34" charset="-120"/>
              </a:rPr>
              <a:t>real bypasses found by us — and closed</a:t>
            </a:r>
            <a:endParaRPr lang="en-US" sz="1100" dirty="0"/>
          </a:p>
        </p:txBody>
      </p:sp>
      <p:sp>
        <p:nvSpPr>
          <p:cNvPr id="13" name="Text 10"/>
          <p:cNvSpPr txBox="1"/>
          <p:nvPr/>
        </p:nvSpPr>
        <p:spPr>
          <a:xfrm>
            <a:off x="4846320" y="2697480"/>
            <a:ext cx="3657600" cy="1874520"/>
          </a:xfrm>
          <a:prstGeom prst="rect">
            <a:avLst/>
          </a:prstGeom>
          <a:noFill/>
          <a:ln/>
        </p:spPr>
        <p:txBody>
          <a:bodyPr wrap="square" lIns="0" tIns="0" rIns="0" bIns="0" rtlCol="0" anchor="t"/>
          <a:lstStyle/>
          <a:p>
            <a:pPr indent="0" marL="0">
              <a:buNone/>
            </a:pPr>
            <a:r>
              <a:rPr lang="en-US" sz="950" dirty="0">
                <a:solidFill>
                  <a:srgbClr val="9AAABE"/>
                </a:solidFill>
                <a:latin typeface="Calibri" pitchFamily="34" charset="0"/>
                <a:ea typeface="Calibri" pitchFamily="34" charset="-122"/>
                <a:cs typeface="Calibri" pitchFamily="34" charset="-120"/>
              </a:rPr>
              <a:t>The original 17 hand-written probes all passed — weak evidence of a strong property. Generating 240 by crossing rejection categories with syntactic mutations found 15 genuine gaps: TinkerPop's mutating mergeV/mergeE steps that no spec sheet named (8), a server-side Groovy closure (1), un-checked repeat() depth (2), a literal 4-hop chain that evaded the depth cap (1), a USE-database switch (1) and two label-smuggling variants. All closed; block rate now 1.000.</a:t>
            </a:r>
            <a:endParaRPr lang="en-US" sz="950" dirty="0"/>
          </a:p>
          <a:p>
            <a:pPr indent="0" marL="0">
              <a:buNone/>
            </a:pPr>
            <a:r>
              <a:rPr lang="en-US" sz="500" dirty="0">
                <a:solidFill>
                  <a:srgbClr val="000000"/>
                </a:solidFill>
                <a:latin typeface="Calibri" pitchFamily="34" charset="0"/>
                <a:ea typeface="Calibri" pitchFamily="34" charset="-122"/>
                <a:cs typeface="Calibri" pitchFamily="34" charset="-120"/>
              </a:rPr>
              <a:t> </a:t>
            </a:r>
            <a:endParaRPr lang="en-US" sz="950" dirty="0"/>
          </a:p>
          <a:p>
            <a:pPr indent="0" marL="0">
              <a:buNone/>
            </a:pPr>
            <a:r>
              <a:rPr lang="en-US" sz="950" b="1" dirty="0">
                <a:solidFill>
                  <a:srgbClr val="F3F6FA"/>
                </a:solidFill>
                <a:latin typeface="Calibri" pitchFamily="34" charset="0"/>
                <a:ea typeface="Calibri" pitchFamily="34" charset="-122"/>
                <a:cs typeface="Calibri" pitchFamily="34" charset="-120"/>
              </a:rPr>
              <a:t>Cross-tenant isolation: </a:t>
            </a:r>
            <a:pPr indent="0" marL="0">
              <a:buNone/>
            </a:pPr>
            <a:r>
              <a:rPr lang="en-US" sz="950" dirty="0">
                <a:solidFill>
                  <a:srgbClr val="9AAABE"/>
                </a:solidFill>
                <a:latin typeface="Calibri" pitchFamily="34" charset="0"/>
                <a:ea typeface="Calibri" pitchFamily="34" charset="-122"/>
                <a:cs typeface="Calibri" pitchFamily="34" charset="-120"/>
              </a:rPr>
              <a:t>14 probes across three live sources; the shipped routing rule leaks 5 records on 1 probe vs. 568 on 3 for the naive rule (−99.1%). One residual leak is recorded, not hidden.</a:t>
            </a:r>
            <a:endParaRPr lang="en-US" sz="950" dirty="0"/>
          </a:p>
        </p:txBody>
      </p:sp>
      <p:sp>
        <p:nvSpPr>
          <p:cNvPr id="15" name="Text 11"/>
          <p:cNvSpPr txBox="1"/>
          <p:nvPr/>
        </p:nvSpPr>
        <p:spPr>
          <a:xfrm>
            <a:off x="457200" y="4773168"/>
            <a:ext cx="8229600" cy="256032"/>
          </a:xfrm>
          <a:prstGeom prst="rect">
            <a:avLst/>
          </a:prstGeom>
          <a:noFill/>
          <a:ln/>
        </p:spPr>
        <p:txBody>
          <a:bodyPr wrap="square" lIns="0" tIns="0" rIns="0" bIns="0" rtlCol="0" anchor="ctr"/>
          <a:lstStyle/>
          <a:p>
            <a:pPr indent="0" marL="0">
              <a:buNone/>
            </a:pPr>
            <a:r>
              <a:rPr lang="en-US" sz="850" dirty="0">
                <a:solidFill>
                  <a:srgbClr val="6B7C93"/>
                </a:solidFill>
                <a:latin typeface="Calibri" pitchFamily="34" charset="0"/>
                <a:ea typeface="Calibri" pitchFamily="34" charset="-122"/>
                <a:cs typeface="Calibri" pitchFamily="34" charset="-120"/>
              </a:rPr>
              <a:t>Sources: EXP-2026-08-009 + A-1 · EXP-2026-08-017 · EXP-2026-09-006 (C-022 across grader families) · EXP-2026-08-016 (240 probes) · CLAIMS.md C-008, C-022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7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75320" y="256032"/>
            <a:ext cx="384048" cy="329184"/>
          </a:xfrm>
          <a:prstGeom prst="rect">
            <a:avLst/>
          </a:prstGeom>
        </p:spPr>
      </p:pic>
      <p:sp>
        <p:nvSpPr>
          <p:cNvPr id="3" name="Text 0"/>
          <p:cNvSpPr txBox="1"/>
          <p:nvPr/>
        </p:nvSpPr>
        <p:spPr>
          <a:xfrm>
            <a:off x="457200" y="292608"/>
            <a:ext cx="7680960" cy="685800"/>
          </a:xfrm>
          <a:prstGeom prst="rect">
            <a:avLst/>
          </a:prstGeom>
          <a:noFill/>
          <a:ln/>
        </p:spPr>
        <p:txBody>
          <a:bodyPr wrap="square" lIns="0" tIns="0" rIns="0" bIns="0" rtlCol="0" anchor="ctr"/>
          <a:lstStyle/>
          <a:p>
            <a:pPr indent="0" marL="0">
              <a:buNone/>
            </a:pPr>
            <a:r>
              <a:rPr lang="en-US" sz="2200" b="1" dirty="0">
                <a:solidFill>
                  <a:srgbClr val="F3F6FA"/>
                </a:solidFill>
                <a:latin typeface="Calibri" pitchFamily="34" charset="0"/>
                <a:ea typeface="Calibri" pitchFamily="34" charset="-122"/>
                <a:cs typeface="Calibri" pitchFamily="34" charset="-120"/>
              </a:rPr>
              <a:t>Backup · What a spec sheet (source card) looks like</a:t>
            </a:r>
            <a:endParaRPr lang="en-US" sz="2200" dirty="0"/>
          </a:p>
        </p:txBody>
      </p:sp>
      <p:sp>
        <p:nvSpPr>
          <p:cNvPr id="4" name="Text 1"/>
          <p:cNvSpPr txBox="1"/>
          <p:nvPr/>
        </p:nvSpPr>
        <p:spPr>
          <a:xfrm>
            <a:off x="457200" y="932688"/>
            <a:ext cx="7680960" cy="347472"/>
          </a:xfrm>
          <a:prstGeom prst="rect">
            <a:avLst/>
          </a:prstGeom>
          <a:noFill/>
          <a:ln/>
        </p:spPr>
        <p:txBody>
          <a:bodyPr wrap="square" lIns="0" tIns="0" rIns="0" bIns="0" rtlCol="0" anchor="t"/>
          <a:lstStyle/>
          <a:p>
            <a:pPr indent="0" marL="0">
              <a:buNone/>
            </a:pPr>
            <a:r>
              <a:rPr lang="en-US" sz="1300" dirty="0">
                <a:solidFill>
                  <a:srgbClr val="9AAABE"/>
                </a:solidFill>
                <a:latin typeface="Calibri" pitchFamily="34" charset="0"/>
                <a:ea typeface="Calibri" pitchFamily="34" charset="-122"/>
                <a:cs typeface="Calibri" pitchFamily="34" charset="-120"/>
              </a:rPr>
              <a:t>One JSON file per database. The planner routes only on what it declares; the translators bound every query by it.</a:t>
            </a:r>
            <a:endParaRPr lang="en-US" sz="1300" dirty="0"/>
          </a:p>
        </p:txBody>
      </p:sp>
      <p:sp>
        <p:nvSpPr>
          <p:cNvPr id="5" name="Shape 2"/>
          <p:cNvSpPr/>
          <p:nvPr/>
        </p:nvSpPr>
        <p:spPr>
          <a:xfrm>
            <a:off x="457200" y="1371600"/>
            <a:ext cx="4937760" cy="3246120"/>
          </a:xfrm>
          <a:prstGeom prst="rect">
            <a:avLst/>
          </a:prstGeom>
          <a:solidFill>
            <a:srgbClr val="0B1220"/>
          </a:solidFill>
          <a:ln w="6350">
            <a:solidFill>
              <a:srgbClr val="2B3D57"/>
            </a:solidFill>
            <a:prstDash val="solid"/>
          </a:ln>
        </p:spPr>
      </p:sp>
      <p:sp>
        <p:nvSpPr>
          <p:cNvPr id="6" name="Text 3"/>
          <p:cNvSpPr txBox="1"/>
          <p:nvPr/>
        </p:nvSpPr>
        <p:spPr>
          <a:xfrm>
            <a:off x="548640" y="1417320"/>
            <a:ext cx="4754880" cy="3154680"/>
          </a:xfrm>
          <a:prstGeom prst="rect">
            <a:avLst/>
          </a:prstGeom>
          <a:noFill/>
          <a:ln/>
        </p:spPr>
        <p:txBody>
          <a:bodyPr wrap="square" lIns="0" tIns="0" rIns="0" bIns="0" rtlCol="0" anchor="t"/>
          <a:lstStyle/>
          <a:p>
            <a:pPr indent="0" marL="0">
              <a:buNone/>
            </a:pPr>
            <a:r>
              <a:rPr lang="en-US" sz="850" dirty="0">
                <a:solidFill>
                  <a:srgbClr val="3FBFC5"/>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  "dataset": "attack",</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  "runtime_backend": "neo4j",</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  "provenance": {</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    "source_name": "MITRE ATT&amp;CK", "dataset_version": "v19.0",</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    "snapshot_pinned": true, "raw_sha256": "…"</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  "node_labels": [ 11 labels ], "relationship_types": [ 9 types ],</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  "identity": {</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    "join_key": ["attack_id", "stix_type"],</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    "policy": "Two records may be joined only if BOTH</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               attack_id AND stix_type match."</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  "safety": {</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    "read_only": true,</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    "disallowed_clauses": ["CREATE","MERGE","DELETE","SET","REMOVE","DROP"],</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    "max_result_rows": 1000,</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    "max_traversal_depth": 3,</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    "query_timeout_ms": 5000</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3FBFC5"/>
                </a:solidFill>
                <a:latin typeface="Courier New" pitchFamily="34" charset="0"/>
                <a:ea typeface="Courier New" pitchFamily="34" charset="-122"/>
                <a:cs typeface="Courier New" pitchFamily="34" charset="-120"/>
              </a:rPr>
              <a:t>}</a:t>
            </a:r>
            <a:endParaRPr lang="en-US" sz="850" dirty="0"/>
          </a:p>
        </p:txBody>
      </p:sp>
      <p:sp>
        <p:nvSpPr>
          <p:cNvPr id="7" name="Text 4"/>
          <p:cNvSpPr txBox="1"/>
          <p:nvPr/>
        </p:nvSpPr>
        <p:spPr>
          <a:xfrm>
            <a:off x="5577840" y="1371600"/>
            <a:ext cx="3108960" cy="3246120"/>
          </a:xfrm>
          <a:prstGeom prst="rect">
            <a:avLst/>
          </a:prstGeom>
          <a:noFill/>
          <a:ln/>
        </p:spPr>
        <p:txBody>
          <a:bodyPr wrap="square" lIns="0" tIns="0" rIns="0" bIns="0" rtlCol="0" anchor="t"/>
          <a:lstStyle/>
          <a:p>
            <a:pPr indent="0" marL="0">
              <a:buNone/>
            </a:pPr>
            <a:r>
              <a:rPr lang="en-US" sz="1000" b="1" dirty="0">
                <a:solidFill>
                  <a:srgbClr val="F3F6FA"/>
                </a:solidFill>
                <a:latin typeface="Calibri" pitchFamily="34" charset="0"/>
                <a:ea typeface="Calibri" pitchFamily="34" charset="-122"/>
                <a:cs typeface="Calibri" pitchFamily="34" charset="-120"/>
              </a:rPr>
              <a:t>Provenance</a:t>
            </a:r>
            <a:endParaRPr lang="en-US" sz="1000" dirty="0"/>
          </a:p>
          <a:p>
            <a:pPr indent="0" marL="0">
              <a:buNone/>
            </a:pPr>
            <a:r>
              <a:rPr lang="en-US" sz="1000" dirty="0">
                <a:solidFill>
                  <a:srgbClr val="9AAABE"/>
                </a:solidFill>
                <a:latin typeface="Calibri" pitchFamily="34" charset="0"/>
                <a:ea typeface="Calibri" pitchFamily="34" charset="-122"/>
                <a:cs typeface="Calibri" pitchFamily="34" charset="-120"/>
              </a:rPr>
              <a:t>Which snapshot, pinned by hash. Every answer can say which version it read.</a:t>
            </a:r>
            <a:endParaRPr lang="en-US" sz="1000" dirty="0"/>
          </a:p>
          <a:p>
            <a:pPr indent="0" marL="0">
              <a:buNone/>
            </a:pPr>
            <a:r>
              <a:rPr lang="en-US" sz="500" dirty="0">
                <a:solidFill>
                  <a:srgbClr val="000000"/>
                </a:solidFill>
                <a:latin typeface="Calibri" pitchFamily="34" charset="0"/>
                <a:ea typeface="Calibri" pitchFamily="34" charset="-122"/>
                <a:cs typeface="Calibri" pitchFamily="34" charset="-120"/>
              </a:rPr>
              <a:t> </a:t>
            </a:r>
            <a:endParaRPr lang="en-US" sz="1000" dirty="0"/>
          </a:p>
          <a:p>
            <a:pPr indent="0" marL="0">
              <a:buNone/>
            </a:pPr>
            <a:r>
              <a:rPr lang="en-US" sz="1000" b="1" dirty="0">
                <a:solidFill>
                  <a:srgbClr val="F3F6FA"/>
                </a:solidFill>
                <a:latin typeface="Calibri" pitchFamily="34" charset="0"/>
                <a:ea typeface="Calibri" pitchFamily="34" charset="-122"/>
                <a:cs typeface="Calibri" pitchFamily="34" charset="-120"/>
              </a:rPr>
              <a:t>Identity</a:t>
            </a:r>
            <a:endParaRPr lang="en-US" sz="1000" dirty="0"/>
          </a:p>
          <a:p>
            <a:pPr indent="0" marL="0">
              <a:buNone/>
            </a:pPr>
            <a:r>
              <a:rPr lang="en-US" sz="1000" dirty="0">
                <a:solidFill>
                  <a:srgbClr val="9AAABE"/>
                </a:solidFill>
                <a:latin typeface="Calibri" pitchFamily="34" charset="0"/>
                <a:ea typeface="Calibri" pitchFamily="34" charset="-122"/>
                <a:cs typeface="Calibri" pitchFamily="34" charset="-120"/>
              </a:rPr>
              <a:t>What counts as 'the same thing' across databases — the join rule. For ReliaQuest's identity graph, where no shared ID exists, a reviewed correspondence table (DC_SYNC → T1003.006) plays this role.</a:t>
            </a:r>
            <a:endParaRPr lang="en-US" sz="1000" dirty="0"/>
          </a:p>
          <a:p>
            <a:pPr indent="0" marL="0">
              <a:buNone/>
            </a:pPr>
            <a:r>
              <a:rPr lang="en-US" sz="500" dirty="0">
                <a:solidFill>
                  <a:srgbClr val="000000"/>
                </a:solidFill>
                <a:latin typeface="Calibri" pitchFamily="34" charset="0"/>
                <a:ea typeface="Calibri" pitchFamily="34" charset="-122"/>
                <a:cs typeface="Calibri" pitchFamily="34" charset="-120"/>
              </a:rPr>
              <a:t> </a:t>
            </a:r>
            <a:endParaRPr lang="en-US" sz="1000" dirty="0"/>
          </a:p>
          <a:p>
            <a:pPr indent="0" marL="0">
              <a:buNone/>
            </a:pPr>
            <a:r>
              <a:rPr lang="en-US" sz="1000" b="1" dirty="0">
                <a:solidFill>
                  <a:srgbClr val="F3F6FA"/>
                </a:solidFill>
                <a:latin typeface="Calibri" pitchFamily="34" charset="0"/>
                <a:ea typeface="Calibri" pitchFamily="34" charset="-122"/>
                <a:cs typeface="Calibri" pitchFamily="34" charset="-120"/>
              </a:rPr>
              <a:t>Safety</a:t>
            </a:r>
            <a:endParaRPr lang="en-US" sz="1000" dirty="0"/>
          </a:p>
          <a:p>
            <a:pPr indent="0" marL="0">
              <a:buNone/>
            </a:pPr>
            <a:r>
              <a:rPr lang="en-US" sz="1000" dirty="0">
                <a:solidFill>
                  <a:srgbClr val="9AAABE"/>
                </a:solidFill>
                <a:latin typeface="Calibri" pitchFamily="34" charset="0"/>
                <a:ea typeface="Calibri" pitchFamily="34" charset="-122"/>
                <a:cs typeface="Calibri" pitchFamily="34" charset="-120"/>
              </a:rPr>
              <a:t>What a query may never do. Enforced before execution, on every query, by code — not by asking a model nicely.</a:t>
            </a:r>
            <a:endParaRPr lang="en-US" sz="1000" dirty="0"/>
          </a:p>
          <a:p>
            <a:pPr indent="0" marL="0">
              <a:buNone/>
            </a:pPr>
            <a:r>
              <a:rPr lang="en-US" sz="500" dirty="0">
                <a:solidFill>
                  <a:srgbClr val="000000"/>
                </a:solidFill>
                <a:latin typeface="Calibri" pitchFamily="34" charset="0"/>
                <a:ea typeface="Calibri" pitchFamily="34" charset="-122"/>
                <a:cs typeface="Calibri" pitchFamily="34" charset="-120"/>
              </a:rPr>
              <a:t> </a:t>
            </a:r>
            <a:endParaRPr lang="en-US" sz="1000" dirty="0"/>
          </a:p>
          <a:p>
            <a:pPr indent="0" marL="0">
              <a:buNone/>
            </a:pPr>
            <a:r>
              <a:rPr lang="en-US" sz="1000" b="1" dirty="0">
                <a:solidFill>
                  <a:srgbClr val="F2B24F"/>
                </a:solidFill>
                <a:latin typeface="Calibri" pitchFamily="34" charset="0"/>
                <a:ea typeface="Calibri" pitchFamily="34" charset="-122"/>
                <a:cs typeface="Calibri" pitchFamily="34" charset="-120"/>
              </a:rPr>
              <a:t>Adding a database = writing this file (a generator drafts it from the live schema) plus, for cross-database questions, the correspondence table.</a:t>
            </a:r>
            <a:endParaRPr lang="en-US" sz="1000" dirty="0"/>
          </a:p>
        </p:txBody>
      </p:sp>
      <p:sp>
        <p:nvSpPr>
          <p:cNvPr id="9" name="Text 5"/>
          <p:cNvSpPr txBox="1"/>
          <p:nvPr/>
        </p:nvSpPr>
        <p:spPr>
          <a:xfrm>
            <a:off x="457200" y="4773168"/>
            <a:ext cx="8229600" cy="256032"/>
          </a:xfrm>
          <a:prstGeom prst="rect">
            <a:avLst/>
          </a:prstGeom>
          <a:noFill/>
          <a:ln/>
        </p:spPr>
        <p:txBody>
          <a:bodyPr wrap="square" lIns="0" tIns="0" rIns="0" bIns="0" rtlCol="0" anchor="ctr"/>
          <a:lstStyle/>
          <a:p>
            <a:pPr indent="0" marL="0">
              <a:buNone/>
            </a:pPr>
            <a:r>
              <a:rPr lang="en-US" sz="850" dirty="0">
                <a:solidFill>
                  <a:srgbClr val="6B7C93"/>
                </a:solidFill>
                <a:latin typeface="Calibri" pitchFamily="34" charset="0"/>
                <a:ea typeface="Calibri" pitchFamily="34" charset="-122"/>
                <a:cs typeface="Calibri" pitchFamily="34" charset="-120"/>
              </a:rPr>
              <a:t>Sources: data/source_cards/attack.json (excerpt, abridged) · docs/source_cards.md · utils/planner/edge_correspondence.py</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Ariadne — One question, every database, a receipt for every sentence</dc:title>
  <dc:subject>PptxGenJS Presentation</dc:subject>
  <dc:creator>Brendon DGR</dc:creator>
  <cp:lastModifiedBy>Brendon DGR</cp:lastModifiedBy>
  <cp:revision>1</cp:revision>
  <dcterms:created xsi:type="dcterms:W3CDTF">2026-09-06T20:57:10Z</dcterms:created>
  <dcterms:modified xsi:type="dcterms:W3CDTF">2026-09-06T20:57:10Z</dcterms:modified>
</cp:coreProperties>
</file>